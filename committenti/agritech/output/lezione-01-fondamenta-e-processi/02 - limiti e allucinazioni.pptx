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Blocco frontale di 10 minuti, giornata 1 di Agritech (17:50–18:00). Apertura: il tema non è tecnico, è un'abitudine da fissare da subito — l'output si legge sempre prima di usarlo, e per gli usi che contano si verifica anche il contenuto, non solo la forma. Fonte completa: 2026-09-07-limiti-e-allucinazioni-materiale.md.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Scorrere rapidamente l'indice (30 secondi): non è un elenco da leggere, serve solo a dare una cornice — il blocco è breve e i sei punti si toccano, non si sviluppano tutti allo stesso modo.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paragone: un errore in un foglio di calcolo si vede (un numero assurdo, un errore evidente). Un errore di un assistente conversazionale, quasi sempre, non si vede: è scritto bene, formattato bene, con lo stesso tono sicuro del resto. I tre esempi sono scenari concreti per gli uffici in aula (commerciale, tecnico, amministrazione, acquisti). Il messaggio di chiusura: questo blocco non serve a scoraggiare l'uso dell'AI, serve a fissare un riflesso fin dal primo giorno.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definizione va detta lentamente, è la frase-chiave del blocco. Poi le tre caratteristiche: non è segnalata (nessun 'non lo so' affidabile), è plausibile e non casuale (assomiglia molto al vero, per questo va controllata anche quando 'sembra' corretta), e non è un bug che sparisce con la prossima versione — ogni fornitore serio lo dichiara nelle proprie condizioni d'uso.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modello non ha un modulo interno che verifica se un'affermazione è vera: calcola la continuazione più plausibile di ciò che ha davanti, un pezzo di testo alla volta. Vero e plausibile coincidono quasi sempre, ma quando non coincidono il sistema non se ne accorge. I cinque fattori sono la lista pratica da avere in mente: più la richiesta cade in una di queste zone, più serve attenzione. Il quarto punto (richieste vaghe) è l'aggancio diretto all'esercizio di prompting che segue tra poco: un prompt che lascia impliciti destinatario, tono o dati costringe il modello a riempire da solo quei vuoti.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 Canada sostenne di non essere responsabile delle informazioni fornite dal proprio chatbot, definendolo 'un'entità legale separata'. Il tribunale ha respinto questa difesa: un'azienda risponde di tutte le informazioni sul proprio sito, comprese quelle generate da un assistente automatico, e il cliente non aveva motivo di fidarsi meno del chatbot che della pagina ufficiale. Nel materiale di base (§5.2) c'è un secondo caso, quello dell'avvocato che citò in tribunale sentenze inventate da ChatGPT (Mata v. Avianca, 2023, sanzione di 5.000 $): utile se in aula serve un secondo esempio o se la domanda arriva da qualcuno con formazione giuridica.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regola è graduata sul rischio dell'uso, non sull'argomento. Due scorciatoie da smontare esplicitamente: chiedere conferma allo stesso assistente non è una verifica (sta di nuovo generando la continuazione più plausibile, non consultando un archivio di verità); un secondo strumento diverso aiuta ma non sostituisce la fonte primaria, perché due strumenti indipendenti possono convergere sullo stesso errore se nasce da una lacuna comune nei dati di addestramento.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Chiusura in 20-30 secondi, poi si passa alla panoramica del mercato (blocco successivo, 18:00–18:10) o direttamente all'esercizio, a seconda di come il formatore ha scelto di gestire l'aggancio (vedi nota 'Come usare questo documento' nel materiale di base). Il terzo punto è il ponte: durante il debrief della Fase A vale la pena un richiamo di trenta secondi a questo blocco.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9966960" y="1417320"/>
            <a:ext cx="731520" cy="457200"/>
          </a:xfrm>
          <a:prstGeom prst="line">
            <a:avLst/>
          </a:prstGeom>
          <a:noFill/>
          <a:ln w="12700">
            <a:solidFill>
              <a:srgbClr val="27395C"/>
            </a:solidFill>
            <a:prstDash val="solid"/>
          </a:ln>
        </p:spPr>
      </p:sp>
      <p:sp>
        <p:nvSpPr>
          <p:cNvPr id="3" name="Shape 1"/>
          <p:cNvSpPr/>
          <p:nvPr/>
        </p:nvSpPr>
        <p:spPr>
          <a:xfrm>
            <a:off x="10698480" y="1874520"/>
            <a:ext cx="457200" cy="640080"/>
          </a:xfrm>
          <a:prstGeom prst="line">
            <a:avLst/>
          </a:prstGeom>
          <a:noFill/>
          <a:ln w="12700">
            <a:solidFill>
              <a:srgbClr val="27395C"/>
            </a:solidFill>
            <a:prstDash val="solid"/>
          </a:ln>
        </p:spPr>
      </p:sp>
      <p:sp>
        <p:nvSpPr>
          <p:cNvPr id="4" name="Shape 2"/>
          <p:cNvSpPr/>
          <p:nvPr/>
        </p:nvSpPr>
        <p:spPr>
          <a:xfrm>
            <a:off x="10378440" y="1874520"/>
            <a:ext cx="320040" cy="914400"/>
          </a:xfrm>
          <a:prstGeom prst="line">
            <a:avLst/>
          </a:prstGeom>
          <a:noFill/>
          <a:ln w="12700">
            <a:solidFill>
              <a:srgbClr val="27395C"/>
            </a:solidFill>
            <a:prstDash val="solid"/>
          </a:ln>
        </p:spPr>
      </p:sp>
      <p:sp>
        <p:nvSpPr>
          <p:cNvPr id="5" name="Shape 3"/>
          <p:cNvSpPr/>
          <p:nvPr/>
        </p:nvSpPr>
        <p:spPr>
          <a:xfrm>
            <a:off x="9646920" y="1417320"/>
            <a:ext cx="320040" cy="731520"/>
          </a:xfrm>
          <a:prstGeom prst="line">
            <a:avLst/>
          </a:prstGeom>
          <a:noFill/>
          <a:ln w="12700">
            <a:solidFill>
              <a:srgbClr val="27395C"/>
            </a:solidFill>
            <a:prstDash val="solid"/>
          </a:ln>
        </p:spPr>
      </p:sp>
      <p:sp>
        <p:nvSpPr>
          <p:cNvPr id="6" name="Shape 4"/>
          <p:cNvSpPr/>
          <p:nvPr/>
        </p:nvSpPr>
        <p:spPr>
          <a:xfrm>
            <a:off x="9646920" y="2148840"/>
            <a:ext cx="731520" cy="640080"/>
          </a:xfrm>
          <a:prstGeom prst="line">
            <a:avLst/>
          </a:prstGeom>
          <a:noFill/>
          <a:ln w="12700">
            <a:solidFill>
              <a:srgbClr val="27395C"/>
            </a:solidFill>
            <a:prstDash val="solid"/>
          </a:ln>
        </p:spPr>
      </p:sp>
      <p:sp>
        <p:nvSpPr>
          <p:cNvPr id="7" name="Shape 5"/>
          <p:cNvSpPr/>
          <p:nvPr/>
        </p:nvSpPr>
        <p:spPr>
          <a:xfrm>
            <a:off x="9939528" y="1389888"/>
            <a:ext cx="54864" cy="54864"/>
          </a:xfrm>
          <a:prstGeom prst="ellipse">
            <a:avLst/>
          </a:prstGeom>
          <a:solidFill>
            <a:srgbClr val="2D5BFF"/>
          </a:solidFill>
          <a:ln/>
        </p:spPr>
      </p:sp>
      <p:sp>
        <p:nvSpPr>
          <p:cNvPr id="8" name="Shape 6"/>
          <p:cNvSpPr/>
          <p:nvPr/>
        </p:nvSpPr>
        <p:spPr>
          <a:xfrm>
            <a:off x="10652760" y="1828800"/>
            <a:ext cx="91440" cy="91440"/>
          </a:xfrm>
          <a:prstGeom prst="ellipse">
            <a:avLst/>
          </a:prstGeom>
          <a:solidFill>
            <a:srgbClr val="D8F34E"/>
          </a:solidFill>
          <a:ln/>
        </p:spPr>
      </p:sp>
      <p:sp>
        <p:nvSpPr>
          <p:cNvPr id="9" name="Shape 7"/>
          <p:cNvSpPr/>
          <p:nvPr/>
        </p:nvSpPr>
        <p:spPr>
          <a:xfrm>
            <a:off x="9619488" y="2121408"/>
            <a:ext cx="54864" cy="54864"/>
          </a:xfrm>
          <a:prstGeom prst="ellipse">
            <a:avLst/>
          </a:prstGeom>
          <a:solidFill>
            <a:srgbClr val="2D5BFF"/>
          </a:solidFill>
          <a:ln/>
        </p:spPr>
      </p:sp>
      <p:sp>
        <p:nvSpPr>
          <p:cNvPr id="10" name="Shape 8"/>
          <p:cNvSpPr/>
          <p:nvPr/>
        </p:nvSpPr>
        <p:spPr>
          <a:xfrm>
            <a:off x="11128248" y="2487168"/>
            <a:ext cx="54864" cy="54864"/>
          </a:xfrm>
          <a:prstGeom prst="ellipse">
            <a:avLst/>
          </a:prstGeom>
          <a:solidFill>
            <a:srgbClr val="2D5BFF"/>
          </a:solidFill>
          <a:ln/>
        </p:spPr>
      </p:sp>
      <p:sp>
        <p:nvSpPr>
          <p:cNvPr id="11" name="Shape 9"/>
          <p:cNvSpPr/>
          <p:nvPr/>
        </p:nvSpPr>
        <p:spPr>
          <a:xfrm>
            <a:off x="10351008" y="2761488"/>
            <a:ext cx="54864" cy="54864"/>
          </a:xfrm>
          <a:prstGeom prst="ellipse">
            <a:avLst/>
          </a:prstGeom>
          <a:solidFill>
            <a:srgbClr val="2D5BFF"/>
          </a:solidFill>
          <a:ln/>
        </p:spPr>
      </p:sp>
      <p:sp>
        <p:nvSpPr>
          <p:cNvPr id="12" name="Text 10"/>
          <p:cNvSpPr txBox="1"/>
          <p:nvPr/>
        </p:nvSpPr>
        <p:spPr>
          <a:xfrm>
            <a:off x="548640" y="640080"/>
            <a:ext cx="8229600" cy="365760"/>
          </a:xfrm>
          <a:prstGeom prst="rect">
            <a:avLst/>
          </a:prstGeom>
          <a:noFill/>
          <a:ln/>
        </p:spPr>
        <p:txBody>
          <a:bodyPr wrap="square" lIns="0" tIns="0" rIns="0" bIns="0" rtlCol="0" anchor="ctr"/>
          <a:lstStyle/>
          <a:p>
            <a:pPr algn="l" indent="0" marL="0">
              <a:buNone/>
            </a:pPr>
            <a:r>
              <a:rPr lang="en-US" sz="1200" b="1" spc="200" kern="0" dirty="0">
                <a:solidFill>
                  <a:srgbClr val="D8F34E"/>
                </a:solidFill>
                <a:latin typeface="Geist Mono" pitchFamily="34" charset="0"/>
                <a:ea typeface="Geist Mono" pitchFamily="34" charset="-122"/>
                <a:cs typeface="Geist Mono" pitchFamily="34" charset="-120"/>
              </a:rPr>
              <a:t>GIORNATA 1 · FORMAZIONE AI GENERATIVA · AGRITECH</a:t>
            </a:r>
            <a:endParaRPr lang="en-US" sz="1200" dirty="0"/>
          </a:p>
        </p:txBody>
      </p:sp>
      <p:sp>
        <p:nvSpPr>
          <p:cNvPr id="13" name="Shape 11"/>
          <p:cNvSpPr/>
          <p:nvPr/>
        </p:nvSpPr>
        <p:spPr>
          <a:xfrm>
            <a:off x="548640" y="1097280"/>
            <a:ext cx="11094415" cy="0"/>
          </a:xfrm>
          <a:prstGeom prst="line">
            <a:avLst/>
          </a:prstGeom>
          <a:noFill/>
          <a:ln w="12700">
            <a:solidFill>
              <a:srgbClr val="27395C"/>
            </a:solidFill>
            <a:prstDash val="solid"/>
          </a:ln>
        </p:spPr>
      </p:sp>
      <p:sp>
        <p:nvSpPr>
          <p:cNvPr id="14" name="Text 12"/>
          <p:cNvSpPr txBox="1"/>
          <p:nvPr/>
        </p:nvSpPr>
        <p:spPr>
          <a:xfrm>
            <a:off x="548640" y="2468880"/>
            <a:ext cx="8778240" cy="2103120"/>
          </a:xfrm>
          <a:prstGeom prst="rect">
            <a:avLst/>
          </a:prstGeom>
          <a:noFill/>
          <a:ln/>
        </p:spPr>
        <p:txBody>
          <a:bodyPr wrap="square" lIns="0" tIns="0" rIns="0" bIns="0" rtlCol="0" anchor="b"/>
          <a:lstStyle/>
          <a:p>
            <a:pPr algn="l" indent="0" marL="0">
              <a:lnSpc>
                <a:spcPct val="92000"/>
              </a:lnSpc>
              <a:buNone/>
            </a:pPr>
            <a:r>
              <a:rPr lang="en-US" sz="6600" b="1" dirty="0">
                <a:solidFill>
                  <a:srgbClr val="F7F6F1"/>
                </a:solidFill>
                <a:latin typeface="Big Shoulders" pitchFamily="34" charset="0"/>
                <a:ea typeface="Big Shoulders" pitchFamily="34" charset="-122"/>
                <a:cs typeface="Big Shoulders" pitchFamily="34" charset="-120"/>
              </a:rPr>
              <a:t>LIMITI E</a:t>
            </a:r>
            <a:endParaRPr lang="en-US" sz="6600" dirty="0"/>
          </a:p>
          <a:p>
            <a:pPr algn="l" indent="0" marL="0">
              <a:lnSpc>
                <a:spcPct val="92000"/>
              </a:lnSpc>
              <a:buNone/>
            </a:pPr>
            <a:r>
              <a:rPr lang="en-US" sz="6600" b="1" dirty="0">
                <a:solidFill>
                  <a:srgbClr val="F7F6F1"/>
                </a:solidFill>
                <a:latin typeface="Big Shoulders" pitchFamily="34" charset="0"/>
                <a:ea typeface="Big Shoulders" pitchFamily="34" charset="-122"/>
                <a:cs typeface="Big Shoulders" pitchFamily="34" charset="-120"/>
              </a:rPr>
              <a:t>ALLUCINAZIONI</a:t>
            </a:r>
            <a:endParaRPr lang="en-US" sz="6600" dirty="0"/>
          </a:p>
        </p:txBody>
      </p:sp>
      <p:sp>
        <p:nvSpPr>
          <p:cNvPr id="15" name="Text 13"/>
          <p:cNvSpPr txBox="1"/>
          <p:nvPr/>
        </p:nvSpPr>
        <p:spPr>
          <a:xfrm>
            <a:off x="548640" y="4709160"/>
            <a:ext cx="8229600" cy="548640"/>
          </a:xfrm>
          <a:prstGeom prst="rect">
            <a:avLst/>
          </a:prstGeom>
          <a:noFill/>
          <a:ln/>
        </p:spPr>
        <p:txBody>
          <a:bodyPr wrap="square" lIns="0" tIns="0" rIns="0" bIns="0" rtlCol="0" anchor="t"/>
          <a:lstStyle/>
          <a:p>
            <a:pPr algn="l" indent="0" marL="0">
              <a:buNone/>
            </a:pPr>
            <a:r>
              <a:rPr lang="en-US" sz="2000" dirty="0">
                <a:solidFill>
                  <a:srgbClr val="C9D4E6"/>
                </a:solidFill>
                <a:latin typeface="Outfit" pitchFamily="34" charset="0"/>
                <a:ea typeface="Outfit" pitchFamily="34" charset="-122"/>
                <a:cs typeface="Outfit" pitchFamily="34" charset="-120"/>
              </a:rPr>
              <a:t>Perché l'output va sempre </a:t>
            </a:r>
            <a:pPr algn="l" indent="0" marL="0">
              <a:buNone/>
            </a:pPr>
            <a:r>
              <a:rPr lang="en-US" sz="2000" b="1" dirty="0">
                <a:solidFill>
                  <a:srgbClr val="D8F34E"/>
                </a:solidFill>
                <a:latin typeface="Outfit" pitchFamily="34" charset="0"/>
                <a:ea typeface="Outfit" pitchFamily="34" charset="-122"/>
                <a:cs typeface="Outfit" pitchFamily="34" charset="-120"/>
              </a:rPr>
              <a:t>verificato</a:t>
            </a:r>
            <a:endParaRPr lang="en-US" sz="2000" dirty="0"/>
          </a:p>
        </p:txBody>
      </p:sp>
      <p:sp>
        <p:nvSpPr>
          <p:cNvPr id="16" name="Text 14"/>
          <p:cNvSpPr txBox="1"/>
          <p:nvPr/>
        </p:nvSpPr>
        <p:spPr>
          <a:xfrm>
            <a:off x="548640" y="6172200"/>
            <a:ext cx="7315200" cy="320040"/>
          </a:xfrm>
          <a:prstGeom prst="rect">
            <a:avLst/>
          </a:prstGeom>
          <a:noFill/>
          <a:ln/>
        </p:spPr>
        <p:txBody>
          <a:bodyPr wrap="square" lIns="0" tIns="0" rIns="0" bIns="0" rtlCol="0" anchor="ctr"/>
          <a:lstStyle/>
          <a:p>
            <a:pPr algn="l" indent="0" marL="0">
              <a:buNone/>
            </a:pPr>
            <a:r>
              <a:rPr lang="en-US" sz="1000" spc="150" kern="0" dirty="0">
                <a:solidFill>
                  <a:srgbClr val="9FB0C8"/>
                </a:solidFill>
                <a:latin typeface="Geist Mono" pitchFamily="34" charset="0"/>
                <a:ea typeface="Geist Mono" pitchFamily="34" charset="-122"/>
                <a:cs typeface="Geist Mono" pitchFamily="34" charset="-120"/>
              </a:rPr>
              <a:t>BLOCCO 10' · 17:50–18:00 · FRONTALE + ESEMPI</a:t>
            </a:r>
            <a:endParaRPr lang="en-US" sz="1000" dirty="0"/>
          </a:p>
        </p:txBody>
      </p:sp>
      <p:sp>
        <p:nvSpPr>
          <p:cNvPr id="17" name="Shape 15"/>
          <p:cNvSpPr/>
          <p:nvPr/>
        </p:nvSpPr>
        <p:spPr>
          <a:xfrm>
            <a:off x="9814255" y="5989320"/>
            <a:ext cx="1828800" cy="566928"/>
          </a:xfrm>
          <a:prstGeom prst="rect">
            <a:avLst/>
          </a:prstGeom>
          <a:solidFill>
            <a:srgbClr val="F7F6F1"/>
          </a:solidFill>
          <a:ln/>
        </p:spPr>
      </p:sp>
      <p:pic>
        <p:nvPicPr>
          <p:cNvPr id="18" name="Image 0" descr="/tmp/materiale-formazione-pmi/logo.png">    </p:cNvPr>
          <p:cNvPicPr>
            <a:picLocks noChangeAspect="1"/>
          </p:cNvPicPr>
          <p:nvPr/>
        </p:nvPicPr>
        <p:blipFill>
          <a:blip r:embed="rId1"/>
          <a:stretch>
            <a:fillRect/>
          </a:stretch>
        </p:blipFill>
        <p:spPr>
          <a:xfrm>
            <a:off x="9905695" y="6071616"/>
            <a:ext cx="1645920" cy="4023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algn="l" indent="0" marL="0">
              <a:buNone/>
            </a:pPr>
            <a:r>
              <a:rPr lang="en-US" sz="1100" b="1" spc="200" kern="0" dirty="0">
                <a:solidFill>
                  <a:srgbClr val="2D5BFF"/>
                </a:solidFill>
                <a:latin typeface="Geist Mono" pitchFamily="34" charset="0"/>
                <a:ea typeface="Geist Mono" pitchFamily="34" charset="-122"/>
                <a:cs typeface="Geist Mono" pitchFamily="34" charset="-120"/>
              </a:rPr>
              <a:t>IN QUESTO BLOCCO</a:t>
            </a:r>
            <a:endParaRPr lang="en-US" sz="1100" dirty="0"/>
          </a:p>
        </p:txBody>
      </p:sp>
      <p:sp>
        <p:nvSpPr>
          <p:cNvPr id="3" name="Text 1"/>
          <p:cNvSpPr txBox="1"/>
          <p:nvPr/>
        </p:nvSpPr>
        <p:spPr>
          <a:xfrm>
            <a:off x="8899855" y="384048"/>
            <a:ext cx="2743200" cy="320040"/>
          </a:xfrm>
          <a:prstGeom prst="rect">
            <a:avLst/>
          </a:prstGeom>
          <a:noFill/>
          <a:ln/>
        </p:spPr>
        <p:txBody>
          <a:bodyPr wrap="square" lIns="0" tIns="0" rIns="0" bIns="0" rtlCol="0" anchor="ctr"/>
          <a:lstStyle/>
          <a:p>
            <a:pPr algn="r" indent="0" marL="0">
              <a:buNone/>
            </a:pPr>
            <a:r>
              <a:rPr lang="en-US" sz="1100" spc="200" kern="0" dirty="0">
                <a:solidFill>
                  <a:srgbClr val="5A6B85"/>
                </a:solidFill>
                <a:latin typeface="Geist Mono" pitchFamily="34" charset="0"/>
                <a:ea typeface="Geist Mono" pitchFamily="34" charset="-122"/>
                <a:cs typeface="Geist Mono" pitchFamily="34" charset="-120"/>
              </a:rPr>
              <a:t>02</a:t>
            </a:r>
            <a:endParaRPr lang="en-US" sz="1100" dirty="0"/>
          </a:p>
        </p:txBody>
      </p:sp>
      <p:sp>
        <p:nvSpPr>
          <p:cNvPr id="4" name="Shape 2"/>
          <p:cNvSpPr/>
          <p:nvPr/>
        </p:nvSpPr>
        <p:spPr>
          <a:xfrm>
            <a:off x="548640" y="749808"/>
            <a:ext cx="11094415" cy="0"/>
          </a:xfrm>
          <a:prstGeom prst="line">
            <a:avLst/>
          </a:prstGeom>
          <a:noFill/>
          <a:ln w="12700">
            <a:solidFill>
              <a:srgbClr val="D8D5C9"/>
            </a:solidFill>
            <a:prstDash val="solid"/>
          </a:ln>
        </p:spPr>
      </p:sp>
      <p:sp>
        <p:nvSpPr>
          <p:cNvPr id="5" name="Text 3"/>
          <p:cNvSpPr txBox="1"/>
          <p:nvPr/>
        </p:nvSpPr>
        <p:spPr>
          <a:xfrm>
            <a:off x="548640" y="1371600"/>
            <a:ext cx="1005840" cy="621792"/>
          </a:xfrm>
          <a:prstGeom prst="rect">
            <a:avLst/>
          </a:prstGeom>
          <a:noFill/>
          <a:ln/>
        </p:spPr>
        <p:txBody>
          <a:bodyPr wrap="square" lIns="0" tIns="0" rIns="0" bIns="0" rtlCol="0" anchor="ctr"/>
          <a:lstStyle/>
          <a:p>
            <a:pPr algn="l" indent="0" marL="0">
              <a:buNone/>
            </a:pPr>
            <a:r>
              <a:rPr lang="en-US" sz="1600" b="1" dirty="0">
                <a:solidFill>
                  <a:srgbClr val="2D5BFF"/>
                </a:solidFill>
                <a:latin typeface="Geist Mono" pitchFamily="34" charset="0"/>
                <a:ea typeface="Geist Mono" pitchFamily="34" charset="-122"/>
                <a:cs typeface="Geist Mono" pitchFamily="34" charset="-120"/>
              </a:rPr>
              <a:t>01</a:t>
            </a:r>
            <a:endParaRPr lang="en-US" sz="1600" dirty="0"/>
          </a:p>
        </p:txBody>
      </p:sp>
      <p:sp>
        <p:nvSpPr>
          <p:cNvPr id="6" name="Text 4"/>
          <p:cNvSpPr txBox="1"/>
          <p:nvPr/>
        </p:nvSpPr>
        <p:spPr>
          <a:xfrm>
            <a:off x="1645920" y="1371600"/>
            <a:ext cx="8229600" cy="621792"/>
          </a:xfrm>
          <a:prstGeom prst="rect">
            <a:avLst/>
          </a:prstGeom>
          <a:noFill/>
          <a:ln/>
        </p:spPr>
        <p:txBody>
          <a:bodyPr wrap="square" lIns="0" tIns="0" rIns="0" bIns="0" rtlCol="0" anchor="ctr"/>
          <a:lstStyle/>
          <a:p>
            <a:pPr algn="l" indent="0" marL="0">
              <a:buNone/>
            </a:pPr>
            <a:r>
              <a:rPr lang="en-US" sz="2000" b="1" dirty="0">
                <a:solidFill>
                  <a:srgbClr val="0A1628"/>
                </a:solidFill>
                <a:latin typeface="Outfit" pitchFamily="34" charset="0"/>
                <a:ea typeface="Outfit" pitchFamily="34" charset="-122"/>
                <a:cs typeface="Outfit" pitchFamily="34" charset="-120"/>
              </a:rPr>
              <a:t>Perché conta per un'azienda</a:t>
            </a:r>
            <a:endParaRPr lang="en-US" sz="2000" dirty="0"/>
          </a:p>
        </p:txBody>
      </p:sp>
      <p:sp>
        <p:nvSpPr>
          <p:cNvPr id="7" name="Shape 5"/>
          <p:cNvSpPr/>
          <p:nvPr/>
        </p:nvSpPr>
        <p:spPr>
          <a:xfrm>
            <a:off x="548640" y="2029968"/>
            <a:ext cx="11094415" cy="0"/>
          </a:xfrm>
          <a:prstGeom prst="line">
            <a:avLst/>
          </a:prstGeom>
          <a:noFill/>
          <a:ln w="9525">
            <a:solidFill>
              <a:srgbClr val="D8D5C9"/>
            </a:solidFill>
            <a:prstDash val="solid"/>
          </a:ln>
        </p:spPr>
      </p:sp>
      <p:sp>
        <p:nvSpPr>
          <p:cNvPr id="8" name="Text 6"/>
          <p:cNvSpPr txBox="1"/>
          <p:nvPr/>
        </p:nvSpPr>
        <p:spPr>
          <a:xfrm>
            <a:off x="548640" y="2121408"/>
            <a:ext cx="1005840" cy="621792"/>
          </a:xfrm>
          <a:prstGeom prst="rect">
            <a:avLst/>
          </a:prstGeom>
          <a:noFill/>
          <a:ln/>
        </p:spPr>
        <p:txBody>
          <a:bodyPr wrap="square" lIns="0" tIns="0" rIns="0" bIns="0" rtlCol="0" anchor="ctr"/>
          <a:lstStyle/>
          <a:p>
            <a:pPr algn="l" indent="0" marL="0">
              <a:buNone/>
            </a:pPr>
            <a:r>
              <a:rPr lang="en-US" sz="1600" b="1" dirty="0">
                <a:solidFill>
                  <a:srgbClr val="2D5BFF"/>
                </a:solidFill>
                <a:latin typeface="Geist Mono" pitchFamily="34" charset="0"/>
                <a:ea typeface="Geist Mono" pitchFamily="34" charset="-122"/>
                <a:cs typeface="Geist Mono" pitchFamily="34" charset="-120"/>
              </a:rPr>
              <a:t>02</a:t>
            </a:r>
            <a:endParaRPr lang="en-US" sz="1600" dirty="0"/>
          </a:p>
        </p:txBody>
      </p:sp>
      <p:sp>
        <p:nvSpPr>
          <p:cNvPr id="9" name="Text 7"/>
          <p:cNvSpPr txBox="1"/>
          <p:nvPr/>
        </p:nvSpPr>
        <p:spPr>
          <a:xfrm>
            <a:off x="1645920" y="2121408"/>
            <a:ext cx="8229600" cy="621792"/>
          </a:xfrm>
          <a:prstGeom prst="rect">
            <a:avLst/>
          </a:prstGeom>
          <a:noFill/>
          <a:ln/>
        </p:spPr>
        <p:txBody>
          <a:bodyPr wrap="square" lIns="0" tIns="0" rIns="0" bIns="0" rtlCol="0" anchor="ctr"/>
          <a:lstStyle/>
          <a:p>
            <a:pPr algn="l" indent="0" marL="0">
              <a:buNone/>
            </a:pPr>
            <a:r>
              <a:rPr lang="en-US" sz="2000" b="1" dirty="0">
                <a:solidFill>
                  <a:srgbClr val="0A1628"/>
                </a:solidFill>
                <a:latin typeface="Outfit" pitchFamily="34" charset="0"/>
                <a:ea typeface="Outfit" pitchFamily="34" charset="-122"/>
                <a:cs typeface="Outfit" pitchFamily="34" charset="-120"/>
              </a:rPr>
              <a:t>Cos'è un'allucinazione</a:t>
            </a:r>
            <a:endParaRPr lang="en-US" sz="2000" dirty="0"/>
          </a:p>
        </p:txBody>
      </p:sp>
      <p:sp>
        <p:nvSpPr>
          <p:cNvPr id="10" name="Shape 8"/>
          <p:cNvSpPr/>
          <p:nvPr/>
        </p:nvSpPr>
        <p:spPr>
          <a:xfrm>
            <a:off x="548640" y="2779776"/>
            <a:ext cx="11094415" cy="0"/>
          </a:xfrm>
          <a:prstGeom prst="line">
            <a:avLst/>
          </a:prstGeom>
          <a:noFill/>
          <a:ln w="9525">
            <a:solidFill>
              <a:srgbClr val="D8D5C9"/>
            </a:solidFill>
            <a:prstDash val="solid"/>
          </a:ln>
        </p:spPr>
      </p:sp>
      <p:sp>
        <p:nvSpPr>
          <p:cNvPr id="11" name="Text 9"/>
          <p:cNvSpPr txBox="1"/>
          <p:nvPr/>
        </p:nvSpPr>
        <p:spPr>
          <a:xfrm>
            <a:off x="548640" y="2871216"/>
            <a:ext cx="1005840" cy="621792"/>
          </a:xfrm>
          <a:prstGeom prst="rect">
            <a:avLst/>
          </a:prstGeom>
          <a:noFill/>
          <a:ln/>
        </p:spPr>
        <p:txBody>
          <a:bodyPr wrap="square" lIns="0" tIns="0" rIns="0" bIns="0" rtlCol="0" anchor="ctr"/>
          <a:lstStyle/>
          <a:p>
            <a:pPr algn="l" indent="0" marL="0">
              <a:buNone/>
            </a:pPr>
            <a:r>
              <a:rPr lang="en-US" sz="1600" b="1" dirty="0">
                <a:solidFill>
                  <a:srgbClr val="2D5BFF"/>
                </a:solidFill>
                <a:latin typeface="Geist Mono" pitchFamily="34" charset="0"/>
                <a:ea typeface="Geist Mono" pitchFamily="34" charset="-122"/>
                <a:cs typeface="Geist Mono" pitchFamily="34" charset="-120"/>
              </a:rPr>
              <a:t>03</a:t>
            </a:r>
            <a:endParaRPr lang="en-US" sz="1600" dirty="0"/>
          </a:p>
        </p:txBody>
      </p:sp>
      <p:sp>
        <p:nvSpPr>
          <p:cNvPr id="12" name="Text 10"/>
          <p:cNvSpPr txBox="1"/>
          <p:nvPr/>
        </p:nvSpPr>
        <p:spPr>
          <a:xfrm>
            <a:off x="1645920" y="2871216"/>
            <a:ext cx="8229600" cy="621792"/>
          </a:xfrm>
          <a:prstGeom prst="rect">
            <a:avLst/>
          </a:prstGeom>
          <a:noFill/>
          <a:ln/>
        </p:spPr>
        <p:txBody>
          <a:bodyPr wrap="square" lIns="0" tIns="0" rIns="0" bIns="0" rtlCol="0" anchor="ctr"/>
          <a:lstStyle/>
          <a:p>
            <a:pPr algn="l" indent="0" marL="0">
              <a:buNone/>
            </a:pPr>
            <a:r>
              <a:rPr lang="en-US" sz="2000" b="1" dirty="0">
                <a:solidFill>
                  <a:srgbClr val="0A1628"/>
                </a:solidFill>
                <a:latin typeface="Outfit" pitchFamily="34" charset="0"/>
                <a:ea typeface="Outfit" pitchFamily="34" charset="-122"/>
                <a:cs typeface="Outfit" pitchFamily="34" charset="-120"/>
              </a:rPr>
              <a:t>Perché succede</a:t>
            </a:r>
            <a:endParaRPr lang="en-US" sz="2000" dirty="0"/>
          </a:p>
        </p:txBody>
      </p:sp>
      <p:sp>
        <p:nvSpPr>
          <p:cNvPr id="13" name="Shape 11"/>
          <p:cNvSpPr/>
          <p:nvPr/>
        </p:nvSpPr>
        <p:spPr>
          <a:xfrm>
            <a:off x="548640" y="3529584"/>
            <a:ext cx="11094415" cy="0"/>
          </a:xfrm>
          <a:prstGeom prst="line">
            <a:avLst/>
          </a:prstGeom>
          <a:noFill/>
          <a:ln w="9525">
            <a:solidFill>
              <a:srgbClr val="D8D5C9"/>
            </a:solidFill>
            <a:prstDash val="solid"/>
          </a:ln>
        </p:spPr>
      </p:sp>
      <p:sp>
        <p:nvSpPr>
          <p:cNvPr id="14" name="Text 12"/>
          <p:cNvSpPr txBox="1"/>
          <p:nvPr/>
        </p:nvSpPr>
        <p:spPr>
          <a:xfrm>
            <a:off x="548640" y="3621024"/>
            <a:ext cx="1005840" cy="621792"/>
          </a:xfrm>
          <a:prstGeom prst="rect">
            <a:avLst/>
          </a:prstGeom>
          <a:noFill/>
          <a:ln/>
        </p:spPr>
        <p:txBody>
          <a:bodyPr wrap="square" lIns="0" tIns="0" rIns="0" bIns="0" rtlCol="0" anchor="ctr"/>
          <a:lstStyle/>
          <a:p>
            <a:pPr algn="l" indent="0" marL="0">
              <a:buNone/>
            </a:pPr>
            <a:r>
              <a:rPr lang="en-US" sz="1600" b="1" dirty="0">
                <a:solidFill>
                  <a:srgbClr val="2D5BFF"/>
                </a:solidFill>
                <a:latin typeface="Geist Mono" pitchFamily="34" charset="0"/>
                <a:ea typeface="Geist Mono" pitchFamily="34" charset="-122"/>
                <a:cs typeface="Geist Mono" pitchFamily="34" charset="-120"/>
              </a:rPr>
              <a:t>04</a:t>
            </a:r>
            <a:endParaRPr lang="en-US" sz="1600" dirty="0"/>
          </a:p>
        </p:txBody>
      </p:sp>
      <p:sp>
        <p:nvSpPr>
          <p:cNvPr id="15" name="Text 13"/>
          <p:cNvSpPr txBox="1"/>
          <p:nvPr/>
        </p:nvSpPr>
        <p:spPr>
          <a:xfrm>
            <a:off x="1645920" y="3621024"/>
            <a:ext cx="8229600" cy="621792"/>
          </a:xfrm>
          <a:prstGeom prst="rect">
            <a:avLst/>
          </a:prstGeom>
          <a:noFill/>
          <a:ln/>
        </p:spPr>
        <p:txBody>
          <a:bodyPr wrap="square" lIns="0" tIns="0" rIns="0" bIns="0" rtlCol="0" anchor="ctr"/>
          <a:lstStyle/>
          <a:p>
            <a:pPr algn="l" indent="0" marL="0">
              <a:buNone/>
            </a:pPr>
            <a:r>
              <a:rPr lang="en-US" sz="2000" b="1" dirty="0">
                <a:solidFill>
                  <a:srgbClr val="0A1628"/>
                </a:solidFill>
                <a:latin typeface="Outfit" pitchFamily="34" charset="0"/>
                <a:ea typeface="Outfit" pitchFamily="34" charset="-122"/>
                <a:cs typeface="Outfit" pitchFamily="34" charset="-120"/>
              </a:rPr>
              <a:t>Un caso reale</a:t>
            </a:r>
            <a:endParaRPr lang="en-US" sz="2000" dirty="0"/>
          </a:p>
        </p:txBody>
      </p:sp>
      <p:sp>
        <p:nvSpPr>
          <p:cNvPr id="16" name="Shape 14"/>
          <p:cNvSpPr/>
          <p:nvPr/>
        </p:nvSpPr>
        <p:spPr>
          <a:xfrm>
            <a:off x="548640" y="4279392"/>
            <a:ext cx="11094415" cy="0"/>
          </a:xfrm>
          <a:prstGeom prst="line">
            <a:avLst/>
          </a:prstGeom>
          <a:noFill/>
          <a:ln w="9525">
            <a:solidFill>
              <a:srgbClr val="D8D5C9"/>
            </a:solidFill>
            <a:prstDash val="solid"/>
          </a:ln>
        </p:spPr>
      </p:sp>
      <p:sp>
        <p:nvSpPr>
          <p:cNvPr id="17" name="Text 15"/>
          <p:cNvSpPr txBox="1"/>
          <p:nvPr/>
        </p:nvSpPr>
        <p:spPr>
          <a:xfrm>
            <a:off x="548640" y="4370832"/>
            <a:ext cx="1005840" cy="621792"/>
          </a:xfrm>
          <a:prstGeom prst="rect">
            <a:avLst/>
          </a:prstGeom>
          <a:noFill/>
          <a:ln/>
        </p:spPr>
        <p:txBody>
          <a:bodyPr wrap="square" lIns="0" tIns="0" rIns="0" bIns="0" rtlCol="0" anchor="ctr"/>
          <a:lstStyle/>
          <a:p>
            <a:pPr algn="l" indent="0" marL="0">
              <a:buNone/>
            </a:pPr>
            <a:r>
              <a:rPr lang="en-US" sz="1600" b="1" dirty="0">
                <a:solidFill>
                  <a:srgbClr val="2D5BFF"/>
                </a:solidFill>
                <a:latin typeface="Geist Mono" pitchFamily="34" charset="0"/>
                <a:ea typeface="Geist Mono" pitchFamily="34" charset="-122"/>
                <a:cs typeface="Geist Mono" pitchFamily="34" charset="-120"/>
              </a:rPr>
              <a:t>05</a:t>
            </a:r>
            <a:endParaRPr lang="en-US" sz="1600" dirty="0"/>
          </a:p>
        </p:txBody>
      </p:sp>
      <p:sp>
        <p:nvSpPr>
          <p:cNvPr id="18" name="Text 16"/>
          <p:cNvSpPr txBox="1"/>
          <p:nvPr/>
        </p:nvSpPr>
        <p:spPr>
          <a:xfrm>
            <a:off x="1645920" y="4370832"/>
            <a:ext cx="8229600" cy="621792"/>
          </a:xfrm>
          <a:prstGeom prst="rect">
            <a:avLst/>
          </a:prstGeom>
          <a:noFill/>
          <a:ln/>
        </p:spPr>
        <p:txBody>
          <a:bodyPr wrap="square" lIns="0" tIns="0" rIns="0" bIns="0" rtlCol="0" anchor="ctr"/>
          <a:lstStyle/>
          <a:p>
            <a:pPr algn="l" indent="0" marL="0">
              <a:buNone/>
            </a:pPr>
            <a:r>
              <a:rPr lang="en-US" sz="2000" b="1" dirty="0">
                <a:solidFill>
                  <a:srgbClr val="0A1628"/>
                </a:solidFill>
                <a:latin typeface="Outfit" pitchFamily="34" charset="0"/>
                <a:ea typeface="Outfit" pitchFamily="34" charset="-122"/>
                <a:cs typeface="Outfit" pitchFamily="34" charset="-120"/>
              </a:rPr>
              <a:t>Come si verifica</a:t>
            </a:r>
            <a:endParaRPr lang="en-US" sz="2000" dirty="0"/>
          </a:p>
        </p:txBody>
      </p:sp>
      <p:sp>
        <p:nvSpPr>
          <p:cNvPr id="19" name="Shape 17"/>
          <p:cNvSpPr/>
          <p:nvPr/>
        </p:nvSpPr>
        <p:spPr>
          <a:xfrm>
            <a:off x="548640" y="5029200"/>
            <a:ext cx="11094415" cy="0"/>
          </a:xfrm>
          <a:prstGeom prst="line">
            <a:avLst/>
          </a:prstGeom>
          <a:noFill/>
          <a:ln w="9525">
            <a:solidFill>
              <a:srgbClr val="D8D5C9"/>
            </a:solidFill>
            <a:prstDash val="solid"/>
          </a:ln>
        </p:spPr>
      </p:sp>
      <p:sp>
        <p:nvSpPr>
          <p:cNvPr id="20" name="Text 18"/>
          <p:cNvSpPr txBox="1"/>
          <p:nvPr/>
        </p:nvSpPr>
        <p:spPr>
          <a:xfrm>
            <a:off x="548640" y="5120640"/>
            <a:ext cx="1005840" cy="621792"/>
          </a:xfrm>
          <a:prstGeom prst="rect">
            <a:avLst/>
          </a:prstGeom>
          <a:noFill/>
          <a:ln/>
        </p:spPr>
        <p:txBody>
          <a:bodyPr wrap="square" lIns="0" tIns="0" rIns="0" bIns="0" rtlCol="0" anchor="ctr"/>
          <a:lstStyle/>
          <a:p>
            <a:pPr algn="l" indent="0" marL="0">
              <a:buNone/>
            </a:pPr>
            <a:r>
              <a:rPr lang="en-US" sz="1600" b="1" dirty="0">
                <a:solidFill>
                  <a:srgbClr val="2D5BFF"/>
                </a:solidFill>
                <a:latin typeface="Geist Mono" pitchFamily="34" charset="0"/>
                <a:ea typeface="Geist Mono" pitchFamily="34" charset="-122"/>
                <a:cs typeface="Geist Mono" pitchFamily="34" charset="-120"/>
              </a:rPr>
              <a:t>06</a:t>
            </a:r>
            <a:endParaRPr lang="en-US" sz="1600" dirty="0"/>
          </a:p>
        </p:txBody>
      </p:sp>
      <p:sp>
        <p:nvSpPr>
          <p:cNvPr id="21" name="Text 19"/>
          <p:cNvSpPr txBox="1"/>
          <p:nvPr/>
        </p:nvSpPr>
        <p:spPr>
          <a:xfrm>
            <a:off x="1645920" y="5120640"/>
            <a:ext cx="8229600" cy="621792"/>
          </a:xfrm>
          <a:prstGeom prst="rect">
            <a:avLst/>
          </a:prstGeom>
          <a:noFill/>
          <a:ln/>
        </p:spPr>
        <p:txBody>
          <a:bodyPr wrap="square" lIns="0" tIns="0" rIns="0" bIns="0" rtlCol="0" anchor="ctr"/>
          <a:lstStyle/>
          <a:p>
            <a:pPr algn="l" indent="0" marL="0">
              <a:buNone/>
            </a:pPr>
            <a:r>
              <a:rPr lang="en-US" sz="2000" b="1" dirty="0">
                <a:solidFill>
                  <a:srgbClr val="0A1628"/>
                </a:solidFill>
                <a:latin typeface="Outfit" pitchFamily="34" charset="0"/>
                <a:ea typeface="Outfit" pitchFamily="34" charset="-122"/>
                <a:cs typeface="Outfit" pitchFamily="34" charset="-120"/>
              </a:rPr>
              <a:t>Punti chiave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algn="l" indent="0" marL="0">
              <a:buNone/>
            </a:pPr>
            <a:r>
              <a:rPr lang="en-US" sz="1100" b="1" spc="200" kern="0" dirty="0">
                <a:solidFill>
                  <a:srgbClr val="2D5BFF"/>
                </a:solidFill>
                <a:latin typeface="Geist Mono" pitchFamily="34" charset="0"/>
                <a:ea typeface="Geist Mono" pitchFamily="34" charset="-122"/>
                <a:cs typeface="Geist Mono" pitchFamily="34" charset="-120"/>
              </a:rPr>
              <a:t>PERCHÉ CONTA PER UN'AZIENDA</a:t>
            </a:r>
            <a:endParaRPr lang="en-US" sz="1100" dirty="0"/>
          </a:p>
        </p:txBody>
      </p:sp>
      <p:sp>
        <p:nvSpPr>
          <p:cNvPr id="3" name="Text 1"/>
          <p:cNvSpPr txBox="1"/>
          <p:nvPr/>
        </p:nvSpPr>
        <p:spPr>
          <a:xfrm>
            <a:off x="8899855" y="384048"/>
            <a:ext cx="2743200" cy="320040"/>
          </a:xfrm>
          <a:prstGeom prst="rect">
            <a:avLst/>
          </a:prstGeom>
          <a:noFill/>
          <a:ln/>
        </p:spPr>
        <p:txBody>
          <a:bodyPr wrap="square" lIns="0" tIns="0" rIns="0" bIns="0" rtlCol="0" anchor="ctr"/>
          <a:lstStyle/>
          <a:p>
            <a:pPr algn="r" indent="0" marL="0">
              <a:buNone/>
            </a:pPr>
            <a:r>
              <a:rPr lang="en-US" sz="1100" spc="200" kern="0" dirty="0">
                <a:solidFill>
                  <a:srgbClr val="5A6B85"/>
                </a:solidFill>
                <a:latin typeface="Geist Mono" pitchFamily="34" charset="0"/>
                <a:ea typeface="Geist Mono" pitchFamily="34" charset="-122"/>
                <a:cs typeface="Geist Mono" pitchFamily="34" charset="-120"/>
              </a:rPr>
              <a:t>03</a:t>
            </a:r>
            <a:endParaRPr lang="en-US" sz="1100" dirty="0"/>
          </a:p>
        </p:txBody>
      </p:sp>
      <p:sp>
        <p:nvSpPr>
          <p:cNvPr id="4" name="Shape 2"/>
          <p:cNvSpPr/>
          <p:nvPr/>
        </p:nvSpPr>
        <p:spPr>
          <a:xfrm>
            <a:off x="548640" y="749808"/>
            <a:ext cx="11094415" cy="0"/>
          </a:xfrm>
          <a:prstGeom prst="line">
            <a:avLst/>
          </a:prstGeom>
          <a:noFill/>
          <a:ln w="12700">
            <a:solidFill>
              <a:srgbClr val="D8D5C9"/>
            </a:solidFill>
            <a:prstDash val="solid"/>
          </a:ln>
        </p:spPr>
      </p:sp>
      <p:sp>
        <p:nvSpPr>
          <p:cNvPr id="5" name="Text 3"/>
          <p:cNvSpPr txBox="1"/>
          <p:nvPr/>
        </p:nvSpPr>
        <p:spPr>
          <a:xfrm>
            <a:off x="548640" y="1234440"/>
            <a:ext cx="10607040" cy="1371600"/>
          </a:xfrm>
          <a:prstGeom prst="rect">
            <a:avLst/>
          </a:prstGeom>
          <a:noFill/>
          <a:ln/>
        </p:spPr>
        <p:txBody>
          <a:bodyPr wrap="square" lIns="0" tIns="0" rIns="0" bIns="0" rtlCol="0" anchor="t"/>
          <a:lstStyle/>
          <a:p>
            <a:pPr algn="l" indent="0" marL="0">
              <a:lnSpc>
                <a:spcPct val="105000"/>
              </a:lnSpc>
              <a:buNone/>
            </a:pPr>
            <a:r>
              <a:rPr lang="en-US" sz="3000" b="1" dirty="0">
                <a:solidFill>
                  <a:srgbClr val="0A1628"/>
                </a:solidFill>
                <a:latin typeface="Outfit" pitchFamily="34" charset="0"/>
                <a:ea typeface="Outfit" pitchFamily="34" charset="-122"/>
                <a:cs typeface="Outfit" pitchFamily="34" charset="-120"/>
              </a:rPr>
              <a:t>Un errore non verificato diventa
</a:t>
            </a:r>
            <a:pPr algn="l" indent="0" marL="0">
              <a:lnSpc>
                <a:spcPct val="105000"/>
              </a:lnSpc>
              <a:buNone/>
            </a:pPr>
            <a:r>
              <a:rPr lang="en-US" sz="3000" b="1" dirty="0">
                <a:solidFill>
                  <a:srgbClr val="2D5BFF"/>
                </a:solidFill>
                <a:latin typeface="Outfit" pitchFamily="34" charset="0"/>
                <a:ea typeface="Outfit" pitchFamily="34" charset="-122"/>
                <a:cs typeface="Outfit" pitchFamily="34" charset="-120"/>
              </a:rPr>
              <a:t>un errore dell'azienda.</a:t>
            </a:r>
            <a:endParaRPr lang="en-US" sz="3000" dirty="0"/>
          </a:p>
        </p:txBody>
      </p:sp>
      <p:sp>
        <p:nvSpPr>
          <p:cNvPr id="6" name="Shape 4"/>
          <p:cNvSpPr/>
          <p:nvPr/>
        </p:nvSpPr>
        <p:spPr>
          <a:xfrm>
            <a:off x="548640" y="3246120"/>
            <a:ext cx="502920" cy="502920"/>
          </a:xfrm>
          <a:prstGeom prst="ellipse">
            <a:avLst/>
          </a:prstGeom>
          <a:solidFill>
            <a:srgbClr val="2D5BFF"/>
          </a:solidFill>
          <a:ln/>
        </p:spPr>
      </p:sp>
      <p:sp>
        <p:nvSpPr>
          <p:cNvPr id="7" name="Text 5"/>
          <p:cNvSpPr txBox="1"/>
          <p:nvPr/>
        </p:nvSpPr>
        <p:spPr>
          <a:xfrm>
            <a:off x="548640" y="3246120"/>
            <a:ext cx="502920" cy="502920"/>
          </a:xfrm>
          <a:prstGeom prst="rect">
            <a:avLst/>
          </a:prstGeom>
          <a:noFill/>
          <a:ln/>
        </p:spPr>
        <p:txBody>
          <a:bodyPr wrap="square" lIns="0" tIns="0" rIns="0" bIns="0" rtlCol="0" anchor="ctr"/>
          <a:lstStyle/>
          <a:p>
            <a:pPr algn="ctr" indent="0" marL="0">
              <a:buNone/>
            </a:pPr>
            <a:r>
              <a:rPr lang="en-US" sz="1400" b="1" dirty="0">
                <a:solidFill>
                  <a:srgbClr val="F7F6F1"/>
                </a:solidFill>
                <a:latin typeface="Geist Mono" pitchFamily="34" charset="0"/>
                <a:ea typeface="Geist Mono" pitchFamily="34" charset="-122"/>
                <a:cs typeface="Geist Mono" pitchFamily="34" charset="-120"/>
              </a:rPr>
              <a:t>01</a:t>
            </a:r>
            <a:endParaRPr lang="en-US" sz="1400" dirty="0"/>
          </a:p>
        </p:txBody>
      </p:sp>
      <p:sp>
        <p:nvSpPr>
          <p:cNvPr id="8" name="Text 6"/>
          <p:cNvSpPr txBox="1"/>
          <p:nvPr/>
        </p:nvSpPr>
        <p:spPr>
          <a:xfrm>
            <a:off x="548640" y="3904488"/>
            <a:ext cx="3429000" cy="457200"/>
          </a:xfrm>
          <a:prstGeom prst="rect">
            <a:avLst/>
          </a:prstGeom>
          <a:noFill/>
          <a:ln/>
        </p:spPr>
        <p:txBody>
          <a:bodyPr wrap="square" lIns="0" tIns="0" rIns="0" bIns="0" rtlCol="0" anchor="t"/>
          <a:lstStyle/>
          <a:p>
            <a:pPr algn="l" indent="0" marL="0">
              <a:buNone/>
            </a:pPr>
            <a:r>
              <a:rPr lang="en-US" sz="1500" b="1" dirty="0">
                <a:solidFill>
                  <a:srgbClr val="0A1628"/>
                </a:solidFill>
                <a:latin typeface="Outfit" pitchFamily="34" charset="0"/>
                <a:ea typeface="Outfit" pitchFamily="34" charset="-122"/>
                <a:cs typeface="Outfit" pitchFamily="34" charset="-120"/>
              </a:rPr>
              <a:t>Un'email al cliente</a:t>
            </a:r>
            <a:endParaRPr lang="en-US" sz="1500" dirty="0"/>
          </a:p>
        </p:txBody>
      </p:sp>
      <p:sp>
        <p:nvSpPr>
          <p:cNvPr id="9" name="Text 7"/>
          <p:cNvSpPr txBox="1"/>
          <p:nvPr/>
        </p:nvSpPr>
        <p:spPr>
          <a:xfrm>
            <a:off x="548640" y="4325112"/>
            <a:ext cx="3429000" cy="1280160"/>
          </a:xfrm>
          <a:prstGeom prst="rect">
            <a:avLst/>
          </a:prstGeom>
          <a:noFill/>
          <a:ln/>
        </p:spPr>
        <p:txBody>
          <a:bodyPr wrap="square" lIns="0" tIns="0" rIns="0" bIns="0" rtlCol="0" anchor="t"/>
          <a:lstStyle/>
          <a:p>
            <a:pPr algn="l" indent="0" marL="0">
              <a:lnSpc>
                <a:spcPct val="130000"/>
              </a:lnSpc>
              <a:buNone/>
            </a:pPr>
            <a:r>
              <a:rPr lang="en-US" sz="1250" dirty="0">
                <a:solidFill>
                  <a:srgbClr val="5A6B85"/>
                </a:solidFill>
                <a:latin typeface="Instrument Sans" pitchFamily="34" charset="0"/>
                <a:ea typeface="Instrument Sans" pitchFamily="34" charset="-122"/>
                <a:cs typeface="Instrument Sans" pitchFamily="34" charset="-120"/>
              </a:rPr>
              <a:t>Un dato inventato finisce in una comunicazione che esce dall'azienda.</a:t>
            </a:r>
            <a:endParaRPr lang="en-US" sz="1250" dirty="0"/>
          </a:p>
        </p:txBody>
      </p:sp>
      <p:sp>
        <p:nvSpPr>
          <p:cNvPr id="10" name="Shape 8"/>
          <p:cNvSpPr/>
          <p:nvPr/>
        </p:nvSpPr>
        <p:spPr>
          <a:xfrm>
            <a:off x="4297680" y="3246120"/>
            <a:ext cx="502920" cy="502920"/>
          </a:xfrm>
          <a:prstGeom prst="ellipse">
            <a:avLst/>
          </a:prstGeom>
          <a:solidFill>
            <a:srgbClr val="2D5BFF"/>
          </a:solidFill>
          <a:ln/>
        </p:spPr>
      </p:sp>
      <p:sp>
        <p:nvSpPr>
          <p:cNvPr id="11" name="Text 9"/>
          <p:cNvSpPr txBox="1"/>
          <p:nvPr/>
        </p:nvSpPr>
        <p:spPr>
          <a:xfrm>
            <a:off x="4297680" y="3246120"/>
            <a:ext cx="502920" cy="502920"/>
          </a:xfrm>
          <a:prstGeom prst="rect">
            <a:avLst/>
          </a:prstGeom>
          <a:noFill/>
          <a:ln/>
        </p:spPr>
        <p:txBody>
          <a:bodyPr wrap="square" lIns="0" tIns="0" rIns="0" bIns="0" rtlCol="0" anchor="ctr"/>
          <a:lstStyle/>
          <a:p>
            <a:pPr algn="ctr" indent="0" marL="0">
              <a:buNone/>
            </a:pPr>
            <a:r>
              <a:rPr lang="en-US" sz="1400" b="1" dirty="0">
                <a:solidFill>
                  <a:srgbClr val="F7F6F1"/>
                </a:solidFill>
                <a:latin typeface="Geist Mono" pitchFamily="34" charset="0"/>
                <a:ea typeface="Geist Mono" pitchFamily="34" charset="-122"/>
                <a:cs typeface="Geist Mono" pitchFamily="34" charset="-120"/>
              </a:rPr>
              <a:t>02</a:t>
            </a:r>
            <a:endParaRPr lang="en-US" sz="1400" dirty="0"/>
          </a:p>
        </p:txBody>
      </p:sp>
      <p:sp>
        <p:nvSpPr>
          <p:cNvPr id="12" name="Text 10"/>
          <p:cNvSpPr txBox="1"/>
          <p:nvPr/>
        </p:nvSpPr>
        <p:spPr>
          <a:xfrm>
            <a:off x="4297680" y="3904488"/>
            <a:ext cx="3429000" cy="457200"/>
          </a:xfrm>
          <a:prstGeom prst="rect">
            <a:avLst/>
          </a:prstGeom>
          <a:noFill/>
          <a:ln/>
        </p:spPr>
        <p:txBody>
          <a:bodyPr wrap="square" lIns="0" tIns="0" rIns="0" bIns="0" rtlCol="0" anchor="t"/>
          <a:lstStyle/>
          <a:p>
            <a:pPr algn="l" indent="0" marL="0">
              <a:buNone/>
            </a:pPr>
            <a:r>
              <a:rPr lang="en-US" sz="1500" b="1" dirty="0">
                <a:solidFill>
                  <a:srgbClr val="0A1628"/>
                </a:solidFill>
                <a:latin typeface="Outfit" pitchFamily="34" charset="0"/>
                <a:ea typeface="Outfit" pitchFamily="34" charset="-122"/>
                <a:cs typeface="Outfit" pitchFamily="34" charset="-120"/>
              </a:rPr>
              <a:t>Un'offerta o un capitolato</a:t>
            </a:r>
            <a:endParaRPr lang="en-US" sz="1500" dirty="0"/>
          </a:p>
        </p:txBody>
      </p:sp>
      <p:sp>
        <p:nvSpPr>
          <p:cNvPr id="13" name="Text 11"/>
          <p:cNvSpPr txBox="1"/>
          <p:nvPr/>
        </p:nvSpPr>
        <p:spPr>
          <a:xfrm>
            <a:off x="4297680" y="4325112"/>
            <a:ext cx="3429000" cy="1280160"/>
          </a:xfrm>
          <a:prstGeom prst="rect">
            <a:avLst/>
          </a:prstGeom>
          <a:noFill/>
          <a:ln/>
        </p:spPr>
        <p:txBody>
          <a:bodyPr wrap="square" lIns="0" tIns="0" rIns="0" bIns="0" rtlCol="0" anchor="t"/>
          <a:lstStyle/>
          <a:p>
            <a:pPr algn="l" indent="0" marL="0">
              <a:lnSpc>
                <a:spcPct val="130000"/>
              </a:lnSpc>
              <a:buNone/>
            </a:pPr>
            <a:r>
              <a:rPr lang="en-US" sz="1250" dirty="0">
                <a:solidFill>
                  <a:srgbClr val="5A6B85"/>
                </a:solidFill>
                <a:latin typeface="Instrument Sans" pitchFamily="34" charset="0"/>
                <a:ea typeface="Instrument Sans" pitchFamily="34" charset="-122"/>
                <a:cs typeface="Instrument Sans" pitchFamily="34" charset="-120"/>
              </a:rPr>
              <a:t>Una specifica tecnica plausibile ma sbagliata entra in un documento contrattuale.</a:t>
            </a:r>
            <a:endParaRPr lang="en-US" sz="1250" dirty="0"/>
          </a:p>
        </p:txBody>
      </p:sp>
      <p:sp>
        <p:nvSpPr>
          <p:cNvPr id="14" name="Shape 12"/>
          <p:cNvSpPr/>
          <p:nvPr/>
        </p:nvSpPr>
        <p:spPr>
          <a:xfrm>
            <a:off x="8046720" y="3246120"/>
            <a:ext cx="502920" cy="502920"/>
          </a:xfrm>
          <a:prstGeom prst="ellipse">
            <a:avLst/>
          </a:prstGeom>
          <a:solidFill>
            <a:srgbClr val="2D5BFF"/>
          </a:solidFill>
          <a:ln/>
        </p:spPr>
      </p:sp>
      <p:sp>
        <p:nvSpPr>
          <p:cNvPr id="15" name="Text 13"/>
          <p:cNvSpPr txBox="1"/>
          <p:nvPr/>
        </p:nvSpPr>
        <p:spPr>
          <a:xfrm>
            <a:off x="8046720" y="3246120"/>
            <a:ext cx="502920" cy="502920"/>
          </a:xfrm>
          <a:prstGeom prst="rect">
            <a:avLst/>
          </a:prstGeom>
          <a:noFill/>
          <a:ln/>
        </p:spPr>
        <p:txBody>
          <a:bodyPr wrap="square" lIns="0" tIns="0" rIns="0" bIns="0" rtlCol="0" anchor="ctr"/>
          <a:lstStyle/>
          <a:p>
            <a:pPr algn="ctr" indent="0" marL="0">
              <a:buNone/>
            </a:pPr>
            <a:r>
              <a:rPr lang="en-US" sz="1400" b="1" dirty="0">
                <a:solidFill>
                  <a:srgbClr val="F7F6F1"/>
                </a:solidFill>
                <a:latin typeface="Geist Mono" pitchFamily="34" charset="0"/>
                <a:ea typeface="Geist Mono" pitchFamily="34" charset="-122"/>
                <a:cs typeface="Geist Mono" pitchFamily="34" charset="-120"/>
              </a:rPr>
              <a:t>03</a:t>
            </a:r>
            <a:endParaRPr lang="en-US" sz="1400" dirty="0"/>
          </a:p>
        </p:txBody>
      </p:sp>
      <p:sp>
        <p:nvSpPr>
          <p:cNvPr id="16" name="Text 14"/>
          <p:cNvSpPr txBox="1"/>
          <p:nvPr/>
        </p:nvSpPr>
        <p:spPr>
          <a:xfrm>
            <a:off x="8046720" y="3904488"/>
            <a:ext cx="3429000" cy="457200"/>
          </a:xfrm>
          <a:prstGeom prst="rect">
            <a:avLst/>
          </a:prstGeom>
          <a:noFill/>
          <a:ln/>
        </p:spPr>
        <p:txBody>
          <a:bodyPr wrap="square" lIns="0" tIns="0" rIns="0" bIns="0" rtlCol="0" anchor="t"/>
          <a:lstStyle/>
          <a:p>
            <a:pPr algn="l" indent="0" marL="0">
              <a:buNone/>
            </a:pPr>
            <a:r>
              <a:rPr lang="en-US" sz="1500" b="1" dirty="0">
                <a:solidFill>
                  <a:srgbClr val="0A1628"/>
                </a:solidFill>
                <a:latin typeface="Outfit" pitchFamily="34" charset="0"/>
                <a:ea typeface="Outfit" pitchFamily="34" charset="-122"/>
                <a:cs typeface="Outfit" pitchFamily="34" charset="-120"/>
              </a:rPr>
              <a:t>Un riferimento normativo</a:t>
            </a:r>
            <a:endParaRPr lang="en-US" sz="1500" dirty="0"/>
          </a:p>
        </p:txBody>
      </p:sp>
      <p:sp>
        <p:nvSpPr>
          <p:cNvPr id="17" name="Text 15"/>
          <p:cNvSpPr txBox="1"/>
          <p:nvPr/>
        </p:nvSpPr>
        <p:spPr>
          <a:xfrm>
            <a:off x="8046720" y="4325112"/>
            <a:ext cx="3429000" cy="1280160"/>
          </a:xfrm>
          <a:prstGeom prst="rect">
            <a:avLst/>
          </a:prstGeom>
          <a:noFill/>
          <a:ln/>
        </p:spPr>
        <p:txBody>
          <a:bodyPr wrap="square" lIns="0" tIns="0" rIns="0" bIns="0" rtlCol="0" anchor="t"/>
          <a:lstStyle/>
          <a:p>
            <a:pPr algn="l" indent="0" marL="0">
              <a:lnSpc>
                <a:spcPct val="130000"/>
              </a:lnSpc>
              <a:buNone/>
            </a:pPr>
            <a:r>
              <a:rPr lang="en-US" sz="1250" dirty="0">
                <a:solidFill>
                  <a:srgbClr val="5A6B85"/>
                </a:solidFill>
                <a:latin typeface="Instrument Sans" pitchFamily="34" charset="0"/>
                <a:ea typeface="Instrument Sans" pitchFamily="34" charset="-122"/>
                <a:cs typeface="Instrument Sans" pitchFamily="34" charset="-120"/>
              </a:rPr>
              <a:t>Una norma citata male viene ripresa in una comunicazione a un cliente.</a:t>
            </a:r>
            <a:endParaRPr lang="en-US" sz="1250" dirty="0"/>
          </a:p>
        </p:txBody>
      </p:sp>
      <p:sp>
        <p:nvSpPr>
          <p:cNvPr id="18" name="Text 16"/>
          <p:cNvSpPr txBox="1"/>
          <p:nvPr/>
        </p:nvSpPr>
        <p:spPr>
          <a:xfrm>
            <a:off x="548640" y="6355080"/>
            <a:ext cx="11094415" cy="274320"/>
          </a:xfrm>
          <a:prstGeom prst="rect">
            <a:avLst/>
          </a:prstGeom>
          <a:noFill/>
          <a:ln/>
        </p:spPr>
        <p:txBody>
          <a:bodyPr wrap="square" lIns="0" tIns="0" rIns="0" bIns="0" rtlCol="0" anchor="ctr"/>
          <a:lstStyle/>
          <a:p>
            <a:pPr algn="l" indent="0" marL="0">
              <a:buNone/>
            </a:pPr>
            <a:r>
              <a:rPr lang="en-US" sz="850" spc="100" kern="0" dirty="0">
                <a:solidFill>
                  <a:srgbClr val="9AA3B2"/>
                </a:solidFill>
                <a:latin typeface="Geist Mono" pitchFamily="34" charset="0"/>
                <a:ea typeface="Geist Mono" pitchFamily="34" charset="-122"/>
                <a:cs typeface="Geist Mono" pitchFamily="34" charset="-120"/>
              </a:rPr>
              <a:t>CASI REALI IN CUI È SUCCESSO DAVVERO → SLIDE 06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algn="l" indent="0" marL="0">
              <a:buNone/>
            </a:pPr>
            <a:r>
              <a:rPr lang="en-US" sz="1100" b="1" spc="200" kern="0" dirty="0">
                <a:solidFill>
                  <a:srgbClr val="D8F34E"/>
                </a:solidFill>
                <a:latin typeface="Geist Mono" pitchFamily="34" charset="0"/>
                <a:ea typeface="Geist Mono" pitchFamily="34" charset="-122"/>
                <a:cs typeface="Geist Mono" pitchFamily="34" charset="-120"/>
              </a:rPr>
              <a:t>DEFINIZIONE</a:t>
            </a:r>
            <a:endParaRPr lang="en-US" sz="1100" dirty="0"/>
          </a:p>
        </p:txBody>
      </p:sp>
      <p:sp>
        <p:nvSpPr>
          <p:cNvPr id="3" name="Text 1"/>
          <p:cNvSpPr txBox="1"/>
          <p:nvPr/>
        </p:nvSpPr>
        <p:spPr>
          <a:xfrm>
            <a:off x="8899855" y="384048"/>
            <a:ext cx="2743200" cy="320040"/>
          </a:xfrm>
          <a:prstGeom prst="rect">
            <a:avLst/>
          </a:prstGeom>
          <a:noFill/>
          <a:ln/>
        </p:spPr>
        <p:txBody>
          <a:bodyPr wrap="square" lIns="0" tIns="0" rIns="0" bIns="0" rtlCol="0" anchor="ctr"/>
          <a:lstStyle/>
          <a:p>
            <a:pPr algn="r" indent="0" marL="0">
              <a:buNone/>
            </a:pPr>
            <a:r>
              <a:rPr lang="en-US" sz="1100" spc="200" kern="0" dirty="0">
                <a:solidFill>
                  <a:srgbClr val="9FB0C8"/>
                </a:solidFill>
                <a:latin typeface="Geist Mono" pitchFamily="34" charset="0"/>
                <a:ea typeface="Geist Mono" pitchFamily="34" charset="-122"/>
                <a:cs typeface="Geist Mono" pitchFamily="34" charset="-120"/>
              </a:rPr>
              <a:t>04</a:t>
            </a:r>
            <a:endParaRPr lang="en-US" sz="1100" dirty="0"/>
          </a:p>
        </p:txBody>
      </p:sp>
      <p:sp>
        <p:nvSpPr>
          <p:cNvPr id="4" name="Shape 2"/>
          <p:cNvSpPr/>
          <p:nvPr/>
        </p:nvSpPr>
        <p:spPr>
          <a:xfrm>
            <a:off x="548640" y="749808"/>
            <a:ext cx="11094415" cy="0"/>
          </a:xfrm>
          <a:prstGeom prst="line">
            <a:avLst/>
          </a:prstGeom>
          <a:noFill/>
          <a:ln w="12700">
            <a:solidFill>
              <a:srgbClr val="27395C"/>
            </a:solidFill>
            <a:prstDash val="solid"/>
          </a:ln>
        </p:spPr>
      </p:sp>
      <p:sp>
        <p:nvSpPr>
          <p:cNvPr id="5" name="Text 3"/>
          <p:cNvSpPr txBox="1"/>
          <p:nvPr/>
        </p:nvSpPr>
        <p:spPr>
          <a:xfrm>
            <a:off x="548640" y="1371600"/>
            <a:ext cx="10607040" cy="1371600"/>
          </a:xfrm>
          <a:prstGeom prst="rect">
            <a:avLst/>
          </a:prstGeom>
          <a:noFill/>
          <a:ln/>
        </p:spPr>
        <p:txBody>
          <a:bodyPr wrap="square" lIns="0" tIns="0" rIns="0" bIns="0" rtlCol="0" anchor="t"/>
          <a:lstStyle/>
          <a:p>
            <a:pPr algn="l" indent="0" marL="0">
              <a:lnSpc>
                <a:spcPct val="115000"/>
              </a:lnSpc>
              <a:buNone/>
            </a:pPr>
            <a:r>
              <a:rPr lang="en-US" sz="2700" b="1" dirty="0">
                <a:solidFill>
                  <a:srgbClr val="F7F6F1"/>
                </a:solidFill>
                <a:latin typeface="Outfit" pitchFamily="34" charset="0"/>
                <a:ea typeface="Outfit" pitchFamily="34" charset="-122"/>
                <a:cs typeface="Outfit" pitchFamily="34" charset="-120"/>
              </a:rPr>
              <a:t>Un contenuto presentato come un fatto, con lo stesso tono sicuro del resto — ma </a:t>
            </a:r>
            <a:pPr algn="l" indent="0" marL="0">
              <a:lnSpc>
                <a:spcPct val="115000"/>
              </a:lnSpc>
              <a:buNone/>
            </a:pPr>
            <a:r>
              <a:rPr lang="en-US" sz="2700" b="1" dirty="0">
                <a:solidFill>
                  <a:srgbClr val="D8F34E"/>
                </a:solidFill>
                <a:latin typeface="Outfit" pitchFamily="34" charset="0"/>
                <a:ea typeface="Outfit" pitchFamily="34" charset="-122"/>
                <a:cs typeface="Outfit" pitchFamily="34" charset="-120"/>
              </a:rPr>
              <a:t>inventato.</a:t>
            </a:r>
            <a:endParaRPr lang="en-US" sz="2700" dirty="0"/>
          </a:p>
        </p:txBody>
      </p:sp>
      <p:sp>
        <p:nvSpPr>
          <p:cNvPr id="6" name="Text 4"/>
          <p:cNvSpPr txBox="1"/>
          <p:nvPr/>
        </p:nvSpPr>
        <p:spPr>
          <a:xfrm>
            <a:off x="548640" y="3246120"/>
            <a:ext cx="3063240" cy="777240"/>
          </a:xfrm>
          <a:prstGeom prst="rect">
            <a:avLst/>
          </a:prstGeom>
          <a:noFill/>
          <a:ln/>
        </p:spPr>
        <p:txBody>
          <a:bodyPr wrap="square" lIns="0" tIns="0" rIns="0" bIns="0" rtlCol="0" anchor="t"/>
          <a:lstStyle/>
          <a:p>
            <a:pPr algn="l" indent="0" marL="0">
              <a:lnSpc>
                <a:spcPct val="105000"/>
              </a:lnSpc>
              <a:buNone/>
            </a:pPr>
            <a:r>
              <a:rPr lang="en-US" sz="1600" b="1" dirty="0">
                <a:solidFill>
                  <a:srgbClr val="D8F34E"/>
                </a:solidFill>
                <a:latin typeface="Outfit" pitchFamily="34" charset="0"/>
                <a:ea typeface="Outfit" pitchFamily="34" charset="-122"/>
                <a:cs typeface="Outfit" pitchFamily="34" charset="-120"/>
              </a:rPr>
              <a:t>Non è segnalata</a:t>
            </a:r>
            <a:endParaRPr lang="en-US" sz="1600" dirty="0"/>
          </a:p>
        </p:txBody>
      </p:sp>
      <p:sp>
        <p:nvSpPr>
          <p:cNvPr id="7" name="Text 5"/>
          <p:cNvSpPr txBox="1"/>
          <p:nvPr/>
        </p:nvSpPr>
        <p:spPr>
          <a:xfrm>
            <a:off x="548640" y="4114800"/>
            <a:ext cx="3063240" cy="1371600"/>
          </a:xfrm>
          <a:prstGeom prst="rect">
            <a:avLst/>
          </a:prstGeom>
          <a:noFill/>
          <a:ln/>
        </p:spPr>
        <p:txBody>
          <a:bodyPr wrap="square" lIns="0" tIns="0" rIns="0" bIns="0" rtlCol="0" anchor="t"/>
          <a:lstStyle/>
          <a:p>
            <a:pPr algn="l" indent="0" marL="0">
              <a:lnSpc>
                <a:spcPct val="135000"/>
              </a:lnSpc>
              <a:buNone/>
            </a:pPr>
            <a:r>
              <a:rPr lang="en-US" sz="1200" dirty="0">
                <a:solidFill>
                  <a:srgbClr val="C9D4E6"/>
                </a:solidFill>
                <a:latin typeface="Instrument Sans" pitchFamily="34" charset="0"/>
                <a:ea typeface="Instrument Sans" pitchFamily="34" charset="-122"/>
                <a:cs typeface="Instrument Sans" pitchFamily="34" charset="-120"/>
              </a:rPr>
              <a:t>Non esiste, nell'interfaccia, un segnale che distingua ciò che il modello sa con certezza da ciò che ha ricostruito.</a:t>
            </a:r>
            <a:endParaRPr lang="en-US" sz="1200" dirty="0"/>
          </a:p>
        </p:txBody>
      </p:sp>
      <p:sp>
        <p:nvSpPr>
          <p:cNvPr id="8" name="Shape 6"/>
          <p:cNvSpPr/>
          <p:nvPr/>
        </p:nvSpPr>
        <p:spPr>
          <a:xfrm>
            <a:off x="3977640" y="3108960"/>
            <a:ext cx="0" cy="1828800"/>
          </a:xfrm>
          <a:prstGeom prst="line">
            <a:avLst/>
          </a:prstGeom>
          <a:noFill/>
          <a:ln w="12700">
            <a:solidFill>
              <a:srgbClr val="27395C"/>
            </a:solidFill>
            <a:prstDash val="solid"/>
          </a:ln>
        </p:spPr>
      </p:sp>
      <p:sp>
        <p:nvSpPr>
          <p:cNvPr id="9" name="Text 7"/>
          <p:cNvSpPr txBox="1"/>
          <p:nvPr/>
        </p:nvSpPr>
        <p:spPr>
          <a:xfrm>
            <a:off x="4160520" y="3246120"/>
            <a:ext cx="3063240" cy="777240"/>
          </a:xfrm>
          <a:prstGeom prst="rect">
            <a:avLst/>
          </a:prstGeom>
          <a:noFill/>
          <a:ln/>
        </p:spPr>
        <p:txBody>
          <a:bodyPr wrap="square" lIns="0" tIns="0" rIns="0" bIns="0" rtlCol="0" anchor="t"/>
          <a:lstStyle/>
          <a:p>
            <a:pPr algn="l" indent="0" marL="0">
              <a:lnSpc>
                <a:spcPct val="105000"/>
              </a:lnSpc>
              <a:buNone/>
            </a:pPr>
            <a:r>
              <a:rPr lang="en-US" sz="1600" b="1" dirty="0">
                <a:solidFill>
                  <a:srgbClr val="D8F34E"/>
                </a:solidFill>
                <a:latin typeface="Outfit" pitchFamily="34" charset="0"/>
                <a:ea typeface="Outfit" pitchFamily="34" charset="-122"/>
                <a:cs typeface="Outfit" pitchFamily="34" charset="-120"/>
              </a:rPr>
              <a:t>È plausibile,</a:t>
            </a:r>
            <a:endParaRPr lang="en-US" sz="1600" dirty="0"/>
          </a:p>
          <a:p>
            <a:pPr algn="l" indent="0" marL="0">
              <a:lnSpc>
                <a:spcPct val="105000"/>
              </a:lnSpc>
              <a:buNone/>
            </a:pPr>
            <a:r>
              <a:rPr lang="en-US" sz="1600" b="1" dirty="0">
                <a:solidFill>
                  <a:srgbClr val="D8F34E"/>
                </a:solidFill>
                <a:latin typeface="Outfit" pitchFamily="34" charset="0"/>
                <a:ea typeface="Outfit" pitchFamily="34" charset="-122"/>
                <a:cs typeface="Outfit" pitchFamily="34" charset="-120"/>
              </a:rPr>
              <a:t>non casuale</a:t>
            </a:r>
            <a:endParaRPr lang="en-US" sz="1600" dirty="0"/>
          </a:p>
        </p:txBody>
      </p:sp>
      <p:sp>
        <p:nvSpPr>
          <p:cNvPr id="10" name="Text 8"/>
          <p:cNvSpPr txBox="1"/>
          <p:nvPr/>
        </p:nvSpPr>
        <p:spPr>
          <a:xfrm>
            <a:off x="4160520" y="4114800"/>
            <a:ext cx="3063240" cy="1371600"/>
          </a:xfrm>
          <a:prstGeom prst="rect">
            <a:avLst/>
          </a:prstGeom>
          <a:noFill/>
          <a:ln/>
        </p:spPr>
        <p:txBody>
          <a:bodyPr wrap="square" lIns="0" tIns="0" rIns="0" bIns="0" rtlCol="0" anchor="t"/>
          <a:lstStyle/>
          <a:p>
            <a:pPr algn="l" indent="0" marL="0">
              <a:lnSpc>
                <a:spcPct val="135000"/>
              </a:lnSpc>
              <a:buNone/>
            </a:pPr>
            <a:r>
              <a:rPr lang="en-US" sz="1200" dirty="0">
                <a:solidFill>
                  <a:srgbClr val="C9D4E6"/>
                </a:solidFill>
                <a:latin typeface="Instrument Sans" pitchFamily="34" charset="0"/>
                <a:ea typeface="Instrument Sans" pitchFamily="34" charset="-122"/>
                <a:cs typeface="Instrument Sans" pitchFamily="34" charset="-120"/>
              </a:rPr>
              <a:t>Un dato verosimile, coerente con il contesto — non un errore grossolano che salta all'occhio.</a:t>
            </a:r>
            <a:endParaRPr lang="en-US" sz="1200" dirty="0"/>
          </a:p>
        </p:txBody>
      </p:sp>
      <p:sp>
        <p:nvSpPr>
          <p:cNvPr id="11" name="Shape 9"/>
          <p:cNvSpPr/>
          <p:nvPr/>
        </p:nvSpPr>
        <p:spPr>
          <a:xfrm>
            <a:off x="7589520" y="3108960"/>
            <a:ext cx="0" cy="1828800"/>
          </a:xfrm>
          <a:prstGeom prst="line">
            <a:avLst/>
          </a:prstGeom>
          <a:noFill/>
          <a:ln w="12700">
            <a:solidFill>
              <a:srgbClr val="27395C"/>
            </a:solidFill>
            <a:prstDash val="solid"/>
          </a:ln>
        </p:spPr>
      </p:sp>
      <p:sp>
        <p:nvSpPr>
          <p:cNvPr id="12" name="Text 10"/>
          <p:cNvSpPr txBox="1"/>
          <p:nvPr/>
        </p:nvSpPr>
        <p:spPr>
          <a:xfrm>
            <a:off x="7772400" y="3246120"/>
            <a:ext cx="3063240" cy="777240"/>
          </a:xfrm>
          <a:prstGeom prst="rect">
            <a:avLst/>
          </a:prstGeom>
          <a:noFill/>
          <a:ln/>
        </p:spPr>
        <p:txBody>
          <a:bodyPr wrap="square" lIns="0" tIns="0" rIns="0" bIns="0" rtlCol="0" anchor="t"/>
          <a:lstStyle/>
          <a:p>
            <a:pPr algn="l" indent="0" marL="0">
              <a:lnSpc>
                <a:spcPct val="105000"/>
              </a:lnSpc>
              <a:buNone/>
            </a:pPr>
            <a:r>
              <a:rPr lang="en-US" sz="1600" b="1" dirty="0">
                <a:solidFill>
                  <a:srgbClr val="D8F34E"/>
                </a:solidFill>
                <a:latin typeface="Outfit" pitchFamily="34" charset="0"/>
                <a:ea typeface="Outfit" pitchFamily="34" charset="-122"/>
                <a:cs typeface="Outfit" pitchFamily="34" charset="-120"/>
              </a:rPr>
              <a:t>Non si risolve</a:t>
            </a:r>
            <a:endParaRPr lang="en-US" sz="1600" dirty="0"/>
          </a:p>
          <a:p>
            <a:pPr algn="l" indent="0" marL="0">
              <a:lnSpc>
                <a:spcPct val="105000"/>
              </a:lnSpc>
              <a:buNone/>
            </a:pPr>
            <a:r>
              <a:rPr lang="en-US" sz="1600" b="1" dirty="0">
                <a:solidFill>
                  <a:srgbClr val="D8F34E"/>
                </a:solidFill>
                <a:latin typeface="Outfit" pitchFamily="34" charset="0"/>
                <a:ea typeface="Outfit" pitchFamily="34" charset="-122"/>
                <a:cs typeface="Outfit" pitchFamily="34" charset="-120"/>
              </a:rPr>
              <a:t>da sola</a:t>
            </a:r>
            <a:endParaRPr lang="en-US" sz="1600" dirty="0"/>
          </a:p>
        </p:txBody>
      </p:sp>
      <p:sp>
        <p:nvSpPr>
          <p:cNvPr id="13" name="Text 11"/>
          <p:cNvSpPr txBox="1"/>
          <p:nvPr/>
        </p:nvSpPr>
        <p:spPr>
          <a:xfrm>
            <a:off x="7772400" y="4114800"/>
            <a:ext cx="3063240" cy="1371600"/>
          </a:xfrm>
          <a:prstGeom prst="rect">
            <a:avLst/>
          </a:prstGeom>
          <a:noFill/>
          <a:ln/>
        </p:spPr>
        <p:txBody>
          <a:bodyPr wrap="square" lIns="0" tIns="0" rIns="0" bIns="0" rtlCol="0" anchor="t"/>
          <a:lstStyle/>
          <a:p>
            <a:pPr algn="l" indent="0" marL="0">
              <a:lnSpc>
                <a:spcPct val="135000"/>
              </a:lnSpc>
              <a:buNone/>
            </a:pPr>
            <a:r>
              <a:rPr lang="en-US" sz="1200" dirty="0">
                <a:solidFill>
                  <a:srgbClr val="C9D4E6"/>
                </a:solidFill>
                <a:latin typeface="Instrument Sans" pitchFamily="34" charset="0"/>
                <a:ea typeface="Instrument Sans" pitchFamily="34" charset="-122"/>
                <a:cs typeface="Instrument Sans" pitchFamily="34" charset="-120"/>
              </a:rPr>
              <a:t>Si riduce con modelli migliori, ma discende dal modo stesso in cui un LLM genera testo.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algn="l" indent="0" marL="0">
              <a:buNone/>
            </a:pPr>
            <a:r>
              <a:rPr lang="en-US" sz="1100" b="1" spc="200" kern="0" dirty="0">
                <a:solidFill>
                  <a:srgbClr val="2D5BFF"/>
                </a:solidFill>
                <a:latin typeface="Geist Mono" pitchFamily="34" charset="0"/>
                <a:ea typeface="Geist Mono" pitchFamily="34" charset="-122"/>
                <a:cs typeface="Geist Mono" pitchFamily="34" charset="-120"/>
              </a:rPr>
              <a:t>IL MECCANISMO</a:t>
            </a:r>
            <a:endParaRPr lang="en-US" sz="1100" dirty="0"/>
          </a:p>
        </p:txBody>
      </p:sp>
      <p:sp>
        <p:nvSpPr>
          <p:cNvPr id="3" name="Text 1"/>
          <p:cNvSpPr txBox="1"/>
          <p:nvPr/>
        </p:nvSpPr>
        <p:spPr>
          <a:xfrm>
            <a:off x="8899855" y="384048"/>
            <a:ext cx="2743200" cy="320040"/>
          </a:xfrm>
          <a:prstGeom prst="rect">
            <a:avLst/>
          </a:prstGeom>
          <a:noFill/>
          <a:ln/>
        </p:spPr>
        <p:txBody>
          <a:bodyPr wrap="square" lIns="0" tIns="0" rIns="0" bIns="0" rtlCol="0" anchor="ctr"/>
          <a:lstStyle/>
          <a:p>
            <a:pPr algn="r" indent="0" marL="0">
              <a:buNone/>
            </a:pPr>
            <a:r>
              <a:rPr lang="en-US" sz="1100" spc="200" kern="0" dirty="0">
                <a:solidFill>
                  <a:srgbClr val="5A6B85"/>
                </a:solidFill>
                <a:latin typeface="Geist Mono" pitchFamily="34" charset="0"/>
                <a:ea typeface="Geist Mono" pitchFamily="34" charset="-122"/>
                <a:cs typeface="Geist Mono" pitchFamily="34" charset="-120"/>
              </a:rPr>
              <a:t>05</a:t>
            </a:r>
            <a:endParaRPr lang="en-US" sz="1100" dirty="0"/>
          </a:p>
        </p:txBody>
      </p:sp>
      <p:sp>
        <p:nvSpPr>
          <p:cNvPr id="4" name="Shape 2"/>
          <p:cNvSpPr/>
          <p:nvPr/>
        </p:nvSpPr>
        <p:spPr>
          <a:xfrm>
            <a:off x="548640" y="749808"/>
            <a:ext cx="11094415" cy="0"/>
          </a:xfrm>
          <a:prstGeom prst="line">
            <a:avLst/>
          </a:prstGeom>
          <a:noFill/>
          <a:ln w="12700">
            <a:solidFill>
              <a:srgbClr val="D8D5C9"/>
            </a:solidFill>
            <a:prstDash val="solid"/>
          </a:ln>
        </p:spPr>
      </p:sp>
      <p:sp>
        <p:nvSpPr>
          <p:cNvPr id="5" name="Text 3"/>
          <p:cNvSpPr txBox="1"/>
          <p:nvPr/>
        </p:nvSpPr>
        <p:spPr>
          <a:xfrm>
            <a:off x="548640" y="1234440"/>
            <a:ext cx="10607040" cy="731520"/>
          </a:xfrm>
          <a:prstGeom prst="rect">
            <a:avLst/>
          </a:prstGeom>
          <a:noFill/>
          <a:ln/>
        </p:spPr>
        <p:txBody>
          <a:bodyPr wrap="square" lIns="0" tIns="0" rIns="0" bIns="0" rtlCol="0" anchor="t"/>
          <a:lstStyle/>
          <a:p>
            <a:pPr algn="l" indent="0" marL="0">
              <a:buNone/>
            </a:pPr>
            <a:r>
              <a:rPr lang="en-US" sz="2200" b="1" dirty="0">
                <a:solidFill>
                  <a:srgbClr val="0A1628"/>
                </a:solidFill>
                <a:latin typeface="Outfit" pitchFamily="34" charset="0"/>
                <a:ea typeface="Outfit" pitchFamily="34" charset="-122"/>
                <a:cs typeface="Outfit" pitchFamily="34" charset="-120"/>
              </a:rPr>
              <a:t>Il modello scrive la continuazione più </a:t>
            </a:r>
            <a:pPr algn="l" indent="0" marL="0">
              <a:buNone/>
            </a:pPr>
            <a:r>
              <a:rPr lang="en-US" sz="2200" b="1" dirty="0">
                <a:solidFill>
                  <a:srgbClr val="2D5BFF"/>
                </a:solidFill>
                <a:latin typeface="Outfit" pitchFamily="34" charset="0"/>
                <a:ea typeface="Outfit" pitchFamily="34" charset="-122"/>
                <a:cs typeface="Outfit" pitchFamily="34" charset="-120"/>
              </a:rPr>
              <a:t>plausibile</a:t>
            </a:r>
            <a:pPr algn="l" indent="0" marL="0">
              <a:buNone/>
            </a:pPr>
            <a:r>
              <a:rPr lang="en-US" sz="2200" b="1" dirty="0">
                <a:solidFill>
                  <a:srgbClr val="0A1628"/>
                </a:solidFill>
                <a:latin typeface="Outfit" pitchFamily="34" charset="0"/>
                <a:ea typeface="Outfit" pitchFamily="34" charset="-122"/>
                <a:cs typeface="Outfit" pitchFamily="34" charset="-120"/>
              </a:rPr>
              <a:t>, non quella verificata.</a:t>
            </a:r>
            <a:endParaRPr lang="en-US" sz="2200" dirty="0"/>
          </a:p>
        </p:txBody>
      </p:sp>
      <p:sp>
        <p:nvSpPr>
          <p:cNvPr id="6" name="Text 4"/>
          <p:cNvSpPr txBox="1"/>
          <p:nvPr/>
        </p:nvSpPr>
        <p:spPr>
          <a:xfrm>
            <a:off x="548640" y="2148840"/>
            <a:ext cx="9144000" cy="320040"/>
          </a:xfrm>
          <a:prstGeom prst="rect">
            <a:avLst/>
          </a:prstGeom>
          <a:noFill/>
          <a:ln/>
        </p:spPr>
        <p:txBody>
          <a:bodyPr wrap="square" lIns="0" tIns="0" rIns="0" bIns="0" rtlCol="0" anchor="ctr"/>
          <a:lstStyle/>
          <a:p>
            <a:pPr algn="l" indent="0" marL="0">
              <a:buNone/>
            </a:pPr>
            <a:r>
              <a:rPr lang="en-US" sz="1050" b="1" spc="150" kern="0" dirty="0">
                <a:solidFill>
                  <a:srgbClr val="5A6B85"/>
                </a:solidFill>
                <a:latin typeface="Geist Mono" pitchFamily="34" charset="0"/>
                <a:ea typeface="Geist Mono" pitchFamily="34" charset="-122"/>
                <a:cs typeface="Geist Mono" pitchFamily="34" charset="-120"/>
              </a:rPr>
              <a:t>IL RISCHIO SALE QUANDO LA RICHIESTA RIGUARDA:</a:t>
            </a:r>
            <a:endParaRPr lang="en-US" sz="1050" dirty="0"/>
          </a:p>
        </p:txBody>
      </p:sp>
      <p:sp>
        <p:nvSpPr>
          <p:cNvPr id="7" name="Shape 5"/>
          <p:cNvSpPr/>
          <p:nvPr/>
        </p:nvSpPr>
        <p:spPr>
          <a:xfrm>
            <a:off x="1051560" y="3977640"/>
            <a:ext cx="10088575" cy="0"/>
          </a:xfrm>
          <a:prstGeom prst="line">
            <a:avLst/>
          </a:prstGeom>
          <a:noFill/>
          <a:ln w="15875">
            <a:solidFill>
              <a:srgbClr val="D8D5C9"/>
            </a:solidFill>
            <a:prstDash val="solid"/>
          </a:ln>
        </p:spPr>
      </p:sp>
      <p:sp>
        <p:nvSpPr>
          <p:cNvPr id="8" name="Shape 6"/>
          <p:cNvSpPr/>
          <p:nvPr/>
        </p:nvSpPr>
        <p:spPr>
          <a:xfrm>
            <a:off x="859536" y="3785616"/>
            <a:ext cx="384048" cy="384048"/>
          </a:xfrm>
          <a:prstGeom prst="ellipse">
            <a:avLst/>
          </a:prstGeom>
          <a:solidFill>
            <a:srgbClr val="F7F6F1"/>
          </a:solidFill>
          <a:ln w="22225">
            <a:solidFill>
              <a:srgbClr val="2D5BFF"/>
            </a:solidFill>
            <a:prstDash val="solid"/>
          </a:ln>
        </p:spPr>
      </p:sp>
      <p:sp>
        <p:nvSpPr>
          <p:cNvPr id="9" name="Shape 7"/>
          <p:cNvSpPr/>
          <p:nvPr/>
        </p:nvSpPr>
        <p:spPr>
          <a:xfrm>
            <a:off x="1005840" y="3931920"/>
            <a:ext cx="91440" cy="91440"/>
          </a:xfrm>
          <a:prstGeom prst="ellipse">
            <a:avLst/>
          </a:prstGeom>
          <a:solidFill>
            <a:srgbClr val="2D5BFF"/>
          </a:solidFill>
          <a:ln/>
        </p:spPr>
      </p:sp>
      <p:sp>
        <p:nvSpPr>
          <p:cNvPr id="10" name="Text 8"/>
          <p:cNvSpPr txBox="1"/>
          <p:nvPr/>
        </p:nvSpPr>
        <p:spPr>
          <a:xfrm>
            <a:off x="502920" y="3401568"/>
            <a:ext cx="1097280" cy="292608"/>
          </a:xfrm>
          <a:prstGeom prst="rect">
            <a:avLst/>
          </a:prstGeom>
          <a:noFill/>
          <a:ln/>
        </p:spPr>
        <p:txBody>
          <a:bodyPr wrap="square" lIns="0" tIns="0" rIns="0" bIns="0" rtlCol="0" anchor="ctr"/>
          <a:lstStyle/>
          <a:p>
            <a:pPr algn="ctr" indent="0" marL="0">
              <a:buNone/>
            </a:pPr>
            <a:r>
              <a:rPr lang="en-US" sz="1100" b="1" dirty="0">
                <a:solidFill>
                  <a:srgbClr val="2D5BFF"/>
                </a:solidFill>
                <a:latin typeface="Geist Mono" pitchFamily="34" charset="0"/>
                <a:ea typeface="Geist Mono" pitchFamily="34" charset="-122"/>
                <a:cs typeface="Geist Mono" pitchFamily="34" charset="-120"/>
              </a:rPr>
              <a:t>01</a:t>
            </a:r>
            <a:endParaRPr lang="en-US" sz="1100" dirty="0"/>
          </a:p>
        </p:txBody>
      </p:sp>
      <p:sp>
        <p:nvSpPr>
          <p:cNvPr id="11" name="Text 9"/>
          <p:cNvSpPr txBox="1"/>
          <p:nvPr/>
        </p:nvSpPr>
        <p:spPr>
          <a:xfrm>
            <a:off x="274320" y="4297680"/>
            <a:ext cx="1554480" cy="594360"/>
          </a:xfrm>
          <a:prstGeom prst="rect">
            <a:avLst/>
          </a:prstGeom>
          <a:noFill/>
          <a:ln/>
        </p:spPr>
        <p:txBody>
          <a:bodyPr wrap="square" lIns="0" tIns="0" rIns="0" bIns="0" rtlCol="0" anchor="t"/>
          <a:lstStyle/>
          <a:p>
            <a:pPr algn="ctr" indent="0" marL="0">
              <a:lnSpc>
                <a:spcPct val="105000"/>
              </a:lnSpc>
              <a:buNone/>
            </a:pPr>
            <a:r>
              <a:rPr lang="en-US" sz="1250" b="1" dirty="0">
                <a:solidFill>
                  <a:srgbClr val="0A1628"/>
                </a:solidFill>
                <a:latin typeface="Outfit" pitchFamily="34" charset="0"/>
                <a:ea typeface="Outfit" pitchFamily="34" charset="-122"/>
                <a:cs typeface="Outfit" pitchFamily="34" charset="-120"/>
              </a:rPr>
              <a:t>Fatti puntuali</a:t>
            </a:r>
            <a:endParaRPr lang="en-US" sz="1250" dirty="0"/>
          </a:p>
        </p:txBody>
      </p:sp>
      <p:sp>
        <p:nvSpPr>
          <p:cNvPr id="12" name="Text 10"/>
          <p:cNvSpPr txBox="1"/>
          <p:nvPr/>
        </p:nvSpPr>
        <p:spPr>
          <a:xfrm>
            <a:off x="182880" y="4910328"/>
            <a:ext cx="1737360" cy="822960"/>
          </a:xfrm>
          <a:prstGeom prst="rect">
            <a:avLst/>
          </a:prstGeom>
          <a:noFill/>
          <a:ln/>
        </p:spPr>
        <p:txBody>
          <a:bodyPr wrap="square" lIns="0" tIns="0" rIns="0" bIns="0" rtlCol="0" anchor="t"/>
          <a:lstStyle/>
          <a:p>
            <a:pPr algn="ctr" indent="0" marL="0">
              <a:lnSpc>
                <a:spcPct val="125000"/>
              </a:lnSpc>
              <a:buNone/>
            </a:pPr>
            <a:r>
              <a:rPr lang="en-US" sz="1000" dirty="0">
                <a:solidFill>
                  <a:srgbClr val="5A6B85"/>
                </a:solidFill>
                <a:latin typeface="Instrument Sans" pitchFamily="34" charset="0"/>
                <a:ea typeface="Instrument Sans" pitchFamily="34" charset="-122"/>
                <a:cs typeface="Instrument Sans" pitchFamily="34" charset="-120"/>
              </a:rPr>
              <a:t>nomi, date, cifre, articoli di legge</a:t>
            </a:r>
            <a:endParaRPr lang="en-US" sz="1000" dirty="0"/>
          </a:p>
        </p:txBody>
      </p:sp>
      <p:sp>
        <p:nvSpPr>
          <p:cNvPr id="13" name="Shape 11"/>
          <p:cNvSpPr/>
          <p:nvPr/>
        </p:nvSpPr>
        <p:spPr>
          <a:xfrm>
            <a:off x="3381680" y="3785616"/>
            <a:ext cx="384048" cy="384048"/>
          </a:xfrm>
          <a:prstGeom prst="ellipse">
            <a:avLst/>
          </a:prstGeom>
          <a:solidFill>
            <a:srgbClr val="F7F6F1"/>
          </a:solidFill>
          <a:ln w="22225">
            <a:solidFill>
              <a:srgbClr val="2D5BFF"/>
            </a:solidFill>
            <a:prstDash val="solid"/>
          </a:ln>
        </p:spPr>
      </p:sp>
      <p:sp>
        <p:nvSpPr>
          <p:cNvPr id="14" name="Shape 12"/>
          <p:cNvSpPr/>
          <p:nvPr/>
        </p:nvSpPr>
        <p:spPr>
          <a:xfrm>
            <a:off x="3527984" y="3931920"/>
            <a:ext cx="91440" cy="91440"/>
          </a:xfrm>
          <a:prstGeom prst="ellipse">
            <a:avLst/>
          </a:prstGeom>
          <a:solidFill>
            <a:srgbClr val="2D5BFF"/>
          </a:solidFill>
          <a:ln/>
        </p:spPr>
      </p:sp>
      <p:sp>
        <p:nvSpPr>
          <p:cNvPr id="15" name="Text 13"/>
          <p:cNvSpPr txBox="1"/>
          <p:nvPr/>
        </p:nvSpPr>
        <p:spPr>
          <a:xfrm>
            <a:off x="3025064" y="3401568"/>
            <a:ext cx="1097280" cy="292608"/>
          </a:xfrm>
          <a:prstGeom prst="rect">
            <a:avLst/>
          </a:prstGeom>
          <a:noFill/>
          <a:ln/>
        </p:spPr>
        <p:txBody>
          <a:bodyPr wrap="square" lIns="0" tIns="0" rIns="0" bIns="0" rtlCol="0" anchor="ctr"/>
          <a:lstStyle/>
          <a:p>
            <a:pPr algn="ctr" indent="0" marL="0">
              <a:buNone/>
            </a:pPr>
            <a:r>
              <a:rPr lang="en-US" sz="1100" b="1" dirty="0">
                <a:solidFill>
                  <a:srgbClr val="2D5BFF"/>
                </a:solidFill>
                <a:latin typeface="Geist Mono" pitchFamily="34" charset="0"/>
                <a:ea typeface="Geist Mono" pitchFamily="34" charset="-122"/>
                <a:cs typeface="Geist Mono" pitchFamily="34" charset="-120"/>
              </a:rPr>
              <a:t>02</a:t>
            </a:r>
            <a:endParaRPr lang="en-US" sz="1100" dirty="0"/>
          </a:p>
        </p:txBody>
      </p:sp>
      <p:sp>
        <p:nvSpPr>
          <p:cNvPr id="16" name="Text 14"/>
          <p:cNvSpPr txBox="1"/>
          <p:nvPr/>
        </p:nvSpPr>
        <p:spPr>
          <a:xfrm>
            <a:off x="2796464" y="4297680"/>
            <a:ext cx="1554480" cy="594360"/>
          </a:xfrm>
          <a:prstGeom prst="rect">
            <a:avLst/>
          </a:prstGeom>
          <a:noFill/>
          <a:ln/>
        </p:spPr>
        <p:txBody>
          <a:bodyPr wrap="square" lIns="0" tIns="0" rIns="0" bIns="0" rtlCol="0" anchor="t"/>
          <a:lstStyle/>
          <a:p>
            <a:pPr algn="ctr" indent="0" marL="0">
              <a:lnSpc>
                <a:spcPct val="105000"/>
              </a:lnSpc>
              <a:buNone/>
            </a:pPr>
            <a:r>
              <a:rPr lang="en-US" sz="1250" b="1" dirty="0">
                <a:solidFill>
                  <a:srgbClr val="0A1628"/>
                </a:solidFill>
                <a:latin typeface="Outfit" pitchFamily="34" charset="0"/>
                <a:ea typeface="Outfit" pitchFamily="34" charset="-122"/>
                <a:cs typeface="Outfit" pitchFamily="34" charset="-120"/>
              </a:rPr>
              <a:t>Argomenti</a:t>
            </a:r>
            <a:endParaRPr lang="en-US" sz="1250" dirty="0"/>
          </a:p>
          <a:p>
            <a:pPr algn="ctr" indent="0" marL="0">
              <a:lnSpc>
                <a:spcPct val="105000"/>
              </a:lnSpc>
              <a:buNone/>
            </a:pPr>
            <a:r>
              <a:rPr lang="en-US" sz="1250" b="1" dirty="0">
                <a:solidFill>
                  <a:srgbClr val="0A1628"/>
                </a:solidFill>
                <a:latin typeface="Outfit" pitchFamily="34" charset="0"/>
                <a:ea typeface="Outfit" pitchFamily="34" charset="-122"/>
                <a:cs typeface="Outfit" pitchFamily="34" charset="-120"/>
              </a:rPr>
              <a:t>di nicchia</a:t>
            </a:r>
            <a:endParaRPr lang="en-US" sz="1250" dirty="0"/>
          </a:p>
        </p:txBody>
      </p:sp>
      <p:sp>
        <p:nvSpPr>
          <p:cNvPr id="17" name="Text 15"/>
          <p:cNvSpPr txBox="1"/>
          <p:nvPr/>
        </p:nvSpPr>
        <p:spPr>
          <a:xfrm>
            <a:off x="2705024" y="4910328"/>
            <a:ext cx="1737360" cy="822960"/>
          </a:xfrm>
          <a:prstGeom prst="rect">
            <a:avLst/>
          </a:prstGeom>
          <a:noFill/>
          <a:ln/>
        </p:spPr>
        <p:txBody>
          <a:bodyPr wrap="square" lIns="0" tIns="0" rIns="0" bIns="0" rtlCol="0" anchor="t"/>
          <a:lstStyle/>
          <a:p>
            <a:pPr algn="ctr" indent="0" marL="0">
              <a:lnSpc>
                <a:spcPct val="125000"/>
              </a:lnSpc>
              <a:buNone/>
            </a:pPr>
            <a:r>
              <a:rPr lang="en-US" sz="1000" dirty="0">
                <a:solidFill>
                  <a:srgbClr val="5A6B85"/>
                </a:solidFill>
                <a:latin typeface="Instrument Sans" pitchFamily="34" charset="0"/>
                <a:ea typeface="Instrument Sans" pitchFamily="34" charset="-122"/>
                <a:cs typeface="Instrument Sans" pitchFamily="34" charset="-120"/>
              </a:rPr>
              <a:t>poco documentati o poco diffusi</a:t>
            </a:r>
            <a:endParaRPr lang="en-US" sz="1000" dirty="0"/>
          </a:p>
        </p:txBody>
      </p:sp>
      <p:sp>
        <p:nvSpPr>
          <p:cNvPr id="18" name="Shape 16"/>
          <p:cNvSpPr/>
          <p:nvPr/>
        </p:nvSpPr>
        <p:spPr>
          <a:xfrm>
            <a:off x="5903824" y="3785616"/>
            <a:ext cx="384048" cy="384048"/>
          </a:xfrm>
          <a:prstGeom prst="ellipse">
            <a:avLst/>
          </a:prstGeom>
          <a:solidFill>
            <a:srgbClr val="F7F6F1"/>
          </a:solidFill>
          <a:ln w="22225">
            <a:solidFill>
              <a:srgbClr val="2D5BFF"/>
            </a:solidFill>
            <a:prstDash val="solid"/>
          </a:ln>
        </p:spPr>
      </p:sp>
      <p:sp>
        <p:nvSpPr>
          <p:cNvPr id="19" name="Shape 17"/>
          <p:cNvSpPr/>
          <p:nvPr/>
        </p:nvSpPr>
        <p:spPr>
          <a:xfrm>
            <a:off x="6050128" y="3931920"/>
            <a:ext cx="91440" cy="91440"/>
          </a:xfrm>
          <a:prstGeom prst="ellipse">
            <a:avLst/>
          </a:prstGeom>
          <a:solidFill>
            <a:srgbClr val="2D5BFF"/>
          </a:solidFill>
          <a:ln/>
        </p:spPr>
      </p:sp>
      <p:sp>
        <p:nvSpPr>
          <p:cNvPr id="20" name="Text 18"/>
          <p:cNvSpPr txBox="1"/>
          <p:nvPr/>
        </p:nvSpPr>
        <p:spPr>
          <a:xfrm>
            <a:off x="5547208" y="3401568"/>
            <a:ext cx="1097280" cy="292608"/>
          </a:xfrm>
          <a:prstGeom prst="rect">
            <a:avLst/>
          </a:prstGeom>
          <a:noFill/>
          <a:ln/>
        </p:spPr>
        <p:txBody>
          <a:bodyPr wrap="square" lIns="0" tIns="0" rIns="0" bIns="0" rtlCol="0" anchor="ctr"/>
          <a:lstStyle/>
          <a:p>
            <a:pPr algn="ctr" indent="0" marL="0">
              <a:buNone/>
            </a:pPr>
            <a:r>
              <a:rPr lang="en-US" sz="1100" b="1" dirty="0">
                <a:solidFill>
                  <a:srgbClr val="2D5BFF"/>
                </a:solidFill>
                <a:latin typeface="Geist Mono" pitchFamily="34" charset="0"/>
                <a:ea typeface="Geist Mono" pitchFamily="34" charset="-122"/>
                <a:cs typeface="Geist Mono" pitchFamily="34" charset="-120"/>
              </a:rPr>
              <a:t>03</a:t>
            </a:r>
            <a:endParaRPr lang="en-US" sz="1100" dirty="0"/>
          </a:p>
        </p:txBody>
      </p:sp>
      <p:sp>
        <p:nvSpPr>
          <p:cNvPr id="21" name="Text 19"/>
          <p:cNvSpPr txBox="1"/>
          <p:nvPr/>
        </p:nvSpPr>
        <p:spPr>
          <a:xfrm>
            <a:off x="5318608" y="4297680"/>
            <a:ext cx="1554480" cy="594360"/>
          </a:xfrm>
          <a:prstGeom prst="rect">
            <a:avLst/>
          </a:prstGeom>
          <a:noFill/>
          <a:ln/>
        </p:spPr>
        <p:txBody>
          <a:bodyPr wrap="square" lIns="0" tIns="0" rIns="0" bIns="0" rtlCol="0" anchor="t"/>
          <a:lstStyle/>
          <a:p>
            <a:pPr algn="ctr" indent="0" marL="0">
              <a:lnSpc>
                <a:spcPct val="105000"/>
              </a:lnSpc>
              <a:buNone/>
            </a:pPr>
            <a:r>
              <a:rPr lang="en-US" sz="1250" b="1" dirty="0">
                <a:solidFill>
                  <a:srgbClr val="0A1628"/>
                </a:solidFill>
                <a:latin typeface="Outfit" pitchFamily="34" charset="0"/>
                <a:ea typeface="Outfit" pitchFamily="34" charset="-122"/>
                <a:cs typeface="Outfit" pitchFamily="34" charset="-120"/>
              </a:rPr>
              <a:t>Informazioni</a:t>
            </a:r>
            <a:endParaRPr lang="en-US" sz="1250" dirty="0"/>
          </a:p>
          <a:p>
            <a:pPr algn="ctr" indent="0" marL="0">
              <a:lnSpc>
                <a:spcPct val="105000"/>
              </a:lnSpc>
              <a:buNone/>
            </a:pPr>
            <a:r>
              <a:rPr lang="en-US" sz="1250" b="1" dirty="0">
                <a:solidFill>
                  <a:srgbClr val="0A1628"/>
                </a:solidFill>
                <a:latin typeface="Outfit" pitchFamily="34" charset="0"/>
                <a:ea typeface="Outfit" pitchFamily="34" charset="-122"/>
                <a:cs typeface="Outfit" pitchFamily="34" charset="-120"/>
              </a:rPr>
              <a:t>recenti</a:t>
            </a:r>
            <a:endParaRPr lang="en-US" sz="1250" dirty="0"/>
          </a:p>
        </p:txBody>
      </p:sp>
      <p:sp>
        <p:nvSpPr>
          <p:cNvPr id="22" name="Text 20"/>
          <p:cNvSpPr txBox="1"/>
          <p:nvPr/>
        </p:nvSpPr>
        <p:spPr>
          <a:xfrm>
            <a:off x="5227168" y="4910328"/>
            <a:ext cx="1737360" cy="822960"/>
          </a:xfrm>
          <a:prstGeom prst="rect">
            <a:avLst/>
          </a:prstGeom>
          <a:noFill/>
          <a:ln/>
        </p:spPr>
        <p:txBody>
          <a:bodyPr wrap="square" lIns="0" tIns="0" rIns="0" bIns="0" rtlCol="0" anchor="t"/>
          <a:lstStyle/>
          <a:p>
            <a:pPr algn="ctr" indent="0" marL="0">
              <a:lnSpc>
                <a:spcPct val="125000"/>
              </a:lnSpc>
              <a:buNone/>
            </a:pPr>
            <a:r>
              <a:rPr lang="en-US" sz="1000" dirty="0">
                <a:solidFill>
                  <a:srgbClr val="5A6B85"/>
                </a:solidFill>
                <a:latin typeface="Instrument Sans" pitchFamily="34" charset="0"/>
                <a:ea typeface="Instrument Sans" pitchFamily="34" charset="-122"/>
                <a:cs typeface="Instrument Sans" pitchFamily="34" charset="-120"/>
              </a:rPr>
              <a:t>successive all'aggiornamento del modello</a:t>
            </a:r>
            <a:endParaRPr lang="en-US" sz="1000" dirty="0"/>
          </a:p>
        </p:txBody>
      </p:sp>
      <p:sp>
        <p:nvSpPr>
          <p:cNvPr id="23" name="Shape 21"/>
          <p:cNvSpPr/>
          <p:nvPr/>
        </p:nvSpPr>
        <p:spPr>
          <a:xfrm>
            <a:off x="8425967" y="3785616"/>
            <a:ext cx="384048" cy="384048"/>
          </a:xfrm>
          <a:prstGeom prst="ellipse">
            <a:avLst/>
          </a:prstGeom>
          <a:solidFill>
            <a:srgbClr val="F7F6F1"/>
          </a:solidFill>
          <a:ln w="22225">
            <a:solidFill>
              <a:srgbClr val="2D5BFF"/>
            </a:solidFill>
            <a:prstDash val="solid"/>
          </a:ln>
        </p:spPr>
      </p:sp>
      <p:sp>
        <p:nvSpPr>
          <p:cNvPr id="24" name="Shape 22"/>
          <p:cNvSpPr/>
          <p:nvPr/>
        </p:nvSpPr>
        <p:spPr>
          <a:xfrm>
            <a:off x="8572271" y="3931920"/>
            <a:ext cx="91440" cy="91440"/>
          </a:xfrm>
          <a:prstGeom prst="ellipse">
            <a:avLst/>
          </a:prstGeom>
          <a:solidFill>
            <a:srgbClr val="2D5BFF"/>
          </a:solidFill>
          <a:ln/>
        </p:spPr>
      </p:sp>
      <p:sp>
        <p:nvSpPr>
          <p:cNvPr id="25" name="Text 23"/>
          <p:cNvSpPr txBox="1"/>
          <p:nvPr/>
        </p:nvSpPr>
        <p:spPr>
          <a:xfrm>
            <a:off x="8069351" y="3401568"/>
            <a:ext cx="1097280" cy="292608"/>
          </a:xfrm>
          <a:prstGeom prst="rect">
            <a:avLst/>
          </a:prstGeom>
          <a:noFill/>
          <a:ln/>
        </p:spPr>
        <p:txBody>
          <a:bodyPr wrap="square" lIns="0" tIns="0" rIns="0" bIns="0" rtlCol="0" anchor="ctr"/>
          <a:lstStyle/>
          <a:p>
            <a:pPr algn="ctr" indent="0" marL="0">
              <a:buNone/>
            </a:pPr>
            <a:r>
              <a:rPr lang="en-US" sz="1100" b="1" dirty="0">
                <a:solidFill>
                  <a:srgbClr val="2D5BFF"/>
                </a:solidFill>
                <a:latin typeface="Geist Mono" pitchFamily="34" charset="0"/>
                <a:ea typeface="Geist Mono" pitchFamily="34" charset="-122"/>
                <a:cs typeface="Geist Mono" pitchFamily="34" charset="-120"/>
              </a:rPr>
              <a:t>04</a:t>
            </a:r>
            <a:endParaRPr lang="en-US" sz="1100" dirty="0"/>
          </a:p>
        </p:txBody>
      </p:sp>
      <p:sp>
        <p:nvSpPr>
          <p:cNvPr id="26" name="Text 24"/>
          <p:cNvSpPr txBox="1"/>
          <p:nvPr/>
        </p:nvSpPr>
        <p:spPr>
          <a:xfrm>
            <a:off x="7840751" y="4297680"/>
            <a:ext cx="1554480" cy="594360"/>
          </a:xfrm>
          <a:prstGeom prst="rect">
            <a:avLst/>
          </a:prstGeom>
          <a:noFill/>
          <a:ln/>
        </p:spPr>
        <p:txBody>
          <a:bodyPr wrap="square" lIns="0" tIns="0" rIns="0" bIns="0" rtlCol="0" anchor="t"/>
          <a:lstStyle/>
          <a:p>
            <a:pPr algn="ctr" indent="0" marL="0">
              <a:lnSpc>
                <a:spcPct val="105000"/>
              </a:lnSpc>
              <a:buNone/>
            </a:pPr>
            <a:r>
              <a:rPr lang="en-US" sz="1250" b="1" dirty="0">
                <a:solidFill>
                  <a:srgbClr val="0A1628"/>
                </a:solidFill>
                <a:latin typeface="Outfit" pitchFamily="34" charset="0"/>
                <a:ea typeface="Outfit" pitchFamily="34" charset="-122"/>
                <a:cs typeface="Outfit" pitchFamily="34" charset="-120"/>
              </a:rPr>
              <a:t>Richieste</a:t>
            </a:r>
            <a:endParaRPr lang="en-US" sz="1250" dirty="0"/>
          </a:p>
          <a:p>
            <a:pPr algn="ctr" indent="0" marL="0">
              <a:lnSpc>
                <a:spcPct val="105000"/>
              </a:lnSpc>
              <a:buNone/>
            </a:pPr>
            <a:r>
              <a:rPr lang="en-US" sz="1250" b="1" dirty="0">
                <a:solidFill>
                  <a:srgbClr val="0A1628"/>
                </a:solidFill>
                <a:latin typeface="Outfit" pitchFamily="34" charset="0"/>
                <a:ea typeface="Outfit" pitchFamily="34" charset="-122"/>
                <a:cs typeface="Outfit" pitchFamily="34" charset="-120"/>
              </a:rPr>
              <a:t>vaghe</a:t>
            </a:r>
            <a:endParaRPr lang="en-US" sz="1250" dirty="0"/>
          </a:p>
        </p:txBody>
      </p:sp>
      <p:sp>
        <p:nvSpPr>
          <p:cNvPr id="27" name="Text 25"/>
          <p:cNvSpPr txBox="1"/>
          <p:nvPr/>
        </p:nvSpPr>
        <p:spPr>
          <a:xfrm>
            <a:off x="7749311" y="4910328"/>
            <a:ext cx="1737360" cy="822960"/>
          </a:xfrm>
          <a:prstGeom prst="rect">
            <a:avLst/>
          </a:prstGeom>
          <a:noFill/>
          <a:ln/>
        </p:spPr>
        <p:txBody>
          <a:bodyPr wrap="square" lIns="0" tIns="0" rIns="0" bIns="0" rtlCol="0" anchor="t"/>
          <a:lstStyle/>
          <a:p>
            <a:pPr algn="ctr" indent="0" marL="0">
              <a:lnSpc>
                <a:spcPct val="125000"/>
              </a:lnSpc>
              <a:buNone/>
            </a:pPr>
            <a:r>
              <a:rPr lang="en-US" sz="1000" dirty="0">
                <a:solidFill>
                  <a:srgbClr val="5A6B85"/>
                </a:solidFill>
                <a:latin typeface="Instrument Sans" pitchFamily="34" charset="0"/>
                <a:ea typeface="Instrument Sans" pitchFamily="34" charset="-122"/>
                <a:cs typeface="Instrument Sans" pitchFamily="34" charset="-120"/>
              </a:rPr>
              <a:t>il modello riempie da solo i vuoti</a:t>
            </a:r>
            <a:endParaRPr lang="en-US" sz="1000" dirty="0"/>
          </a:p>
        </p:txBody>
      </p:sp>
      <p:sp>
        <p:nvSpPr>
          <p:cNvPr id="28" name="Shape 26"/>
          <p:cNvSpPr/>
          <p:nvPr/>
        </p:nvSpPr>
        <p:spPr>
          <a:xfrm>
            <a:off x="10948111" y="3785616"/>
            <a:ext cx="384048" cy="384048"/>
          </a:xfrm>
          <a:prstGeom prst="ellipse">
            <a:avLst/>
          </a:prstGeom>
          <a:solidFill>
            <a:srgbClr val="F7F6F1"/>
          </a:solidFill>
          <a:ln w="22225">
            <a:solidFill>
              <a:srgbClr val="2D5BFF"/>
            </a:solidFill>
            <a:prstDash val="solid"/>
          </a:ln>
        </p:spPr>
      </p:sp>
      <p:sp>
        <p:nvSpPr>
          <p:cNvPr id="29" name="Shape 27"/>
          <p:cNvSpPr/>
          <p:nvPr/>
        </p:nvSpPr>
        <p:spPr>
          <a:xfrm>
            <a:off x="11094415" y="3931920"/>
            <a:ext cx="91440" cy="91440"/>
          </a:xfrm>
          <a:prstGeom prst="ellipse">
            <a:avLst/>
          </a:prstGeom>
          <a:solidFill>
            <a:srgbClr val="2D5BFF"/>
          </a:solidFill>
          <a:ln/>
        </p:spPr>
      </p:sp>
      <p:sp>
        <p:nvSpPr>
          <p:cNvPr id="30" name="Text 28"/>
          <p:cNvSpPr txBox="1"/>
          <p:nvPr/>
        </p:nvSpPr>
        <p:spPr>
          <a:xfrm>
            <a:off x="10591495" y="3401568"/>
            <a:ext cx="1097280" cy="292608"/>
          </a:xfrm>
          <a:prstGeom prst="rect">
            <a:avLst/>
          </a:prstGeom>
          <a:noFill/>
          <a:ln/>
        </p:spPr>
        <p:txBody>
          <a:bodyPr wrap="square" lIns="0" tIns="0" rIns="0" bIns="0" rtlCol="0" anchor="ctr"/>
          <a:lstStyle/>
          <a:p>
            <a:pPr algn="ctr" indent="0" marL="0">
              <a:buNone/>
            </a:pPr>
            <a:r>
              <a:rPr lang="en-US" sz="1100" b="1" dirty="0">
                <a:solidFill>
                  <a:srgbClr val="2D5BFF"/>
                </a:solidFill>
                <a:latin typeface="Geist Mono" pitchFamily="34" charset="0"/>
                <a:ea typeface="Geist Mono" pitchFamily="34" charset="-122"/>
                <a:cs typeface="Geist Mono" pitchFamily="34" charset="-120"/>
              </a:rPr>
              <a:t>05</a:t>
            </a:r>
            <a:endParaRPr lang="en-US" sz="1100" dirty="0"/>
          </a:p>
        </p:txBody>
      </p:sp>
      <p:sp>
        <p:nvSpPr>
          <p:cNvPr id="31" name="Text 29"/>
          <p:cNvSpPr txBox="1"/>
          <p:nvPr/>
        </p:nvSpPr>
        <p:spPr>
          <a:xfrm>
            <a:off x="10362895" y="4297680"/>
            <a:ext cx="1554480" cy="594360"/>
          </a:xfrm>
          <a:prstGeom prst="rect">
            <a:avLst/>
          </a:prstGeom>
          <a:noFill/>
          <a:ln/>
        </p:spPr>
        <p:txBody>
          <a:bodyPr wrap="square" lIns="0" tIns="0" rIns="0" bIns="0" rtlCol="0" anchor="t"/>
          <a:lstStyle/>
          <a:p>
            <a:pPr algn="ctr" indent="0" marL="0">
              <a:lnSpc>
                <a:spcPct val="105000"/>
              </a:lnSpc>
              <a:buNone/>
            </a:pPr>
            <a:r>
              <a:rPr lang="en-US" sz="1250" b="1" dirty="0">
                <a:solidFill>
                  <a:srgbClr val="0A1628"/>
                </a:solidFill>
                <a:latin typeface="Outfit" pitchFamily="34" charset="0"/>
                <a:ea typeface="Outfit" pitchFamily="34" charset="-122"/>
                <a:cs typeface="Outfit" pitchFamily="34" charset="-120"/>
              </a:rPr>
              <a:t>Risposte</a:t>
            </a:r>
            <a:endParaRPr lang="en-US" sz="1250" dirty="0"/>
          </a:p>
          <a:p>
            <a:pPr algn="ctr" indent="0" marL="0">
              <a:lnSpc>
                <a:spcPct val="105000"/>
              </a:lnSpc>
              <a:buNone/>
            </a:pPr>
            <a:r>
              <a:rPr lang="en-US" sz="1250" b="1" dirty="0">
                <a:solidFill>
                  <a:srgbClr val="0A1628"/>
                </a:solidFill>
                <a:latin typeface="Outfit" pitchFamily="34" charset="0"/>
                <a:ea typeface="Outfit" pitchFamily="34" charset="-122"/>
                <a:cs typeface="Outfit" pitchFamily="34" charset="-120"/>
              </a:rPr>
              <a:t>"gradite"</a:t>
            </a:r>
            <a:endParaRPr lang="en-US" sz="1250" dirty="0"/>
          </a:p>
        </p:txBody>
      </p:sp>
      <p:sp>
        <p:nvSpPr>
          <p:cNvPr id="32" name="Text 30"/>
          <p:cNvSpPr txBox="1"/>
          <p:nvPr/>
        </p:nvSpPr>
        <p:spPr>
          <a:xfrm>
            <a:off x="10271455" y="4910328"/>
            <a:ext cx="1737360" cy="822960"/>
          </a:xfrm>
          <a:prstGeom prst="rect">
            <a:avLst/>
          </a:prstGeom>
          <a:noFill/>
          <a:ln/>
        </p:spPr>
        <p:txBody>
          <a:bodyPr wrap="square" lIns="0" tIns="0" rIns="0" bIns="0" rtlCol="0" anchor="t"/>
          <a:lstStyle/>
          <a:p>
            <a:pPr algn="ctr" indent="0" marL="0">
              <a:lnSpc>
                <a:spcPct val="125000"/>
              </a:lnSpc>
              <a:buNone/>
            </a:pPr>
            <a:r>
              <a:rPr lang="en-US" sz="1000" dirty="0">
                <a:solidFill>
                  <a:srgbClr val="5A6B85"/>
                </a:solidFill>
                <a:latin typeface="Instrument Sans" pitchFamily="34" charset="0"/>
                <a:ea typeface="Instrument Sans" pitchFamily="34" charset="-122"/>
                <a:cs typeface="Instrument Sans" pitchFamily="34" charset="-120"/>
              </a:rPr>
              <a:t>la domanda contiene già l'aspettativa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algn="l" indent="0" marL="0">
              <a:buNone/>
            </a:pPr>
            <a:r>
              <a:rPr lang="en-US" sz="1100" b="1" spc="200" kern="0" dirty="0">
                <a:solidFill>
                  <a:srgbClr val="D8F34E"/>
                </a:solidFill>
                <a:latin typeface="Geist Mono" pitchFamily="34" charset="0"/>
                <a:ea typeface="Geist Mono" pitchFamily="34" charset="-122"/>
                <a:cs typeface="Geist Mono" pitchFamily="34" charset="-120"/>
              </a:rPr>
              <a:t>UN CASO REALE</a:t>
            </a:r>
            <a:endParaRPr lang="en-US" sz="1100" dirty="0"/>
          </a:p>
        </p:txBody>
      </p:sp>
      <p:sp>
        <p:nvSpPr>
          <p:cNvPr id="3" name="Text 1"/>
          <p:cNvSpPr txBox="1"/>
          <p:nvPr/>
        </p:nvSpPr>
        <p:spPr>
          <a:xfrm>
            <a:off x="8899855" y="384048"/>
            <a:ext cx="2743200" cy="320040"/>
          </a:xfrm>
          <a:prstGeom prst="rect">
            <a:avLst/>
          </a:prstGeom>
          <a:noFill/>
          <a:ln/>
        </p:spPr>
        <p:txBody>
          <a:bodyPr wrap="square" lIns="0" tIns="0" rIns="0" bIns="0" rtlCol="0" anchor="ctr"/>
          <a:lstStyle/>
          <a:p>
            <a:pPr algn="r" indent="0" marL="0">
              <a:buNone/>
            </a:pPr>
            <a:r>
              <a:rPr lang="en-US" sz="1100" spc="200" kern="0" dirty="0">
                <a:solidFill>
                  <a:srgbClr val="9FB0C8"/>
                </a:solidFill>
                <a:latin typeface="Geist Mono" pitchFamily="34" charset="0"/>
                <a:ea typeface="Geist Mono" pitchFamily="34" charset="-122"/>
                <a:cs typeface="Geist Mono" pitchFamily="34" charset="-120"/>
              </a:rPr>
              <a:t>06</a:t>
            </a:r>
            <a:endParaRPr lang="en-US" sz="1100" dirty="0"/>
          </a:p>
        </p:txBody>
      </p:sp>
      <p:sp>
        <p:nvSpPr>
          <p:cNvPr id="4" name="Shape 2"/>
          <p:cNvSpPr/>
          <p:nvPr/>
        </p:nvSpPr>
        <p:spPr>
          <a:xfrm>
            <a:off x="548640" y="749808"/>
            <a:ext cx="11094415" cy="0"/>
          </a:xfrm>
          <a:prstGeom prst="line">
            <a:avLst/>
          </a:prstGeom>
          <a:noFill/>
          <a:ln w="12700">
            <a:solidFill>
              <a:srgbClr val="27395C"/>
            </a:solidFill>
            <a:prstDash val="solid"/>
          </a:ln>
        </p:spPr>
      </p:sp>
      <p:sp>
        <p:nvSpPr>
          <p:cNvPr id="5" name="Text 3"/>
          <p:cNvSpPr txBox="1"/>
          <p:nvPr/>
        </p:nvSpPr>
        <p:spPr>
          <a:xfrm>
            <a:off x="548640" y="1188720"/>
            <a:ext cx="10058400" cy="685800"/>
          </a:xfrm>
          <a:prstGeom prst="rect">
            <a:avLst/>
          </a:prstGeom>
          <a:noFill/>
          <a:ln/>
        </p:spPr>
        <p:txBody>
          <a:bodyPr wrap="square" lIns="0" tIns="0" rIns="0" bIns="0" rtlCol="0" anchor="t"/>
          <a:lstStyle/>
          <a:p>
            <a:pPr algn="l" indent="0" marL="0">
              <a:buNone/>
            </a:pPr>
            <a:r>
              <a:rPr lang="en-US" sz="3400" b="1" dirty="0">
                <a:solidFill>
                  <a:srgbClr val="F7F6F1"/>
                </a:solidFill>
                <a:latin typeface="Big Shoulders" pitchFamily="34" charset="0"/>
                <a:ea typeface="Big Shoulders" pitchFamily="34" charset="-122"/>
                <a:cs typeface="Big Shoulders" pitchFamily="34" charset="-120"/>
              </a:rPr>
              <a:t>IL CHATBOT DI AIR CANADA</a:t>
            </a:r>
            <a:endParaRPr lang="en-US" sz="3400" dirty="0"/>
          </a:p>
        </p:txBody>
      </p:sp>
      <p:sp>
        <p:nvSpPr>
          <p:cNvPr id="6" name="Text 4"/>
          <p:cNvSpPr txBox="1"/>
          <p:nvPr/>
        </p:nvSpPr>
        <p:spPr>
          <a:xfrm>
            <a:off x="548640" y="2331720"/>
            <a:ext cx="1828800" cy="502920"/>
          </a:xfrm>
          <a:prstGeom prst="rect">
            <a:avLst/>
          </a:prstGeom>
          <a:noFill/>
          <a:ln/>
        </p:spPr>
        <p:txBody>
          <a:bodyPr wrap="square" lIns="0" tIns="0" rIns="0" bIns="0" rtlCol="0" anchor="t"/>
          <a:lstStyle/>
          <a:p>
            <a:pPr algn="l" indent="0" marL="0">
              <a:buNone/>
            </a:pPr>
            <a:r>
              <a:rPr lang="en-US" sz="1200" b="1" spc="100" kern="0" dirty="0">
                <a:solidFill>
                  <a:srgbClr val="2D5BFF"/>
                </a:solidFill>
                <a:latin typeface="Geist Mono" pitchFamily="34" charset="0"/>
                <a:ea typeface="Geist Mono" pitchFamily="34" charset="-122"/>
                <a:cs typeface="Geist Mono" pitchFamily="34" charset="-120"/>
              </a:rPr>
              <a:t>2022</a:t>
            </a:r>
            <a:endParaRPr lang="en-US" sz="1200" dirty="0"/>
          </a:p>
        </p:txBody>
      </p:sp>
      <p:sp>
        <p:nvSpPr>
          <p:cNvPr id="7" name="Text 5"/>
          <p:cNvSpPr txBox="1"/>
          <p:nvPr/>
        </p:nvSpPr>
        <p:spPr>
          <a:xfrm>
            <a:off x="2514600" y="2331720"/>
            <a:ext cx="8503920" cy="502920"/>
          </a:xfrm>
          <a:prstGeom prst="rect">
            <a:avLst/>
          </a:prstGeom>
          <a:noFill/>
          <a:ln/>
        </p:spPr>
        <p:txBody>
          <a:bodyPr wrap="square" lIns="0" tIns="0" rIns="0" bIns="0" rtlCol="0" anchor="t"/>
          <a:lstStyle/>
          <a:p>
            <a:pPr algn="l" indent="0" marL="0">
              <a:lnSpc>
                <a:spcPct val="120000"/>
              </a:lnSpc>
              <a:buNone/>
            </a:pPr>
            <a:r>
              <a:rPr lang="en-US" sz="1350" dirty="0">
                <a:solidFill>
                  <a:srgbClr val="C9D4E6"/>
                </a:solidFill>
                <a:latin typeface="Instrument Sans" pitchFamily="34" charset="0"/>
                <a:ea typeface="Instrument Sans" pitchFamily="34" charset="-122"/>
                <a:cs typeface="Instrument Sans" pitchFamily="34" charset="-120"/>
              </a:rPr>
              <a:t>Un cliente chiede al chatbot lo sconto per lutto: gli viene promesso che si può richiedere anche dopo il viaggio.</a:t>
            </a:r>
            <a:endParaRPr lang="en-US" sz="1350" dirty="0"/>
          </a:p>
        </p:txBody>
      </p:sp>
      <p:sp>
        <p:nvSpPr>
          <p:cNvPr id="8" name="Text 6"/>
          <p:cNvSpPr txBox="1"/>
          <p:nvPr/>
        </p:nvSpPr>
        <p:spPr>
          <a:xfrm>
            <a:off x="548640" y="2990088"/>
            <a:ext cx="1828800" cy="502920"/>
          </a:xfrm>
          <a:prstGeom prst="rect">
            <a:avLst/>
          </a:prstGeom>
          <a:noFill/>
          <a:ln/>
        </p:spPr>
        <p:txBody>
          <a:bodyPr wrap="square" lIns="0" tIns="0" rIns="0" bIns="0" rtlCol="0" anchor="t"/>
          <a:lstStyle/>
          <a:p>
            <a:pPr algn="l" indent="0" marL="0">
              <a:buNone/>
            </a:pPr>
            <a:r>
              <a:rPr lang="en-US" sz="1200" b="1" spc="100" kern="0" dirty="0">
                <a:solidFill>
                  <a:srgbClr val="2D5BFF"/>
                </a:solidFill>
                <a:latin typeface="Geist Mono" pitchFamily="34" charset="0"/>
                <a:ea typeface="Geist Mono" pitchFamily="34" charset="-122"/>
                <a:cs typeface="Geist Mono" pitchFamily="34" charset="-120"/>
              </a:rPr>
              <a:t>POLICY REALE</a:t>
            </a:r>
            <a:endParaRPr lang="en-US" sz="1200" dirty="0"/>
          </a:p>
        </p:txBody>
      </p:sp>
      <p:sp>
        <p:nvSpPr>
          <p:cNvPr id="9" name="Text 7"/>
          <p:cNvSpPr txBox="1"/>
          <p:nvPr/>
        </p:nvSpPr>
        <p:spPr>
          <a:xfrm>
            <a:off x="2514600" y="2990088"/>
            <a:ext cx="8503920" cy="502920"/>
          </a:xfrm>
          <a:prstGeom prst="rect">
            <a:avLst/>
          </a:prstGeom>
          <a:noFill/>
          <a:ln/>
        </p:spPr>
        <p:txBody>
          <a:bodyPr wrap="square" lIns="0" tIns="0" rIns="0" bIns="0" rtlCol="0" anchor="t"/>
          <a:lstStyle/>
          <a:p>
            <a:pPr algn="l" indent="0" marL="0">
              <a:lnSpc>
                <a:spcPct val="120000"/>
              </a:lnSpc>
              <a:buNone/>
            </a:pPr>
            <a:r>
              <a:rPr lang="en-US" sz="1350" dirty="0">
                <a:solidFill>
                  <a:srgbClr val="C9D4E6"/>
                </a:solidFill>
                <a:latin typeface="Instrument Sans" pitchFamily="34" charset="0"/>
                <a:ea typeface="Instrument Sans" pitchFamily="34" charset="-122"/>
                <a:cs typeface="Instrument Sans" pitchFamily="34" charset="-120"/>
              </a:rPr>
              <a:t>Air Canada dice il contrario: lo sconto va richiesto prima della partenza.</a:t>
            </a:r>
            <a:endParaRPr lang="en-US" sz="1350" dirty="0"/>
          </a:p>
        </p:txBody>
      </p:sp>
      <p:sp>
        <p:nvSpPr>
          <p:cNvPr id="10" name="Text 8"/>
          <p:cNvSpPr txBox="1"/>
          <p:nvPr/>
        </p:nvSpPr>
        <p:spPr>
          <a:xfrm>
            <a:off x="548640" y="3648456"/>
            <a:ext cx="1828800" cy="502920"/>
          </a:xfrm>
          <a:prstGeom prst="rect">
            <a:avLst/>
          </a:prstGeom>
          <a:noFill/>
          <a:ln/>
        </p:spPr>
        <p:txBody>
          <a:bodyPr wrap="square" lIns="0" tIns="0" rIns="0" bIns="0" rtlCol="0" anchor="t"/>
          <a:lstStyle/>
          <a:p>
            <a:pPr algn="l" indent="0" marL="0">
              <a:buNone/>
            </a:pPr>
            <a:r>
              <a:rPr lang="en-US" sz="1200" b="1" spc="100" kern="0" dirty="0">
                <a:solidFill>
                  <a:srgbClr val="2D5BFF"/>
                </a:solidFill>
                <a:latin typeface="Geist Mono" pitchFamily="34" charset="0"/>
                <a:ea typeface="Geist Mono" pitchFamily="34" charset="-122"/>
                <a:cs typeface="Geist Mono" pitchFamily="34" charset="-120"/>
              </a:rPr>
              <a:t>FEB. 2024</a:t>
            </a:r>
            <a:endParaRPr lang="en-US" sz="1200" dirty="0"/>
          </a:p>
        </p:txBody>
      </p:sp>
      <p:sp>
        <p:nvSpPr>
          <p:cNvPr id="11" name="Text 9"/>
          <p:cNvSpPr txBox="1"/>
          <p:nvPr/>
        </p:nvSpPr>
        <p:spPr>
          <a:xfrm>
            <a:off x="2514600" y="3648456"/>
            <a:ext cx="8503920" cy="502920"/>
          </a:xfrm>
          <a:prstGeom prst="rect">
            <a:avLst/>
          </a:prstGeom>
          <a:noFill/>
          <a:ln/>
        </p:spPr>
        <p:txBody>
          <a:bodyPr wrap="square" lIns="0" tIns="0" rIns="0" bIns="0" rtlCol="0" anchor="t"/>
          <a:lstStyle/>
          <a:p>
            <a:pPr algn="l" indent="0" marL="0">
              <a:lnSpc>
                <a:spcPct val="120000"/>
              </a:lnSpc>
              <a:buNone/>
            </a:pPr>
            <a:r>
              <a:rPr lang="en-US" sz="1350" dirty="0">
                <a:solidFill>
                  <a:srgbClr val="C9D4E6"/>
                </a:solidFill>
                <a:latin typeface="Instrument Sans" pitchFamily="34" charset="0"/>
                <a:ea typeface="Instrument Sans" pitchFamily="34" charset="-122"/>
                <a:cs typeface="Instrument Sans" pitchFamily="34" charset="-120"/>
              </a:rPr>
              <a:t>Il tribunale della British Columbia: l'azienda risponde comunque delle informazioni del proprio chatbot.</a:t>
            </a:r>
            <a:endParaRPr lang="en-US" sz="1350" dirty="0"/>
          </a:p>
        </p:txBody>
      </p:sp>
      <p:sp>
        <p:nvSpPr>
          <p:cNvPr id="12" name="Shape 10"/>
          <p:cNvSpPr/>
          <p:nvPr/>
        </p:nvSpPr>
        <p:spPr>
          <a:xfrm>
            <a:off x="548640" y="4443984"/>
            <a:ext cx="11094415" cy="0"/>
          </a:xfrm>
          <a:prstGeom prst="line">
            <a:avLst/>
          </a:prstGeom>
          <a:noFill/>
          <a:ln w="12700">
            <a:solidFill>
              <a:srgbClr val="27395C"/>
            </a:solidFill>
            <a:prstDash val="solid"/>
          </a:ln>
        </p:spPr>
      </p:sp>
      <p:sp>
        <p:nvSpPr>
          <p:cNvPr id="13" name="Text 11"/>
          <p:cNvSpPr txBox="1"/>
          <p:nvPr/>
        </p:nvSpPr>
        <p:spPr>
          <a:xfrm>
            <a:off x="548640" y="4672584"/>
            <a:ext cx="9601200" cy="640080"/>
          </a:xfrm>
          <a:prstGeom prst="rect">
            <a:avLst/>
          </a:prstGeom>
          <a:noFill/>
          <a:ln/>
        </p:spPr>
        <p:txBody>
          <a:bodyPr wrap="square" lIns="0" tIns="0" rIns="0" bIns="0" rtlCol="0" anchor="t"/>
          <a:lstStyle/>
          <a:p>
            <a:pPr algn="l" indent="0" marL="0">
              <a:buNone/>
            </a:pPr>
            <a:r>
              <a:rPr lang="en-US" sz="1800" b="1" dirty="0">
                <a:solidFill>
                  <a:srgbClr val="D8F34E"/>
                </a:solidFill>
                <a:latin typeface="Outfit" pitchFamily="34" charset="0"/>
                <a:ea typeface="Outfit" pitchFamily="34" charset="-122"/>
                <a:cs typeface="Outfit" pitchFamily="34" charset="-120"/>
              </a:rPr>
              <a:t>L'azienda risponde del contenuto che un suo strumento AI produce.</a:t>
            </a:r>
            <a:endParaRPr lang="en-US" sz="1800" dirty="0"/>
          </a:p>
        </p:txBody>
      </p:sp>
      <p:sp>
        <p:nvSpPr>
          <p:cNvPr id="14" name="Text 12"/>
          <p:cNvSpPr txBox="1"/>
          <p:nvPr/>
        </p:nvSpPr>
        <p:spPr>
          <a:xfrm>
            <a:off x="548640" y="6355080"/>
            <a:ext cx="11094415" cy="274320"/>
          </a:xfrm>
          <a:prstGeom prst="rect">
            <a:avLst/>
          </a:prstGeom>
          <a:noFill/>
          <a:ln/>
        </p:spPr>
        <p:txBody>
          <a:bodyPr wrap="square" lIns="0" tIns="0" rIns="0" bIns="0" rtlCol="0" anchor="ctr"/>
          <a:lstStyle/>
          <a:p>
            <a:pPr algn="l" indent="0" marL="0">
              <a:buNone/>
            </a:pPr>
            <a:r>
              <a:rPr lang="en-US" sz="850" spc="100" kern="0" dirty="0">
                <a:solidFill>
                  <a:srgbClr val="5C7099"/>
                </a:solidFill>
                <a:latin typeface="Geist Mono" pitchFamily="34" charset="0"/>
                <a:ea typeface="Geist Mono" pitchFamily="34" charset="-122"/>
                <a:cs typeface="Geist Mono" pitchFamily="34" charset="-120"/>
              </a:rPr>
              <a:t>FONTE — CIVIL RESOLUTION TRIBUNAL, BRITISH COLUMBIA (CANADA), FEBBRAIO 2024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algn="l" indent="0" marL="0">
              <a:buNone/>
            </a:pPr>
            <a:r>
              <a:rPr lang="en-US" sz="1100" b="1" spc="200" kern="0" dirty="0">
                <a:solidFill>
                  <a:srgbClr val="2D5BFF"/>
                </a:solidFill>
                <a:latin typeface="Geist Mono" pitchFamily="34" charset="0"/>
                <a:ea typeface="Geist Mono" pitchFamily="34" charset="-122"/>
                <a:cs typeface="Geist Mono" pitchFamily="34" charset="-120"/>
              </a:rPr>
              <a:t>LA REGOLA PRATICA</a:t>
            </a:r>
            <a:endParaRPr lang="en-US" sz="1100" dirty="0"/>
          </a:p>
        </p:txBody>
      </p:sp>
      <p:sp>
        <p:nvSpPr>
          <p:cNvPr id="3" name="Text 1"/>
          <p:cNvSpPr txBox="1"/>
          <p:nvPr/>
        </p:nvSpPr>
        <p:spPr>
          <a:xfrm>
            <a:off x="8899855" y="384048"/>
            <a:ext cx="2743200" cy="320040"/>
          </a:xfrm>
          <a:prstGeom prst="rect">
            <a:avLst/>
          </a:prstGeom>
          <a:noFill/>
          <a:ln/>
        </p:spPr>
        <p:txBody>
          <a:bodyPr wrap="square" lIns="0" tIns="0" rIns="0" bIns="0" rtlCol="0" anchor="ctr"/>
          <a:lstStyle/>
          <a:p>
            <a:pPr algn="r" indent="0" marL="0">
              <a:buNone/>
            </a:pPr>
            <a:r>
              <a:rPr lang="en-US" sz="1100" spc="200" kern="0" dirty="0">
                <a:solidFill>
                  <a:srgbClr val="5A6B85"/>
                </a:solidFill>
                <a:latin typeface="Geist Mono" pitchFamily="34" charset="0"/>
                <a:ea typeface="Geist Mono" pitchFamily="34" charset="-122"/>
                <a:cs typeface="Geist Mono" pitchFamily="34" charset="-120"/>
              </a:rPr>
              <a:t>07</a:t>
            </a:r>
            <a:endParaRPr lang="en-US" sz="1100" dirty="0"/>
          </a:p>
        </p:txBody>
      </p:sp>
      <p:sp>
        <p:nvSpPr>
          <p:cNvPr id="4" name="Shape 2"/>
          <p:cNvSpPr/>
          <p:nvPr/>
        </p:nvSpPr>
        <p:spPr>
          <a:xfrm>
            <a:off x="548640" y="749808"/>
            <a:ext cx="11094415" cy="0"/>
          </a:xfrm>
          <a:prstGeom prst="line">
            <a:avLst/>
          </a:prstGeom>
          <a:noFill/>
          <a:ln w="12700">
            <a:solidFill>
              <a:srgbClr val="D8D5C9"/>
            </a:solidFill>
            <a:prstDash val="solid"/>
          </a:ln>
        </p:spPr>
      </p:sp>
      <p:sp>
        <p:nvSpPr>
          <p:cNvPr id="5" name="Shape 3"/>
          <p:cNvSpPr/>
          <p:nvPr/>
        </p:nvSpPr>
        <p:spPr>
          <a:xfrm>
            <a:off x="6095848" y="1463040"/>
            <a:ext cx="0" cy="3200400"/>
          </a:xfrm>
          <a:prstGeom prst="line">
            <a:avLst/>
          </a:prstGeom>
          <a:noFill/>
          <a:ln w="12700">
            <a:solidFill>
              <a:srgbClr val="D8D5C9"/>
            </a:solidFill>
            <a:prstDash val="solid"/>
          </a:ln>
        </p:spPr>
      </p:sp>
      <p:sp>
        <p:nvSpPr>
          <p:cNvPr id="6" name="Text 4"/>
          <p:cNvSpPr txBox="1"/>
          <p:nvPr/>
        </p:nvSpPr>
        <p:spPr>
          <a:xfrm>
            <a:off x="548640" y="1463040"/>
            <a:ext cx="5272888" cy="365760"/>
          </a:xfrm>
          <a:prstGeom prst="rect">
            <a:avLst/>
          </a:prstGeom>
          <a:noFill/>
          <a:ln/>
        </p:spPr>
        <p:txBody>
          <a:bodyPr wrap="square" lIns="0" tIns="0" rIns="0" bIns="0" rtlCol="0" anchor="ctr"/>
          <a:lstStyle/>
          <a:p>
            <a:pPr algn="l" indent="0" marL="0">
              <a:buNone/>
            </a:pPr>
            <a:r>
              <a:rPr lang="en-US" sz="1100" b="1" spc="150" kern="0" dirty="0">
                <a:solidFill>
                  <a:srgbClr val="5A6B85"/>
                </a:solidFill>
                <a:latin typeface="Geist Mono" pitchFamily="34" charset="0"/>
                <a:ea typeface="Geist Mono" pitchFamily="34" charset="-122"/>
                <a:cs typeface="Geist Mono" pitchFamily="34" charset="-120"/>
              </a:rPr>
              <a:t>USO INTERNO · BASSA POSTA</a:t>
            </a:r>
            <a:endParaRPr lang="en-US" sz="1100" dirty="0"/>
          </a:p>
        </p:txBody>
      </p:sp>
      <p:sp>
        <p:nvSpPr>
          <p:cNvPr id="7" name="Text 5"/>
          <p:cNvSpPr txBox="1"/>
          <p:nvPr/>
        </p:nvSpPr>
        <p:spPr>
          <a:xfrm>
            <a:off x="548640" y="1920240"/>
            <a:ext cx="5272888" cy="640080"/>
          </a:xfrm>
          <a:prstGeom prst="rect">
            <a:avLst/>
          </a:prstGeom>
          <a:noFill/>
          <a:ln/>
        </p:spPr>
        <p:txBody>
          <a:bodyPr wrap="square" lIns="0" tIns="0" rIns="0" bIns="0" rtlCol="0" anchor="t"/>
          <a:lstStyle/>
          <a:p>
            <a:pPr algn="l" indent="0" marL="0">
              <a:buNone/>
            </a:pPr>
            <a:r>
              <a:rPr lang="en-US" sz="2400" b="1" dirty="0">
                <a:solidFill>
                  <a:srgbClr val="0A1628"/>
                </a:solidFill>
                <a:latin typeface="Outfit" pitchFamily="34" charset="0"/>
                <a:ea typeface="Outfit" pitchFamily="34" charset="-122"/>
                <a:cs typeface="Outfit" pitchFamily="34" charset="-120"/>
              </a:rPr>
              <a:t>Lettura critica</a:t>
            </a:r>
            <a:endParaRPr lang="en-US" sz="2400" dirty="0"/>
          </a:p>
        </p:txBody>
      </p:sp>
      <p:sp>
        <p:nvSpPr>
          <p:cNvPr id="8" name="Text 6"/>
          <p:cNvSpPr txBox="1"/>
          <p:nvPr/>
        </p:nvSpPr>
        <p:spPr>
          <a:xfrm>
            <a:off x="548640" y="2697480"/>
            <a:ext cx="5272888" cy="1645920"/>
          </a:xfrm>
          <a:prstGeom prst="rect">
            <a:avLst/>
          </a:prstGeom>
          <a:noFill/>
          <a:ln/>
        </p:spPr>
        <p:txBody>
          <a:bodyPr wrap="square" lIns="0" tIns="0" rIns="0" bIns="0" rtlCol="0" anchor="t"/>
          <a:lstStyle/>
          <a:p>
            <a:pPr algn="l" indent="0" marL="0">
              <a:lnSpc>
                <a:spcPct val="135000"/>
              </a:lnSpc>
              <a:buNone/>
            </a:pPr>
            <a:r>
              <a:rPr lang="en-US" sz="1300" dirty="0">
                <a:solidFill>
                  <a:srgbClr val="5A6B85"/>
                </a:solidFill>
                <a:latin typeface="Instrument Sans" pitchFamily="34" charset="0"/>
                <a:ea typeface="Instrument Sans" pitchFamily="34" charset="-122"/>
                <a:cs typeface="Instrument Sans" pitchFamily="34" charset="-120"/>
              </a:rPr>
              <a:t>Una bozza da rivedere, un'idea da scartare o tenere, un riassunto per orientarsi: il costo di un errore residuo è basso.</a:t>
            </a:r>
            <a:endParaRPr lang="en-US" sz="1300" dirty="0"/>
          </a:p>
        </p:txBody>
      </p:sp>
      <p:sp>
        <p:nvSpPr>
          <p:cNvPr id="9" name="Text 7"/>
          <p:cNvSpPr txBox="1"/>
          <p:nvPr/>
        </p:nvSpPr>
        <p:spPr>
          <a:xfrm>
            <a:off x="6370168" y="1463040"/>
            <a:ext cx="5272888" cy="365760"/>
          </a:xfrm>
          <a:prstGeom prst="rect">
            <a:avLst/>
          </a:prstGeom>
          <a:noFill/>
          <a:ln/>
        </p:spPr>
        <p:txBody>
          <a:bodyPr wrap="square" lIns="0" tIns="0" rIns="0" bIns="0" rtlCol="0" anchor="ctr"/>
          <a:lstStyle/>
          <a:p>
            <a:pPr algn="l" indent="0" marL="0">
              <a:buNone/>
            </a:pPr>
            <a:r>
              <a:rPr lang="en-US" sz="1100" b="1" spc="150" kern="0" dirty="0">
                <a:solidFill>
                  <a:srgbClr val="2D5BFF"/>
                </a:solidFill>
                <a:latin typeface="Geist Mono" pitchFamily="34" charset="0"/>
                <a:ea typeface="Geist Mono" pitchFamily="34" charset="-122"/>
                <a:cs typeface="Geist Mono" pitchFamily="34" charset="-120"/>
              </a:rPr>
              <a:t>ESCE DALL'AZIENDA · CONTA</a:t>
            </a:r>
            <a:endParaRPr lang="en-US" sz="1100" dirty="0"/>
          </a:p>
        </p:txBody>
      </p:sp>
      <p:sp>
        <p:nvSpPr>
          <p:cNvPr id="10" name="Text 8"/>
          <p:cNvSpPr txBox="1"/>
          <p:nvPr/>
        </p:nvSpPr>
        <p:spPr>
          <a:xfrm>
            <a:off x="6370168" y="1920240"/>
            <a:ext cx="5272888" cy="640080"/>
          </a:xfrm>
          <a:prstGeom prst="rect">
            <a:avLst/>
          </a:prstGeom>
          <a:noFill/>
          <a:ln/>
        </p:spPr>
        <p:txBody>
          <a:bodyPr wrap="square" lIns="0" tIns="0" rIns="0" bIns="0" rtlCol="0" anchor="t"/>
          <a:lstStyle/>
          <a:p>
            <a:pPr algn="l" indent="0" marL="0">
              <a:buNone/>
            </a:pPr>
            <a:r>
              <a:rPr lang="en-US" sz="2400" b="1" dirty="0">
                <a:solidFill>
                  <a:srgbClr val="2D5BFF"/>
                </a:solidFill>
                <a:latin typeface="Outfit" pitchFamily="34" charset="0"/>
                <a:ea typeface="Outfit" pitchFamily="34" charset="-122"/>
                <a:cs typeface="Outfit" pitchFamily="34" charset="-120"/>
              </a:rPr>
              <a:t>Sempre fonte primaria</a:t>
            </a:r>
            <a:endParaRPr lang="en-US" sz="2400" dirty="0"/>
          </a:p>
        </p:txBody>
      </p:sp>
      <p:sp>
        <p:nvSpPr>
          <p:cNvPr id="11" name="Text 9"/>
          <p:cNvSpPr txBox="1"/>
          <p:nvPr/>
        </p:nvSpPr>
        <p:spPr>
          <a:xfrm>
            <a:off x="6370168" y="2697480"/>
            <a:ext cx="5272888" cy="1645920"/>
          </a:xfrm>
          <a:prstGeom prst="rect">
            <a:avLst/>
          </a:prstGeom>
          <a:noFill/>
          <a:ln/>
        </p:spPr>
        <p:txBody>
          <a:bodyPr wrap="square" lIns="0" tIns="0" rIns="0" bIns="0" rtlCol="0" anchor="t"/>
          <a:lstStyle/>
          <a:p>
            <a:pPr algn="l" indent="0" marL="0">
              <a:lnSpc>
                <a:spcPct val="135000"/>
              </a:lnSpc>
              <a:buNone/>
            </a:pPr>
            <a:r>
              <a:rPr lang="en-US" sz="1300" dirty="0">
                <a:solidFill>
                  <a:srgbClr val="5A6B85"/>
                </a:solidFill>
                <a:latin typeface="Instrument Sans" pitchFamily="34" charset="0"/>
                <a:ea typeface="Instrument Sans" pitchFamily="34" charset="-122"/>
                <a:cs typeface="Instrument Sans" pitchFamily="34" charset="-120"/>
              </a:rPr>
              <a:t>Un'email a un cliente, un dato in un'offerta, un riferimento normativo, una cifra in un contratto: si verifica sempre prima di usarla.</a:t>
            </a:r>
            <a:endParaRPr lang="en-US" sz="1300" dirty="0"/>
          </a:p>
        </p:txBody>
      </p:sp>
      <p:sp>
        <p:nvSpPr>
          <p:cNvPr id="12" name="Shape 10"/>
          <p:cNvSpPr/>
          <p:nvPr/>
        </p:nvSpPr>
        <p:spPr>
          <a:xfrm>
            <a:off x="548640" y="5074920"/>
            <a:ext cx="11094415" cy="868680"/>
          </a:xfrm>
          <a:prstGeom prst="rect">
            <a:avLst/>
          </a:prstGeom>
          <a:solidFill>
            <a:srgbClr val="0A1628"/>
          </a:solidFill>
          <a:ln/>
        </p:spPr>
      </p:sp>
      <p:sp>
        <p:nvSpPr>
          <p:cNvPr id="13" name="Text 11"/>
          <p:cNvSpPr txBox="1"/>
          <p:nvPr/>
        </p:nvSpPr>
        <p:spPr>
          <a:xfrm>
            <a:off x="868680" y="5074920"/>
            <a:ext cx="10454335" cy="868680"/>
          </a:xfrm>
          <a:prstGeom prst="rect">
            <a:avLst/>
          </a:prstGeom>
          <a:noFill/>
          <a:ln/>
        </p:spPr>
        <p:txBody>
          <a:bodyPr wrap="square" lIns="0" tIns="0" rIns="0" bIns="0" rtlCol="0" anchor="ctr"/>
          <a:lstStyle/>
          <a:p>
            <a:pPr algn="l" indent="0" marL="0">
              <a:lnSpc>
                <a:spcPct val="130000"/>
              </a:lnSpc>
              <a:buNone/>
            </a:pPr>
            <a:r>
              <a:rPr lang="en-US" sz="1350" b="1" dirty="0">
                <a:solidFill>
                  <a:srgbClr val="F7F6F1"/>
                </a:solidFill>
                <a:latin typeface="Instrument Sans" pitchFamily="34" charset="0"/>
                <a:ea typeface="Instrument Sans" pitchFamily="34" charset="-122"/>
                <a:cs typeface="Instrument Sans" pitchFamily="34" charset="-120"/>
              </a:rPr>
              <a:t>Chiedere di nuovo all'AI non è una verifica: </a:t>
            </a:r>
            <a:pPr algn="l" indent="0" marL="0">
              <a:lnSpc>
                <a:spcPct val="130000"/>
              </a:lnSpc>
              <a:buNone/>
            </a:pPr>
            <a:r>
              <a:rPr lang="en-US" sz="1350" dirty="0">
                <a:solidFill>
                  <a:srgbClr val="C9D4E6"/>
                </a:solidFill>
                <a:latin typeface="Instrument Sans" pitchFamily="34" charset="0"/>
                <a:ea typeface="Instrument Sans" pitchFamily="34" charset="-122"/>
                <a:cs typeface="Instrument Sans" pitchFamily="34" charset="-120"/>
              </a:rPr>
              <a:t>può confermare un errore con la stessa disinvoltura con cui l'ha inventato.</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algn="l" indent="0" marL="0">
              <a:buNone/>
            </a:pPr>
            <a:r>
              <a:rPr lang="en-US" sz="1100" b="1" spc="200" kern="0" dirty="0">
                <a:solidFill>
                  <a:srgbClr val="D8F34E"/>
                </a:solidFill>
                <a:latin typeface="Geist Mono" pitchFamily="34" charset="0"/>
                <a:ea typeface="Geist Mono" pitchFamily="34" charset="-122"/>
                <a:cs typeface="Geist Mono" pitchFamily="34" charset="-120"/>
              </a:rPr>
              <a:t>DA PORTARE A CASA</a:t>
            </a:r>
            <a:endParaRPr lang="en-US" sz="1100" dirty="0"/>
          </a:p>
        </p:txBody>
      </p:sp>
      <p:sp>
        <p:nvSpPr>
          <p:cNvPr id="3" name="Text 1"/>
          <p:cNvSpPr txBox="1"/>
          <p:nvPr/>
        </p:nvSpPr>
        <p:spPr>
          <a:xfrm>
            <a:off x="8899855" y="384048"/>
            <a:ext cx="2743200" cy="320040"/>
          </a:xfrm>
          <a:prstGeom prst="rect">
            <a:avLst/>
          </a:prstGeom>
          <a:noFill/>
          <a:ln/>
        </p:spPr>
        <p:txBody>
          <a:bodyPr wrap="square" lIns="0" tIns="0" rIns="0" bIns="0" rtlCol="0" anchor="ctr"/>
          <a:lstStyle/>
          <a:p>
            <a:pPr algn="r" indent="0" marL="0">
              <a:buNone/>
            </a:pPr>
            <a:r>
              <a:rPr lang="en-US" sz="1100" spc="200" kern="0" dirty="0">
                <a:solidFill>
                  <a:srgbClr val="9FB0C8"/>
                </a:solidFill>
                <a:latin typeface="Geist Mono" pitchFamily="34" charset="0"/>
                <a:ea typeface="Geist Mono" pitchFamily="34" charset="-122"/>
                <a:cs typeface="Geist Mono" pitchFamily="34" charset="-120"/>
              </a:rPr>
              <a:t>08</a:t>
            </a:r>
            <a:endParaRPr lang="en-US" sz="1100" dirty="0"/>
          </a:p>
        </p:txBody>
      </p:sp>
      <p:sp>
        <p:nvSpPr>
          <p:cNvPr id="4" name="Shape 2"/>
          <p:cNvSpPr/>
          <p:nvPr/>
        </p:nvSpPr>
        <p:spPr>
          <a:xfrm>
            <a:off x="548640" y="749808"/>
            <a:ext cx="11094415" cy="0"/>
          </a:xfrm>
          <a:prstGeom prst="line">
            <a:avLst/>
          </a:prstGeom>
          <a:noFill/>
          <a:ln w="12700">
            <a:solidFill>
              <a:srgbClr val="27395C"/>
            </a:solidFill>
            <a:prstDash val="solid"/>
          </a:ln>
        </p:spPr>
      </p:sp>
      <p:sp>
        <p:nvSpPr>
          <p:cNvPr id="5" name="Text 3"/>
          <p:cNvSpPr txBox="1"/>
          <p:nvPr/>
        </p:nvSpPr>
        <p:spPr>
          <a:xfrm>
            <a:off x="548640" y="1417320"/>
            <a:ext cx="822960" cy="1051560"/>
          </a:xfrm>
          <a:prstGeom prst="rect">
            <a:avLst/>
          </a:prstGeom>
          <a:noFill/>
          <a:ln/>
        </p:spPr>
        <p:txBody>
          <a:bodyPr wrap="square" lIns="0" tIns="0" rIns="0" bIns="0" rtlCol="0" anchor="t"/>
          <a:lstStyle/>
          <a:p>
            <a:pPr algn="l" indent="0" marL="0">
              <a:buNone/>
            </a:pPr>
            <a:r>
              <a:rPr lang="en-US" sz="3400" b="1" dirty="0">
                <a:solidFill>
                  <a:srgbClr val="2D5BFF"/>
                </a:solidFill>
                <a:latin typeface="Big Shoulders" pitchFamily="34" charset="0"/>
                <a:ea typeface="Big Shoulders" pitchFamily="34" charset="-122"/>
                <a:cs typeface="Big Shoulders" pitchFamily="34" charset="-120"/>
              </a:rPr>
              <a:t>01</a:t>
            </a:r>
            <a:endParaRPr lang="en-US" sz="3400" dirty="0"/>
          </a:p>
        </p:txBody>
      </p:sp>
      <p:sp>
        <p:nvSpPr>
          <p:cNvPr id="6" name="Text 4"/>
          <p:cNvSpPr txBox="1"/>
          <p:nvPr/>
        </p:nvSpPr>
        <p:spPr>
          <a:xfrm>
            <a:off x="1463040" y="1417320"/>
            <a:ext cx="9601200" cy="457200"/>
          </a:xfrm>
          <a:prstGeom prst="rect">
            <a:avLst/>
          </a:prstGeom>
          <a:noFill/>
          <a:ln/>
        </p:spPr>
        <p:txBody>
          <a:bodyPr wrap="square" lIns="0" tIns="0" rIns="0" bIns="0" rtlCol="0" anchor="t"/>
          <a:lstStyle/>
          <a:p>
            <a:pPr algn="l" indent="0" marL="0">
              <a:buNone/>
            </a:pPr>
            <a:r>
              <a:rPr lang="en-US" sz="1800" b="1" dirty="0">
                <a:solidFill>
                  <a:srgbClr val="F7F6F1"/>
                </a:solidFill>
                <a:latin typeface="Outfit" pitchFamily="34" charset="0"/>
                <a:ea typeface="Outfit" pitchFamily="34" charset="-122"/>
                <a:cs typeface="Outfit" pitchFamily="34" charset="-120"/>
              </a:rPr>
              <a:t>Non è segnalata</a:t>
            </a:r>
            <a:endParaRPr lang="en-US" sz="1800" dirty="0"/>
          </a:p>
        </p:txBody>
      </p:sp>
      <p:sp>
        <p:nvSpPr>
          <p:cNvPr id="7" name="Text 5"/>
          <p:cNvSpPr txBox="1"/>
          <p:nvPr/>
        </p:nvSpPr>
        <p:spPr>
          <a:xfrm>
            <a:off x="1463040" y="1856232"/>
            <a:ext cx="9601200" cy="548640"/>
          </a:xfrm>
          <a:prstGeom prst="rect">
            <a:avLst/>
          </a:prstGeom>
          <a:noFill/>
          <a:ln/>
        </p:spPr>
        <p:txBody>
          <a:bodyPr wrap="square" lIns="0" tIns="0" rIns="0" bIns="0" rtlCol="0" anchor="t"/>
          <a:lstStyle/>
          <a:p>
            <a:pPr algn="l" indent="0" marL="0">
              <a:lnSpc>
                <a:spcPct val="130000"/>
              </a:lnSpc>
              <a:buNone/>
            </a:pPr>
            <a:r>
              <a:rPr lang="en-US" sz="1300" dirty="0">
                <a:solidFill>
                  <a:srgbClr val="C9D4E6"/>
                </a:solidFill>
                <a:latin typeface="Instrument Sans" pitchFamily="34" charset="0"/>
                <a:ea typeface="Instrument Sans" pitchFamily="34" charset="-122"/>
                <a:cs typeface="Instrument Sans" pitchFamily="34" charset="-120"/>
              </a:rPr>
              <a:t>Il tono sicuro non è mai un indicatore di correttezza: si legge sempre in modo critico.</a:t>
            </a:r>
            <a:endParaRPr lang="en-US" sz="1300" dirty="0"/>
          </a:p>
        </p:txBody>
      </p:sp>
      <p:sp>
        <p:nvSpPr>
          <p:cNvPr id="8" name="Text 6"/>
          <p:cNvSpPr txBox="1"/>
          <p:nvPr/>
        </p:nvSpPr>
        <p:spPr>
          <a:xfrm>
            <a:off x="548640" y="2606040"/>
            <a:ext cx="822960" cy="1051560"/>
          </a:xfrm>
          <a:prstGeom prst="rect">
            <a:avLst/>
          </a:prstGeom>
          <a:noFill/>
          <a:ln/>
        </p:spPr>
        <p:txBody>
          <a:bodyPr wrap="square" lIns="0" tIns="0" rIns="0" bIns="0" rtlCol="0" anchor="t"/>
          <a:lstStyle/>
          <a:p>
            <a:pPr algn="l" indent="0" marL="0">
              <a:buNone/>
            </a:pPr>
            <a:r>
              <a:rPr lang="en-US" sz="3400" b="1" dirty="0">
                <a:solidFill>
                  <a:srgbClr val="2D5BFF"/>
                </a:solidFill>
                <a:latin typeface="Big Shoulders" pitchFamily="34" charset="0"/>
                <a:ea typeface="Big Shoulders" pitchFamily="34" charset="-122"/>
                <a:cs typeface="Big Shoulders" pitchFamily="34" charset="-120"/>
              </a:rPr>
              <a:t>02</a:t>
            </a:r>
            <a:endParaRPr lang="en-US" sz="3400" dirty="0"/>
          </a:p>
        </p:txBody>
      </p:sp>
      <p:sp>
        <p:nvSpPr>
          <p:cNvPr id="9" name="Text 7"/>
          <p:cNvSpPr txBox="1"/>
          <p:nvPr/>
        </p:nvSpPr>
        <p:spPr>
          <a:xfrm>
            <a:off x="1463040" y="2606040"/>
            <a:ext cx="9601200" cy="457200"/>
          </a:xfrm>
          <a:prstGeom prst="rect">
            <a:avLst/>
          </a:prstGeom>
          <a:noFill/>
          <a:ln/>
        </p:spPr>
        <p:txBody>
          <a:bodyPr wrap="square" lIns="0" tIns="0" rIns="0" bIns="0" rtlCol="0" anchor="t"/>
          <a:lstStyle/>
          <a:p>
            <a:pPr algn="l" indent="0" marL="0">
              <a:buNone/>
            </a:pPr>
            <a:r>
              <a:rPr lang="en-US" sz="1800" b="1" dirty="0">
                <a:solidFill>
                  <a:srgbClr val="F7F6F1"/>
                </a:solidFill>
                <a:latin typeface="Outfit" pitchFamily="34" charset="0"/>
                <a:ea typeface="Outfit" pitchFamily="34" charset="-122"/>
                <a:cs typeface="Outfit" pitchFamily="34" charset="-120"/>
              </a:rPr>
              <a:t>Alto rischio → fonte primaria</a:t>
            </a:r>
            <a:endParaRPr lang="en-US" sz="1800" dirty="0"/>
          </a:p>
        </p:txBody>
      </p:sp>
      <p:sp>
        <p:nvSpPr>
          <p:cNvPr id="10" name="Text 8"/>
          <p:cNvSpPr txBox="1"/>
          <p:nvPr/>
        </p:nvSpPr>
        <p:spPr>
          <a:xfrm>
            <a:off x="1463040" y="3044952"/>
            <a:ext cx="9601200" cy="548640"/>
          </a:xfrm>
          <a:prstGeom prst="rect">
            <a:avLst/>
          </a:prstGeom>
          <a:noFill/>
          <a:ln/>
        </p:spPr>
        <p:txBody>
          <a:bodyPr wrap="square" lIns="0" tIns="0" rIns="0" bIns="0" rtlCol="0" anchor="t"/>
          <a:lstStyle/>
          <a:p>
            <a:pPr algn="l" indent="0" marL="0">
              <a:lnSpc>
                <a:spcPct val="130000"/>
              </a:lnSpc>
              <a:buNone/>
            </a:pPr>
            <a:r>
              <a:rPr lang="en-US" sz="1300" dirty="0">
                <a:solidFill>
                  <a:srgbClr val="C9D4E6"/>
                </a:solidFill>
                <a:latin typeface="Instrument Sans" pitchFamily="34" charset="0"/>
                <a:ea typeface="Instrument Sans" pitchFamily="34" charset="-122"/>
                <a:cs typeface="Instrument Sans" pitchFamily="34" charset="-120"/>
              </a:rPr>
              <a:t>Ciò che esce dall'azienda o conta in un documento si verifica sempre, prima di usarlo.</a:t>
            </a:r>
            <a:endParaRPr lang="en-US" sz="1300" dirty="0"/>
          </a:p>
        </p:txBody>
      </p:sp>
      <p:sp>
        <p:nvSpPr>
          <p:cNvPr id="11" name="Text 9"/>
          <p:cNvSpPr txBox="1"/>
          <p:nvPr/>
        </p:nvSpPr>
        <p:spPr>
          <a:xfrm>
            <a:off x="548640" y="3794760"/>
            <a:ext cx="822960" cy="1051560"/>
          </a:xfrm>
          <a:prstGeom prst="rect">
            <a:avLst/>
          </a:prstGeom>
          <a:noFill/>
          <a:ln/>
        </p:spPr>
        <p:txBody>
          <a:bodyPr wrap="square" lIns="0" tIns="0" rIns="0" bIns="0" rtlCol="0" anchor="t"/>
          <a:lstStyle/>
          <a:p>
            <a:pPr algn="l" indent="0" marL="0">
              <a:buNone/>
            </a:pPr>
            <a:r>
              <a:rPr lang="en-US" sz="3400" b="1" dirty="0">
                <a:solidFill>
                  <a:srgbClr val="D8F34E"/>
                </a:solidFill>
                <a:latin typeface="Big Shoulders" pitchFamily="34" charset="0"/>
                <a:ea typeface="Big Shoulders" pitchFamily="34" charset="-122"/>
                <a:cs typeface="Big Shoulders" pitchFamily="34" charset="-120"/>
              </a:rPr>
              <a:t>03</a:t>
            </a:r>
            <a:endParaRPr lang="en-US" sz="3400" dirty="0"/>
          </a:p>
        </p:txBody>
      </p:sp>
      <p:sp>
        <p:nvSpPr>
          <p:cNvPr id="12" name="Text 10"/>
          <p:cNvSpPr txBox="1"/>
          <p:nvPr/>
        </p:nvSpPr>
        <p:spPr>
          <a:xfrm>
            <a:off x="1463040" y="3794760"/>
            <a:ext cx="9601200" cy="457200"/>
          </a:xfrm>
          <a:prstGeom prst="rect">
            <a:avLst/>
          </a:prstGeom>
          <a:noFill/>
          <a:ln/>
        </p:spPr>
        <p:txBody>
          <a:bodyPr wrap="square" lIns="0" tIns="0" rIns="0" bIns="0" rtlCol="0" anchor="t"/>
          <a:lstStyle/>
          <a:p>
            <a:pPr algn="l" indent="0" marL="0">
              <a:buNone/>
            </a:pPr>
            <a:r>
              <a:rPr lang="en-US" sz="1800" b="1" dirty="0">
                <a:solidFill>
                  <a:srgbClr val="F7F6F1"/>
                </a:solidFill>
                <a:latin typeface="Outfit" pitchFamily="34" charset="0"/>
                <a:ea typeface="Outfit" pitchFamily="34" charset="-122"/>
                <a:cs typeface="Outfit" pitchFamily="34" charset="-120"/>
              </a:rPr>
              <a:t>Tra poco, dal vivo</a:t>
            </a:r>
            <a:endParaRPr lang="en-US" sz="1800" dirty="0"/>
          </a:p>
        </p:txBody>
      </p:sp>
      <p:sp>
        <p:nvSpPr>
          <p:cNvPr id="13" name="Text 11"/>
          <p:cNvSpPr txBox="1"/>
          <p:nvPr/>
        </p:nvSpPr>
        <p:spPr>
          <a:xfrm>
            <a:off x="1463040" y="4233672"/>
            <a:ext cx="9601200" cy="548640"/>
          </a:xfrm>
          <a:prstGeom prst="rect">
            <a:avLst/>
          </a:prstGeom>
          <a:noFill/>
          <a:ln/>
        </p:spPr>
        <p:txBody>
          <a:bodyPr wrap="square" lIns="0" tIns="0" rIns="0" bIns="0" rtlCol="0" anchor="t"/>
          <a:lstStyle/>
          <a:p>
            <a:pPr algn="l" indent="0" marL="0">
              <a:lnSpc>
                <a:spcPct val="130000"/>
              </a:lnSpc>
              <a:buNone/>
            </a:pPr>
            <a:r>
              <a:rPr lang="en-US" sz="1300" dirty="0">
                <a:solidFill>
                  <a:srgbClr val="C9D4E6"/>
                </a:solidFill>
                <a:latin typeface="Instrument Sans" pitchFamily="34" charset="0"/>
                <a:ea typeface="Instrument Sans" pitchFamily="34" charset="-122"/>
                <a:cs typeface="Instrument Sans" pitchFamily="34" charset="-120"/>
              </a:rPr>
              <a:t>Nell'esercizio di prompting: un prompt vago lascia all'AI gli stessi vuoti da riempire di un'allucinazione.</a:t>
            </a:r>
            <a:endParaRPr lang="en-US" sz="1300" dirty="0"/>
          </a:p>
        </p:txBody>
      </p:sp>
      <p:sp>
        <p:nvSpPr>
          <p:cNvPr id="14" name="Shape 12"/>
          <p:cNvSpPr/>
          <p:nvPr/>
        </p:nvSpPr>
        <p:spPr>
          <a:xfrm>
            <a:off x="9814255" y="5989320"/>
            <a:ext cx="1828800" cy="566928"/>
          </a:xfrm>
          <a:prstGeom prst="rect">
            <a:avLst/>
          </a:prstGeom>
          <a:solidFill>
            <a:srgbClr val="F7F6F1"/>
          </a:solidFill>
          <a:ln/>
        </p:spPr>
      </p:sp>
      <p:pic>
        <p:nvPicPr>
          <p:cNvPr id="15" name="Image 0" descr="/tmp/materiale-formazione-pmi/logo.png">    </p:cNvPr>
          <p:cNvPicPr>
            <a:picLocks noChangeAspect="1"/>
          </p:cNvPicPr>
          <p:nvPr/>
        </p:nvPicPr>
        <p:blipFill>
          <a:blip r:embed="rId1"/>
          <a:stretch>
            <a:fillRect/>
          </a:stretch>
        </p:blipFill>
        <p:spPr>
          <a:xfrm>
            <a:off x="9905695" y="6071616"/>
            <a:ext cx="1645920" cy="402336"/>
          </a:xfrm>
          <a:prstGeom prst="rect">
            <a:avLst/>
          </a:prstGeom>
        </p:spPr>
      </p:pic>
      <p:sp>
        <p:nvSpPr>
          <p:cNvPr id="16" name="Text 13"/>
          <p:cNvSpPr txBox="1"/>
          <p:nvPr/>
        </p:nvSpPr>
        <p:spPr>
          <a:xfrm>
            <a:off x="548640" y="6172200"/>
            <a:ext cx="7772400" cy="320040"/>
          </a:xfrm>
          <a:prstGeom prst="rect">
            <a:avLst/>
          </a:prstGeom>
          <a:noFill/>
          <a:ln/>
        </p:spPr>
        <p:txBody>
          <a:bodyPr wrap="square" lIns="0" tIns="0" rIns="0" bIns="0" rtlCol="0" anchor="ctr"/>
          <a:lstStyle/>
          <a:p>
            <a:pPr algn="l" indent="0" marL="0">
              <a:buNone/>
            </a:pPr>
            <a:r>
              <a:rPr lang="en-US" sz="1000" spc="120" kern="0" dirty="0">
                <a:solidFill>
                  <a:srgbClr val="9FB0C8"/>
                </a:solidFill>
                <a:latin typeface="Geist Mono" pitchFamily="34" charset="0"/>
                <a:ea typeface="Geist Mono" pitchFamily="34" charset="-122"/>
                <a:cs typeface="Geist Mono" pitchFamily="34" charset="-120"/>
              </a:rPr>
              <a:t>GIORNATA 1 CONTINUA → ESERCIZIO DI PROMPTING, FASE 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Limiti e allucinazioni — Giornata 1 Agritech</dc:title>
  <dc:subject>PptxGenJS Presentation</dc:subject>
  <dc:creator>Piamarta Formazione</dc:creator>
  <cp:lastModifiedBy>Piamarta Formazione</cp:lastModifiedBy>
  <cp:revision>1</cp:revision>
  <dcterms:created xsi:type="dcterms:W3CDTF">2026-09-03T09:01:59Z</dcterms:created>
  <dcterms:modified xsi:type="dcterms:W3CDTF">2026-09-03T09:01:59Z</dcterms:modified>
</cp:coreProperties>
</file>