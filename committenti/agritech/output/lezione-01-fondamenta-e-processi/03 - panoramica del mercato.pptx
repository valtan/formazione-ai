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Blocco frontale di 10 minuti, giornata 1 di Agritech (18:00–18:10), subito dopo il blocco su limiti e allucinazioni. Vincolo di impostazione da tenere a mente: le linee guida del progetto chiedono che in prima giornata la panoramica di mercato resti un accenno — mappa d'insieme, nessun approfondimento. L'approfondimento vero (famiglie di LLM, Projects/Skills/Plugin-MCP) è in giornata 3. Fonte completa: 2026-09-07-panoramica-mercato-strumenti-materiale.md.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Scorrere rapidamente l'indice (30 secondi). Il filo conduttore che tiene insieme i quattro punti: la mappa per famiglie conta più dei singoli nomi di prodotto, che cambiano continuamente.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paragone utile: chiedere la stessa cosa a due strumenti diversi produce quasi sempre due risposte entrambe ragionevoli, scritte in modo diverso — non una giusta e una sbagliata. Le due distorsioni da smontare: credere che esista un solo strumento 'giusto' (primo punto), e la sensazione di dover scegliere subito da soli, con l'ansia di sbagliare (secondo punto).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centrale del blocco: se resta una sola cosa, deve restare questa. La domanda 'da dove parte l'utente' orienta subito verso una famiglia, prima ancora di aver scelto un fornitore preciso. Copilot qui è la versione consumer (Windows/Edge/copilot.microsoft.com), da non confondere con Microsoft 365 Copilot nella famiglia 2. Se qualcuno chiede di alternative europee (es. Mistral) o modelli aperti/locali: esistono, sono nel materiale di base (§3), ma oggi restano fuori — si torna in giornata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Tabella di partenza per una discussione, non un verdetto: ogni riga ha eccezioni a seconda del prodotto e del piano scelto. Sulla riga CONTESTO: alcuni chatbot generalisti (es. Claude, ChatGPT) offrono connettori verso Google Workspace, repository e altre fonti, quindi il confine con la famiglia 2 non è netto — la differenza vera è che nella famiglia 2 l'accesso è nativo, incluso di default, mentre nella famiglia 1 va aggiunto. Sulla riga ADOZIONE: i chatbot generalisti offrono spesso più funzionalità (ricerca web, generazione immagini, esecuzione di codice, connettori), ma sono anche tutte da scoprire — non è detto che l'attrito iniziale sia minore. Non sostituisce una valutazione fatta sui processi reali dell'azienda — è esattamente ciò che l'assessment e le prime giornate del percorso raccoglieranno.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da sottolineare esplicitamente: Claude non genera immagini, a differenza di ChatGPT e Gemini — è un'assenza, non un limite tecnico nascosto, e va detta senza minimizzarla né drammatizzarla. Ricordare che il percorso è orientato verso Claude nell'impostazione generale (materiale di base, §7), ma la scelta definitiva per Agritech non è ancora fatta.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Molti partecipanti lo conosceranno già solo per sentito dire, ed è spesso il metro di paragone implicito per gli altri due — utile ricondurlo alla stessa griglia di lettura (ricerca/creatività, documenti, uso quotidiano) invece di trattarlo come un caso a parte. Le funzioni video e la gamma esatta dei piani cambiano spesso: ricontrollare prima della lezione.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punto da far notare è il collegamento con la slide 04 (mappa in due famiglie): Gemini è l'unico dei tre che vive in modo nativo in entrambe le famiglie — chatbot a sé stante e AI integrata nella suite, per chi usa già Google Workspace. Utile chiedere in aula, con una domanda veloce, quale suite di produttività usa già la maggioranza dei presenti.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di chiusura del blocco 'tre prodotti': riporta al principio già stabilito a slide 03/06 — nessun vincitore assoluto. Sulla riga RICERCA &amp; CREATIVITÀ: l'assenza di generazione immagini in Claude è l'unica vera differenza netta 'sì/no'; sul resto le differenze sono più di sfumatura (nome della funzione, piano in cui è inclusa) che di sostanza. Collegamento pratico per Agritech: la scelta finale terrà conto anche di quale suite di produttività l'azienda già usa (materiale di base, §7).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058400" y="1234440"/>
            <a:ext cx="777240" cy="137160"/>
          </a:xfrm>
          <a:prstGeom prst="line">
            <a:avLst/>
          </a:prstGeom>
          <a:noFill/>
          <a:ln w="12700">
            <a:solidFill>
              <a:srgbClr val="273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1371600"/>
            <a:ext cx="365760" cy="411480"/>
          </a:xfrm>
          <a:prstGeom prst="line">
            <a:avLst/>
          </a:prstGeom>
          <a:noFill/>
          <a:ln w="12700">
            <a:solidFill>
              <a:srgbClr val="2739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35640" y="1234440"/>
            <a:ext cx="457200" cy="731520"/>
          </a:xfrm>
          <a:prstGeom prst="line">
            <a:avLst/>
          </a:prstGeom>
          <a:noFill/>
          <a:ln w="12700">
            <a:solidFill>
              <a:srgbClr val="2739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1234440"/>
            <a:ext cx="320040" cy="1097280"/>
          </a:xfrm>
          <a:prstGeom prst="line">
            <a:avLst/>
          </a:prstGeom>
          <a:noFill/>
          <a:ln w="12700">
            <a:solidFill>
              <a:srgbClr val="2739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1783080"/>
            <a:ext cx="822960" cy="548640"/>
          </a:xfrm>
          <a:prstGeom prst="line">
            <a:avLst/>
          </a:prstGeom>
          <a:noFill/>
          <a:ln w="12700">
            <a:solidFill>
              <a:srgbClr val="2739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30968" y="1344168"/>
            <a:ext cx="54864" cy="54864"/>
          </a:xfrm>
          <a:prstGeom prst="ellipse">
            <a:avLst/>
          </a:prstGeom>
          <a:solidFill>
            <a:srgbClr val="2D5BFF"/>
          </a:solidFill>
          <a:ln/>
        </p:spPr>
      </p:sp>
      <p:sp>
        <p:nvSpPr>
          <p:cNvPr id="8" name="Shape 6"/>
          <p:cNvSpPr/>
          <p:nvPr/>
        </p:nvSpPr>
        <p:spPr>
          <a:xfrm>
            <a:off x="10808208" y="1207008"/>
            <a:ext cx="54864" cy="54864"/>
          </a:xfrm>
          <a:prstGeom prst="ellipse">
            <a:avLst/>
          </a:prstGeom>
          <a:solidFill>
            <a:srgbClr val="2D5BFF"/>
          </a:solidFill>
          <a:ln/>
        </p:spPr>
      </p:sp>
      <p:sp>
        <p:nvSpPr>
          <p:cNvPr id="9" name="Shape 7"/>
          <p:cNvSpPr/>
          <p:nvPr/>
        </p:nvSpPr>
        <p:spPr>
          <a:xfrm>
            <a:off x="9665208" y="1755648"/>
            <a:ext cx="54864" cy="54864"/>
          </a:xfrm>
          <a:prstGeom prst="ellipse">
            <a:avLst/>
          </a:prstGeom>
          <a:solidFill>
            <a:srgbClr val="2D5BFF"/>
          </a:solidFill>
          <a:ln/>
        </p:spPr>
      </p:sp>
      <p:sp>
        <p:nvSpPr>
          <p:cNvPr id="10" name="Shape 8"/>
          <p:cNvSpPr/>
          <p:nvPr/>
        </p:nvSpPr>
        <p:spPr>
          <a:xfrm>
            <a:off x="11247120" y="1920240"/>
            <a:ext cx="91440" cy="91440"/>
          </a:xfrm>
          <a:prstGeom prst="ellipse">
            <a:avLst/>
          </a:prstGeom>
          <a:solidFill>
            <a:srgbClr val="D8F34E"/>
          </a:solidFill>
          <a:ln/>
        </p:spPr>
      </p:sp>
      <p:sp>
        <p:nvSpPr>
          <p:cNvPr id="11" name="Shape 9"/>
          <p:cNvSpPr/>
          <p:nvPr/>
        </p:nvSpPr>
        <p:spPr>
          <a:xfrm>
            <a:off x="10488168" y="2304288"/>
            <a:ext cx="54864" cy="54864"/>
          </a:xfrm>
          <a:prstGeom prst="ellipse">
            <a:avLst/>
          </a:prstGeom>
          <a:solidFill>
            <a:srgbClr val="2D5B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8F34E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GIORNATA 1 · FORMAZIONE AI GENERATIVA · AGRITECH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1097280"/>
            <a:ext cx="11094415" cy="0"/>
          </a:xfrm>
          <a:prstGeom prst="line">
            <a:avLst/>
          </a:prstGeom>
          <a:noFill/>
          <a:ln w="12700">
            <a:solidFill>
              <a:srgbClr val="2739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468880"/>
            <a:ext cx="9144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200" b="1" dirty="0">
                <a:solidFill>
                  <a:srgbClr val="F7F6F1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PANORAMICA</a:t>
            </a:r>
            <a:endParaRPr lang="en-US" sz="62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6200" b="1" dirty="0">
                <a:solidFill>
                  <a:srgbClr val="F7F6F1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DEL MERCATO</a:t>
            </a:r>
            <a:endParaRPr lang="en-US" sz="6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709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4E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Le famiglie di strumenti, senza </a:t>
            </a:r>
            <a:pPr algn="l" indent="0" marL="0">
              <a:buNone/>
            </a:pPr>
            <a:r>
              <a:rPr lang="en-US" sz="2000" b="1" dirty="0">
                <a:solidFill>
                  <a:srgbClr val="D8F34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vincitori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9FB0C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BLOCCO 10' · 18:00–18:10 · FRONTALE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814255" y="5989320"/>
            <a:ext cx="1828800" cy="566928"/>
          </a:xfrm>
          <a:prstGeom prst="rect">
            <a:avLst/>
          </a:prstGeom>
          <a:solidFill>
            <a:srgbClr val="F7F6F1"/>
          </a:solidFill>
          <a:ln/>
        </p:spPr>
      </p:sp>
      <p:pic>
        <p:nvPicPr>
          <p:cNvPr id="18" name="Image 0" descr="/tmp/materiale-formazione-pmi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071616"/>
            <a:ext cx="1645920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D5B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 QUESTO BLOCCO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A6B8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1094415" cy="0"/>
          </a:xfrm>
          <a:prstGeom prst="line">
            <a:avLst/>
          </a:prstGeom>
          <a:noFill/>
          <a:ln w="12700">
            <a:solidFill>
              <a:srgbClr val="D8D5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5B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600200"/>
            <a:ext cx="8686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Perché conta per un'azienda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94415" cy="0"/>
          </a:xfrm>
          <a:prstGeom prst="line">
            <a:avLst/>
          </a:prstGeom>
          <a:noFill/>
          <a:ln w="9525">
            <a:solidFill>
              <a:srgbClr val="D8D5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14600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5B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514600"/>
            <a:ext cx="8686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 mappa in due famiglie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11094415" cy="0"/>
          </a:xfrm>
          <a:prstGeom prst="line">
            <a:avLst/>
          </a:prstGeom>
          <a:noFill/>
          <a:ln w="9525">
            <a:solidFill>
              <a:srgbClr val="D8D5C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29000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5B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429000"/>
            <a:ext cx="8686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 e contro generali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11094415" cy="0"/>
          </a:xfrm>
          <a:prstGeom prst="line">
            <a:avLst/>
          </a:prstGeom>
          <a:noFill/>
          <a:ln w="9525">
            <a:solidFill>
              <a:srgbClr val="D8D5C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43400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5B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4343400"/>
            <a:ext cx="8686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tre prodotti principali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D5B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PERCHÉ CONTA PER UN'AZIENDA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A6B8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1094415" cy="0"/>
          </a:xfrm>
          <a:prstGeom prst="line">
            <a:avLst/>
          </a:prstGeom>
          <a:noFill/>
          <a:ln w="12700">
            <a:solidFill>
              <a:srgbClr val="D8D5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8872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A162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 domanda utile non è </a:t>
            </a:r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2D5B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“qual è la migliore AI”</a:t>
            </a:r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A162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,</a:t>
            </a:r>
            <a:endParaRPr lang="en-US" sz="2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A162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 quale si adatta a questo compito.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2D5B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6F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873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A162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Non esiste un solo strumento giusto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52628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Strumenti diversi hanno equilibri diversi tra capacità, costo, integrazione e gestione dei dati.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3429000"/>
            <a:ext cx="502920" cy="502920"/>
          </a:xfrm>
          <a:prstGeom prst="ellipse">
            <a:avLst/>
          </a:prstGeom>
          <a:solidFill>
            <a:srgbClr val="2D5B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9768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6F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40873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A162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Non serve scegliere subito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452628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Il mercato si muove in fretta: la scelta si tratta come revisionabile, mai come definitiva.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3429000"/>
            <a:ext cx="502920" cy="502920"/>
          </a:xfrm>
          <a:prstGeom prst="ellipse">
            <a:avLst/>
          </a:prstGeom>
          <a:solidFill>
            <a:srgbClr val="2D5B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6F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40873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A162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 mappa conta più del nome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452628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Orientarsi in poche categorie aiuta più che rincorrere ogni prodotto nuovo che esce.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8F34E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LA MAPPA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FB0C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1094415" cy="0"/>
          </a:xfrm>
          <a:prstGeom prst="line">
            <a:avLst/>
          </a:prstGeom>
          <a:noFill/>
          <a:ln w="12700">
            <a:solidFill>
              <a:srgbClr val="2739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7F6F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 dove </a:t>
            </a:r>
            <a:pPr algn="l" indent="0" marL="0">
              <a:buNone/>
            </a:pPr>
            <a:r>
              <a:rPr lang="en-US" sz="2600" b="1" dirty="0">
                <a:solidFill>
                  <a:srgbClr val="D8F34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parte</a:t>
            </a:r>
            <a:pPr algn="l" indent="0" marL="0">
              <a:buNone/>
            </a:pPr>
            <a:r>
              <a:rPr lang="en-US" sz="2600" b="1" dirty="0">
                <a:solidFill>
                  <a:srgbClr val="F7F6F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l'utente?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095848" y="2148840"/>
            <a:ext cx="0" cy="3703320"/>
          </a:xfrm>
          <a:prstGeom prst="line">
            <a:avLst/>
          </a:prstGeom>
          <a:noFill/>
          <a:ln w="12700">
            <a:solidFill>
              <a:srgbClr val="2739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522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D5B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FAMIGLIA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32888"/>
            <a:ext cx="522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7F6F1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Chatbot</a:t>
            </a:r>
            <a:endParaRPr lang="en-US" sz="3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7F6F1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generalisti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57600"/>
            <a:ext cx="5044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9D4E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Una conversazione a sé, tramite sito o app dedicata. Nessuna dipendenza da altri strumenti aziendali.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937760"/>
            <a:ext cx="5044288" cy="0"/>
          </a:xfrm>
          <a:prstGeom prst="line">
            <a:avLst/>
          </a:prstGeom>
          <a:noFill/>
          <a:ln w="9525">
            <a:solidFill>
              <a:srgbClr val="2739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5074920"/>
            <a:ext cx="504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FB0C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Claude · ChatGPT · Gemini · Copilot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15888" y="2148840"/>
            <a:ext cx="522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D5B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FAMIGLIA 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15888" y="2532888"/>
            <a:ext cx="522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7F6F1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AI integrata</a:t>
            </a:r>
            <a:endParaRPr lang="en-US" sz="3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7F6F1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nella suite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415888" y="3657600"/>
            <a:ext cx="5044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9D4E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Dentro i programmi che l'ufficio già usa — posta, documenti, fogli — con accesso, se autorizzato, ai propri contenuti.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15888" y="4937760"/>
            <a:ext cx="5044288" cy="0"/>
          </a:xfrm>
          <a:prstGeom prst="line">
            <a:avLst/>
          </a:prstGeom>
          <a:noFill/>
          <a:ln w="9525">
            <a:solidFill>
              <a:srgbClr val="2739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15888" y="5074920"/>
            <a:ext cx="504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FB0C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Microsoft 365 Copilot · Google Workspace + Gemini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D5B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 E CONTRO GENERALI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A6B8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1094415" cy="0"/>
          </a:xfrm>
          <a:prstGeom prst="line">
            <a:avLst/>
          </a:prstGeom>
          <a:noFill/>
          <a:ln w="12700">
            <a:solidFill>
              <a:srgbClr val="D8D5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371600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2D5B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CHATBOT GENERALISTI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284568" y="1371600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AI INTEGRATA NELLA SUITE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1094415" cy="0"/>
          </a:xfrm>
          <a:prstGeom prst="line">
            <a:avLst/>
          </a:prstGeom>
          <a:noFill/>
          <a:ln w="15875">
            <a:solidFill>
              <a:srgbClr val="0A162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057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A6B8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AVVIO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2057400"/>
            <a:ext cx="435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Immediato, spesso gratuito, nessuna suite richiesta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284568" y="2057400"/>
            <a:ext cx="435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Serve la suite già attiva, più un costo aggiuntivo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24912"/>
            <a:ext cx="11094415" cy="0"/>
          </a:xfrm>
          <a:prstGeom prst="line">
            <a:avLst/>
          </a:prstGeom>
          <a:noFill/>
          <a:ln w="9525">
            <a:solidFill>
              <a:srgbClr val="D8D5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8346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A6B8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CONTESTO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2834640"/>
            <a:ext cx="4358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Di base solo ciò che si incolla o carica — estendibile con connettori (Workspace, repository)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84568" y="2834640"/>
            <a:ext cx="4358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Accesso nativo, già dentro lo strumento, a email, documenti, calendario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59352"/>
            <a:ext cx="11094415" cy="0"/>
          </a:xfrm>
          <a:prstGeom prst="line">
            <a:avLst/>
          </a:prstGeom>
          <a:noFill/>
          <a:ln w="9525">
            <a:solidFill>
              <a:srgbClr val="D8D5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0690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A6B8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ADOZIONE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4069080"/>
            <a:ext cx="4358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Molte funzionalità in più, ma tutte da imparare: la curva di apprendimento è più lunga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284568" y="4069080"/>
            <a:ext cx="4358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Dentro strumenti già noti, meno attrito iniziale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193792"/>
            <a:ext cx="11094415" cy="0"/>
          </a:xfrm>
          <a:prstGeom prst="line">
            <a:avLst/>
          </a:prstGeom>
          <a:noFill/>
          <a:ln w="9525">
            <a:solidFill>
              <a:srgbClr val="D8D5C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3035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A6B8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COSTO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468880" y="5303520"/>
            <a:ext cx="435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Scalabile per singola persona o piccoli team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284568" y="5303520"/>
            <a:ext cx="435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Costo per utente sopra un abbonamento già attivo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971032"/>
            <a:ext cx="11094415" cy="0"/>
          </a:xfrm>
          <a:prstGeom prst="line">
            <a:avLst/>
          </a:prstGeom>
          <a:noFill/>
          <a:ln w="9525">
            <a:solidFill>
              <a:srgbClr val="D8D5C9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D5B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 TRE PRODOTTI PRINCIPALI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A6B8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1094415" cy="0"/>
          </a:xfrm>
          <a:prstGeom prst="line">
            <a:avLst/>
          </a:prstGeom>
          <a:noFill/>
          <a:ln w="12700">
            <a:solidFill>
              <a:srgbClr val="D8D5C9"/>
            </a:solidFill>
            <a:prstDash val="solid"/>
          </a:ln>
        </p:spPr>
      </p:sp>
      <p:pic>
        <p:nvPicPr>
          <p:cNvPr id="5" name="Image 0" descr="/tmp/materiale-formazione-pmi/logo-clau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24128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2344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D5B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0A1628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Claude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39572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5B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Scrittura, documenti lunghi, programmazione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999232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Punto di forza riconosciuto su compiti di scrittura, analisi di documenti lunghi e programmazione, con attenzione dichiarata alla sicurezza. È la famiglia verso cui è orientato, in generale, il percorso Agritech — ma resta comunque dentro il confronto comparativo.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1234440"/>
            <a:ext cx="6979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A6B8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FUNZIONI CREATIVE E RICERCA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1563624"/>
            <a:ext cx="6979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Ricerca web integrata. Esecuzione di codice tramite strumento dedicato. Non genera immagini nativamente — differenza da segnalare rispetto agli altri due.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663440" y="2615184"/>
            <a:ext cx="6979615" cy="0"/>
          </a:xfrm>
          <a:prstGeom prst="line">
            <a:avLst/>
          </a:prstGeom>
          <a:noFill/>
          <a:ln w="9525">
            <a:solidFill>
              <a:srgbClr val="D8D5C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63440" y="2743200"/>
            <a:ext cx="6979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A6B8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DOCUMENTI E CONTESTO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3072384"/>
            <a:ext cx="6979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Caricamento e analisi di file nella conversazione. “Projects” per raccogliere materiale di riferimento riusabile tra conversazioni.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63440" y="4123944"/>
            <a:ext cx="6979615" cy="0"/>
          </a:xfrm>
          <a:prstGeom prst="line">
            <a:avLst/>
          </a:prstGeom>
          <a:noFill/>
          <a:ln w="9525">
            <a:solidFill>
              <a:srgbClr val="D8D5C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63440" y="4251960"/>
            <a:ext cx="6979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A6B8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USO QUOTIDIANO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4581144"/>
            <a:ext cx="6979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Web, desktop, mobile. Piano gratuito disponibile.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D5B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 TRE PRODOTTI PRINCIPALI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A6B8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1094415" cy="0"/>
          </a:xfrm>
          <a:prstGeom prst="line">
            <a:avLst/>
          </a:prstGeom>
          <a:noFill/>
          <a:ln w="12700">
            <a:solidFill>
              <a:srgbClr val="D8D5C9"/>
            </a:solidFill>
            <a:prstDash val="solid"/>
          </a:ln>
        </p:spPr>
      </p:sp>
      <p:pic>
        <p:nvPicPr>
          <p:cNvPr id="5" name="Image 0" descr="/tmp/materiale-formazione-pmi/logo-open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24128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2344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D5B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OPENAI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0A1628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ChatGPT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39572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5B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L'ecosistema più ampio, il nome più conosciuto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999232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Probabilmente il nome più riconosciuto dal pubblico non tecnico: spesso è il primo strumento con cui una persona incontra l'AI generativa. Offre l'ecosistema più ampio di funzioni accessorie tra i tre.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1234440"/>
            <a:ext cx="6979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A6B8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FUNZIONI CREATIVE E RICERCA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1563624"/>
            <a:ext cx="6979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Ricerca web integrata. Generazione di immagini nativa, e funzioni video sui piani superiori. Esecuzione di codice e analisi dati.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663440" y="2615184"/>
            <a:ext cx="6979615" cy="0"/>
          </a:xfrm>
          <a:prstGeom prst="line">
            <a:avLst/>
          </a:prstGeom>
          <a:noFill/>
          <a:ln w="9525">
            <a:solidFill>
              <a:srgbClr val="D8D5C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63440" y="2743200"/>
            <a:ext cx="6979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A6B8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DOCUMENTI E CONTESTO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3072384"/>
            <a:ext cx="6979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Caricamento file nella conversazione. “Projects” e assistenti personalizzati (“GPT”) configurabili.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63440" y="4123944"/>
            <a:ext cx="6979615" cy="0"/>
          </a:xfrm>
          <a:prstGeom prst="line">
            <a:avLst/>
          </a:prstGeom>
          <a:noFill/>
          <a:ln w="9525">
            <a:solidFill>
              <a:srgbClr val="D8D5C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63440" y="4251960"/>
            <a:ext cx="6979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A6B8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USO QUOTIDIANO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4581144"/>
            <a:ext cx="6979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Web, desktop, mobile. Piano gratuito con funzioni ridotte rispetto ai piani a pagamento.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D5B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 TRE PRODOTTI PRINCIPALI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A6B8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1094415" cy="0"/>
          </a:xfrm>
          <a:prstGeom prst="line">
            <a:avLst/>
          </a:prstGeom>
          <a:noFill/>
          <a:ln w="12700">
            <a:solidFill>
              <a:srgbClr val="D8D5C9"/>
            </a:solidFill>
            <a:prstDash val="solid"/>
          </a:ln>
        </p:spPr>
      </p:sp>
      <p:pic>
        <p:nvPicPr>
          <p:cNvPr id="5" name="Image 0" descr="/tmp/materiale-formazione-pmi/logo-gemi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24128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2344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D5B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GOOGLE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0A1628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Gemini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39572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5B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Il più integrato con Google Workspace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999232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Stessa logica di fondo degli altri due, con un vantaggio in più per chi già usa Google Workspace: oltre a esistere come chatbot a sé stante, è integrato direttamente dentro Gmail, Documenti, Fogli e Meet.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1234440"/>
            <a:ext cx="6979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A6B8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FUNZIONI CREATIVE E RICERCA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1563624"/>
            <a:ext cx="6979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Ricerca web nativa (Google Search). Generazione di immagini, e video sui piani superiori. Esecuzione di codice.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663440" y="2615184"/>
            <a:ext cx="6979615" cy="0"/>
          </a:xfrm>
          <a:prstGeom prst="line">
            <a:avLst/>
          </a:prstGeom>
          <a:noFill/>
          <a:ln w="9525">
            <a:solidFill>
              <a:srgbClr val="D8D5C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63440" y="2743200"/>
            <a:ext cx="6979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A6B8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DOCUMENTI E CONTESTO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3072384"/>
            <a:ext cx="6979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Caricamento file. “Gems” per creare assistenti con istruzioni fisse e file di riferimento propri.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63440" y="4123944"/>
            <a:ext cx="6979615" cy="0"/>
          </a:xfrm>
          <a:prstGeom prst="line">
            <a:avLst/>
          </a:prstGeom>
          <a:noFill/>
          <a:ln w="9525">
            <a:solidFill>
              <a:srgbClr val="D8D5C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63440" y="4251960"/>
            <a:ext cx="6979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A6B8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USO QUOTIDIANO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4581144"/>
            <a:ext cx="6979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Web, mobile, desktop, oltre all'integrazione diretta dentro Gmail/Documenti/Fogli (famiglia 2).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8F34E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STESSO NUCLEO, DIFFERENZE PRATICHE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FB0C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1094415" cy="0"/>
          </a:xfrm>
          <a:prstGeom prst="line">
            <a:avLst/>
          </a:prstGeom>
          <a:noFill/>
          <a:ln w="12700">
            <a:solidFill>
              <a:srgbClr val="2739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7F6F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Le differenze contano solo per </a:t>
            </a:r>
            <a:pPr algn="l" indent="0" marL="0">
              <a:buNone/>
            </a:pPr>
            <a:r>
              <a:rPr lang="en-US" sz="2400" b="1" dirty="0">
                <a:solidFill>
                  <a:srgbClr val="D8F34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 uso specifico</a:t>
            </a:r>
            <a:endParaRPr lang="en-US" sz="2400" dirty="0"/>
          </a:p>
        </p:txBody>
      </p:sp>
      <p:pic>
        <p:nvPicPr>
          <p:cNvPr id="6" name="Image 0" descr="/tmp/materiale-formazione-pmi/logo-claude-ac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2039112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401568" y="2057400"/>
            <a:ext cx="2277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D8F34E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CLAUDE</a:t>
            </a:r>
            <a:endParaRPr lang="en-US" sz="1200" dirty="0"/>
          </a:p>
        </p:txBody>
      </p:sp>
      <p:pic>
        <p:nvPicPr>
          <p:cNvPr id="8" name="Image 1" descr="/tmp/materiale-formazione-pmi/logo-openai-ac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9378" y="2039112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383426" y="2057400"/>
            <a:ext cx="2277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D8F34E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CHATGPT</a:t>
            </a:r>
            <a:endParaRPr lang="en-US" sz="1200" dirty="0"/>
          </a:p>
        </p:txBody>
      </p:sp>
      <p:pic>
        <p:nvPicPr>
          <p:cNvPr id="10" name="Image 2" descr="/tmp/materiale-formazione-pmi/logo-gemini-ac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1237" y="2039112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365285" y="2057400"/>
            <a:ext cx="2277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D8F34E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GEMINI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548640" y="2514600"/>
            <a:ext cx="11094415" cy="0"/>
          </a:xfrm>
          <a:prstGeom prst="line">
            <a:avLst/>
          </a:prstGeom>
          <a:noFill/>
          <a:ln w="15875">
            <a:solidFill>
              <a:srgbClr val="27395C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48640" y="2651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spc="100" kern="0" dirty="0">
                <a:solidFill>
                  <a:srgbClr val="9FB0C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RICERCA &amp;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b="1" spc="100" kern="0" dirty="0">
                <a:solidFill>
                  <a:srgbClr val="9FB0C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CREATIVITÀ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3017520" y="2651760"/>
            <a:ext cx="26618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4E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Web sì · immagini no · codice sì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999378" y="2651760"/>
            <a:ext cx="26618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4E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Web sì · immagini sì · codice sì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8981237" y="2651760"/>
            <a:ext cx="26618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4E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Web sì · immagini sì · codice sì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3456432"/>
            <a:ext cx="11094415" cy="0"/>
          </a:xfrm>
          <a:prstGeom prst="line">
            <a:avLst/>
          </a:prstGeom>
          <a:noFill/>
          <a:ln w="9525">
            <a:solidFill>
              <a:srgbClr val="27395C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48640" y="3566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spc="100" kern="0" dirty="0">
                <a:solidFill>
                  <a:srgbClr val="9FB0C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DOCUMENTI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3017520" y="3566160"/>
            <a:ext cx="26618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4E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File + Projects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999378" y="3566160"/>
            <a:ext cx="26618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4E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File + Projects / GPT personalizzati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981237" y="3566160"/>
            <a:ext cx="26618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4E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File + Gems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4370832"/>
            <a:ext cx="11094415" cy="0"/>
          </a:xfrm>
          <a:prstGeom prst="line">
            <a:avLst/>
          </a:prstGeom>
          <a:noFill/>
          <a:ln w="9525">
            <a:solidFill>
              <a:srgbClr val="27395C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48640" y="4480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spc="100" kern="0" dirty="0">
                <a:solidFill>
                  <a:srgbClr val="9FB0C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USO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b="1" spc="100" kern="0" dirty="0">
                <a:solidFill>
                  <a:srgbClr val="9FB0C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QUOTIDIANO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3017520" y="4480560"/>
            <a:ext cx="26618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4E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Web · desktop · mobile · gratuito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5999378" y="4480560"/>
            <a:ext cx="26618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4E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Web · desktop · mobile · gratuito limitato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8981237" y="4480560"/>
            <a:ext cx="26618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4E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Web · desktop · mobile + Workspace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548640" y="5285232"/>
            <a:ext cx="11094415" cy="0"/>
          </a:xfrm>
          <a:prstGeom prst="line">
            <a:avLst/>
          </a:prstGeom>
          <a:noFill/>
          <a:ln w="9525">
            <a:solidFill>
              <a:srgbClr val="27395C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48640" y="5623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9FB0C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Nessuno dei tre è “il migliore”: conta l'uso, il contesto e i vincoli dell'azienda.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Panoramica del mercato — Giornata 1 Agritech</dc:title>
  <dc:subject>PptxGenJS Presentation</dc:subject>
  <dc:creator>Piamarta Formazione</dc:creator>
  <cp:lastModifiedBy>Piamarta Formazione</cp:lastModifiedBy>
  <cp:revision>1</cp:revision>
  <dcterms:created xsi:type="dcterms:W3CDTF">2026-09-03T10:26:05Z</dcterms:created>
  <dcterms:modified xsi:type="dcterms:W3CDTF">2026-09-03T10:26:05Z</dcterms:modified>
</cp:coreProperties>
</file>