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Apertura. Presentarsi e inquadrare: questo blocco dura 15 minuti nel percorso complessivo di 12 giornate. Il documento di base copre molto più di quanto entrerà in aula: qui vediamo solo il nucleo. Obiettivo del blocco: che i partecipanti smettano di pensare all'AI come 'una cosa nata con ChatGPT nel 2023' e capiscano cosa succede davvero quando premono invio su un assistente conversazionale.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Leggere gli obiettivi senza soffermarsi troppo: servono a dare al gruppo una mappa di quello che arriva, non un elenco da spiegare. Il quinto obiettivo del documento (perché il salto è avvenuto ora) entra qui solo come promemoria: nel blocco da 15' se ne dice una frase, il resto è per le domande.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 effetti indesiderati del confondere AI con 'ChatGPT e simili', dal §1 del documento. Primo: rende invisibile ciò che l'azienda già fa (filtro spam, lettura fatture, previsione domanda, controllo qualità). Secondo: confonde le aspettative — l'AI classica fa una cosa sola in modo prevedibile, la generativa fa molte cose senza garantire la stessa risposta due volte. Terzo: le regole europee sull'AI riguardano l'AI in senso ampio, non solo gli assistenti conversazionali — il tema si approfondisce nella giornata sulla normativa, ma la distinzione va posta qui.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Esempi da adattare con il referente tecnico Agritech: citare strumenti che l'azienda non usa indebolisce l'argomento. Filtro spam: nessuno ha scritto le regole, sono ricavate da esempi e si aggiornano ogni volta che qualcuno segnala un messaggio. Lettura fatture: riconoscimento ottico che estrae numero, data, importo — interessa amministrazione e acquisti. Previsione della domanda: stima da storico e stagionalità, la più diffusa nelle aziende industriali. Messaggio chiave: chi crede che l'AI sia arrivata nel 2023 pensa di partire da zero, quando invece parte da un'esperienza aziendale da valorizzare.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Mappa ridotta all'osso per l'aula, dal §2.2. Intelligenza artificiale: insieme più grande, etichetta dagli anni '50. Apprendimento automatico (machine learning): sistemi che ricavano le regole dai dati — qui sta la maggioranza dell'AI usata oggi in azienda. Apprendimento profondo (deep learning): reti neurali a molti strati, tratta immagini/suoni/testo libero. AI generativa: produce contenuto nuovo. Messaggio da portare a casa, non la nomenclatura: l'AI generativa è un ramo recente di una pianta molto più vecchia, e i due tipi convivranno in azienda invece di sostituirsi.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distinzione operativa da §2.3, l'unica che i partecipanti devono ricordare. AI non generativa: sceglie tra risposte già definite, lo spazio delle possibilità è deciso in anticipo da chi ha progettato il sistema. AI generativa: costruisce una risposta che non esisteva, non archiviata da nessuna parte — due domande identiche, due risposte diverse, entrambe legittime.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Tabella da §2.3. L'ultima riga è il motivo per cui esiste un corso di dodici giornate: con l'AI tradizionale il lavoro umano sta a monte, una volta sola, ed è lavoro da tecnici; con l'AI generativa il lavoro umano sta a valle, tutte le volte, ed è lavoro di chi la usa.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Bridge verso §2.5. In aula, in 15 minuti, di questa sezione entra una frase sola (vedi nota per il formatore, §8): non una scoperta improvvisa, ma quattro condizioni che a un certo punto si sono trovate insieme. Le reti neurali esistono da decenni; l'intelligenza artificiale come etichetta dagli anni '50. Nulla di tutto questo dice che la macchina abbia iniziato a pensare.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 §2.5. Architettura (2017, Attention Is All You Need, Google): il transformer è parallelizzabile, non 'più intelligente'; questo ha reso praticabile l'addestramento su grandi quantità di testo. Potenza di calcolo: le schede grafiche per videogiochi si sono rivelate lo strumento giusto, dai primi anni Dieci. Dati: quantità di testo digitalizzato cresciuta con il web. Scala: la constatazione empirica che aumentare dimensione, dati e calcolo insieme migliora i risultati in modo regolare — non era scontato, e ha convinto le aziende a investire cifre enormi. Precisazione da dare se richiesta: ciò che migliora in modo prevedibile è la capacità generale di prevedere il testo, non necessariamente il miglioramento su un compito specifico.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Punto chiave da §2.5: il salto tecnico e il salto percepito non coincidono. Nel 2020-2021 i grandi modelli esistevano già ed erano potenti, ma riservati a chi sapeva impostare il testo per un uso tecnico. Ciò che è cambiato con ChatGPT (30 novembre 2022) è l'insieme fra un addestramento a seguire istruzioni e una forma d'uso accessibile a chiunque: la conversazione. Conseguenza per l'azienda: la competenza che serve oggi non è informatica, è saper descrivere con precisione un compito che si conosce bene — motivo per cui il corso si rivolge agli uffici e non alla funzione informatica.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Frase da dire esattamente così, da §3.1: 'Un LLM è un sistema che, dato un testo, calcola quale sia la continuazione più plausibile e la produce un pezzo alla volta.' Tutto ciò che un assistente sa fare — rispondere, riassumere, tradurre, riscrivere — è quella singola operazione ripetuta migliaia di volte. Se qualcuno chiede perché sembra ragionare: per prevedere bene la continuazione bisogna aver colto moltissime regolarità del mondo, e questo produce un comportamento che assomiglia al ragionamento. Il sistema è ottimizzato per produrre risposte plausibili, non vere — nella maggioranza dei casi coincidono, ma quando non coincidono il sistema non se ne accorge.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 §3.3. Punto più utile per l'azienda: il modello non sa nulla di voi finché non glielo dite — memoria delle conversazioni, progetti con documenti, collegamenti agli archivi non aggiungono conoscenza al modello, gli mettono davanti testi al momento della richiesta (ancoraggio, si affronta più avanti). Data di aggiornamento: l'addestramento si ferma a un certo punto; il modello risponde comunque con la stessa sicurezza anche su ciò che non sa. Bias: le associazioni frequenti nei testi di addestramento ricompaiono nelle risposte, è un riflesso statistico non una scelta del sistema.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 §3.4. Pre-addestramento: fase lunga e costosa, il sistema impara a prevedere il token successivo su enormi quantità di testo; alla fine è bravissimo a continuare testo ma non è ancora un assistente. Ottimizzazione con esempi di istruzioni (instruction tuning): coppie richiesta-risposta insegnano il formato dello scambio. Allineamento tramite feedback: risposte confrontate e valutate da persone (e sempre più da altri modelli sotto supervisione umana) stabiliscono tono, cautele, rifiuti. Conseguenza per l'azienda: il comportamento di un assistente riflette scelte fatte da chi lo ha costruito — non esiste un assistente 'neutro'.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 §3.2. Il modello non lavora su parole intere ma su token, frammenti di testo: una parola breve e frequente vale spesso un solo token, una parola tecnica, un nome proprio o un codice articolo si spezza in più token. Ordine di grandezza puramente indicativo: in italiano una parola vale attorno a un token e mezzo, con variazioni ampie. L'italiano è meno efficiente dell'inglese non per la lunghezza delle parole ma perché i tokenizzatori sono costruiti su testi in larga prevalenza inglesi e frammentano di più tutte le altre lingue. Una pagina fitta si aggira attorno al migliaio di token, un capitolato di venti pagine attorno alle ventimila: stime grossolane, buone per farsi un'idea di scala, non per fare conti — il rapporto esatto dipende dallo strumento. Motivo per cui contano cinque minuti: i token misurano quanto testo il modello considera per volta (finestra di contesto) e quanto costa l'uso a consumo. Nei piani gratuiti o in abbonamento individuale i limiti sono invece espressi in messaggi per finestra temporale, e cambiano nel tempo: chi cercasse un contatore di token nel proprio piano non lo troverebbe. Oltre a questo i token non servono, non vale la pena andare oltre.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 §3.5. La scelta del token successivo non prende sempre il più probabile: un parametro chiamato temperatura introduce un margine di casualità, non modificabile dall'utente nelle interfacce comuni. Non è un'incoerenza né un malfunzionamento: prendere sempre il token più probabile produce testi rigidi e ripetitivi. Su domande brevi e fattuali la risposta risulta spesso identica. Conseguenza pratica: sulla riproducibilità di un LLM non si può contare — se un'attività richiede che lo stesso input dia sempre lo stesso risultato, un assistente conversazionale non è lo strumento adatto, o va usato dentro controlli che ne verifichino l'esito.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 §6, le convinzioni che ricorrono con regolarità in aula, intercettate qui perché non tornino più. 1) 'Arrivata con ChatGPT' — è da decenni, il cambiamento è nell'accesso. 2) 'Se sbaglia è difettoso' — sbagliare è una proprietà statistica del sistema, non un guasto; il metro è 'sbaglia abbastanza poco da farmi risparmiare tempo netto'. 3) 'Risposta diversa da ieri = non affidabile' — la variabilità è progettata, va distinta dall'inaffidabilità. 4) 'Cerca su internet' — solo se lo strumento ha quella funzione attiva; altrimenti ricostruisce dalla propria conoscenza, ferma alla data di aggiornamento. Ce ne sono altre nel documento (dati in pasto all'AI, impara da solo) da usare se emergono domande.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 §4, il legame verso il resto del percorso, senza svilupparlo: ciascun punto avrà il suo spazio più avanti. Allucinazione → si gestisce verificando, non delegando il controllo allo strumento. Contesto → tecnica del prompt. Riservatezza → giornata dedicata alla normativa. Non riproducibile e non calcolatore → non tutti i compiti sono suoi; gran parte del percorso è riconoscere quali sì e quali 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hyperlink" Target="https://colab.research.google.com/drive/14E3g-S2iKQTzHWlD-hQTL0qShl8IS3Po?usp=sharing" TargetMode="External"/><Relationship Id="rId2" Type="http://schemas.openxmlformats.org/officeDocument/2006/relationships/hyperlink" Target="https://colab.research.google.com/drive/1ie8wR6purmeU4SyHpt_zNitSoJ8VtGAQ?usp=sharing#scrollTo=58UteImxdo-T" TargetMode="External"/><Relationship Id="rId3" Type="http://schemas.openxmlformats.org/officeDocument/2006/relationships/image" Target="../media/image-14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3C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500" y="3447455"/>
            <a:ext cx="17183100" cy="3732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548"/>
              </a:lnSpc>
              <a:buNone/>
            </a:pPr>
            <a:r>
              <a:rPr lang="en-US" sz="1650" b="1" spc="132" kern="0" dirty="0">
                <a:solidFill>
                  <a:srgbClr val="7FD4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GIORNATA 1 · APERTURA DEL PERCORSO · AGRITECH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333500" y="4049316"/>
            <a:ext cx="14716125" cy="14034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9644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 cos'è l'intelligenza artificiale, e come funziona un modello linguistico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1333500" y="5681365"/>
            <a:ext cx="11772900" cy="1196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1395"/>
              </a:lnSpc>
              <a:buNone/>
            </a:pPr>
            <a:r>
              <a:rPr lang="en-US" sz="2850" dirty="0">
                <a:solidFill>
                  <a:srgbClr val="FFFFFF">
                    <a:alpha val="7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Cosa distingue l'AI generativa da quella che avete già in azienda, e cosa succede davvero quando premono invio</a:t>
            </a:r>
            <a:endParaRPr lang="en-US" sz="28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9448800"/>
            <a:ext cx="534888" cy="4191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39788" y="9505950"/>
            <a:ext cx="198893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9130"/>
              </a:lnSpc>
              <a:buNone/>
            </a:pPr>
            <a:r>
              <a:rPr lang="en-US" sz="1500" b="1" dirty="0">
                <a:solidFill>
                  <a:srgbClr val="FFFFFF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AFGP · Formazione AI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14220825" y="9344025"/>
            <a:ext cx="3231505" cy="476250"/>
          </a:xfrm>
          <a:prstGeom prst="roundRect">
            <a:avLst>
              <a:gd name="adj" fmla="val 50000"/>
            </a:avLst>
          </a:prstGeom>
          <a:ln w="9525">
            <a:solidFill>
              <a:srgbClr val="FFFFFF">
                <a:alpha val="32000"/>
              </a:srgbClr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439900" y="9477375"/>
            <a:ext cx="209550" cy="20955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763750" y="9467850"/>
            <a:ext cx="254570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1176"/>
              </a:lnSpc>
              <a:buNone/>
            </a:pPr>
            <a:r>
              <a:rPr lang="en-US" sz="1125" b="1" spc="45" kern="0" dirty="0">
                <a:solidFill>
                  <a:srgbClr val="FFFFFF">
                    <a:alpha val="7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GENERATO CON IL SUPPORTO DELL'AI</a:t>
            </a:r>
            <a:endParaRPr lang="en-US" sz="112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8021300" cy="3732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548"/>
              </a:lnSpc>
              <a:buNone/>
            </a:pPr>
            <a:r>
              <a:rPr lang="en-US" sz="1650" b="1" spc="132" kern="0" dirty="0">
                <a:solidFill>
                  <a:srgbClr val="0E8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QUESTO BLOCCO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52500" y="1382911"/>
            <a:ext cx="18021300" cy="5418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1385"/>
              </a:lnSpc>
              <a:buNone/>
            </a:pPr>
            <a:r>
              <a:rPr lang="en-US" sz="3450" b="1" dirty="0">
                <a:solidFill>
                  <a:srgbClr val="1F56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Cosa portate via da questi 15 minuti</a:t>
            </a:r>
            <a:endParaRPr lang="en-US" sz="3450" dirty="0"/>
          </a:p>
        </p:txBody>
      </p:sp>
      <p:sp>
        <p:nvSpPr>
          <p:cNvPr id="4" name="Text 2"/>
          <p:cNvSpPr/>
          <p:nvPr/>
        </p:nvSpPr>
        <p:spPr>
          <a:xfrm>
            <a:off x="952500" y="2420094"/>
            <a:ext cx="742950" cy="73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231"/>
              </a:lnSpc>
              <a:buNone/>
            </a:pPr>
            <a:r>
              <a:rPr lang="en-US" sz="3450" b="1" dirty="0">
                <a:solidFill>
                  <a:srgbClr val="0E8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450" dirty="0"/>
          </a:p>
        </p:txBody>
      </p:sp>
      <p:sp>
        <p:nvSpPr>
          <p:cNvPr id="5" name="Text 3"/>
          <p:cNvSpPr/>
          <p:nvPr/>
        </p:nvSpPr>
        <p:spPr>
          <a:xfrm>
            <a:off x="1885950" y="2477244"/>
            <a:ext cx="12415198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353"/>
              </a:lnSpc>
              <a:buNone/>
            </a:pPr>
            <a:r>
              <a:rPr lang="en-US" sz="22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Distinguere l'AI in senso ampio dall'AI generativa — e riconoscere che la prima è già in azienda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952500" y="3368725"/>
            <a:ext cx="742950" cy="73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231"/>
              </a:lnSpc>
              <a:buNone/>
            </a:pPr>
            <a:r>
              <a:rPr lang="en-US" sz="3450" b="1" dirty="0">
                <a:solidFill>
                  <a:srgbClr val="0E8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450" dirty="0"/>
          </a:p>
        </p:txBody>
      </p:sp>
      <p:sp>
        <p:nvSpPr>
          <p:cNvPr id="7" name="Text 5"/>
          <p:cNvSpPr/>
          <p:nvPr/>
        </p:nvSpPr>
        <p:spPr>
          <a:xfrm>
            <a:off x="1885950" y="3425875"/>
            <a:ext cx="10471749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353"/>
              </a:lnSpc>
              <a:buNone/>
            </a:pPr>
            <a:r>
              <a:rPr lang="en-US" sz="22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Spiegare in una frase cosa fa un modello linguistico quando genera una risposta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952500" y="4317355"/>
            <a:ext cx="742950" cy="73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231"/>
              </a:lnSpc>
              <a:buNone/>
            </a:pPr>
            <a:r>
              <a:rPr lang="en-US" sz="3450" b="1" dirty="0">
                <a:solidFill>
                  <a:srgbClr val="0E8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450" dirty="0"/>
          </a:p>
        </p:txBody>
      </p:sp>
      <p:sp>
        <p:nvSpPr>
          <p:cNvPr id="9" name="Text 7"/>
          <p:cNvSpPr/>
          <p:nvPr/>
        </p:nvSpPr>
        <p:spPr>
          <a:xfrm>
            <a:off x="1885950" y="4374505"/>
            <a:ext cx="11024217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353"/>
              </a:lnSpc>
              <a:buNone/>
            </a:pPr>
            <a:r>
              <a:rPr lang="en-US" sz="22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Capire da dove viene ciò che il modello "sa", e perché ha una data di aggiornamento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952500" y="5265986"/>
            <a:ext cx="742950" cy="73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231"/>
              </a:lnSpc>
              <a:buNone/>
            </a:pPr>
            <a:r>
              <a:rPr lang="en-US" sz="3450" b="1" dirty="0">
                <a:solidFill>
                  <a:srgbClr val="0E8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3450" dirty="0"/>
          </a:p>
        </p:txBody>
      </p:sp>
      <p:sp>
        <p:nvSpPr>
          <p:cNvPr id="11" name="Text 9"/>
          <p:cNvSpPr/>
          <p:nvPr/>
        </p:nvSpPr>
        <p:spPr>
          <a:xfrm>
            <a:off x="1885950" y="5323136"/>
            <a:ext cx="10912773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353"/>
              </a:lnSpc>
              <a:buNone/>
            </a:pPr>
            <a:r>
              <a:rPr lang="en-US" sz="22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Ricondurre i comportamenti anomali al funzionamento del modello, non a un guasto</a:t>
            </a:r>
            <a:endParaRPr lang="en-US" sz="225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9572625"/>
            <a:ext cx="364778" cy="28575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469678" y="9563100"/>
            <a:ext cx="198893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9130"/>
              </a:lnSpc>
              <a:buNone/>
            </a:pPr>
            <a:r>
              <a:rPr lang="en-US" sz="15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AFGP · Formazione AI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17123569" y="9563100"/>
            <a:ext cx="28813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9130"/>
              </a:lnSpc>
              <a:buNone/>
            </a:pPr>
            <a:r>
              <a:rPr lang="en-US" sz="15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8021300" cy="3732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548"/>
              </a:lnSpc>
              <a:buNone/>
            </a:pPr>
            <a:r>
              <a:rPr lang="en-US" sz="1650" b="1" spc="132" kern="0" dirty="0">
                <a:solidFill>
                  <a:srgbClr val="0E8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PUNTO DI PARTENZA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52500" y="1382911"/>
            <a:ext cx="18021300" cy="5418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1385"/>
              </a:lnSpc>
              <a:buNone/>
            </a:pPr>
            <a:r>
              <a:rPr lang="en-US" sz="3450" b="1" dirty="0">
                <a:solidFill>
                  <a:srgbClr val="1F56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"Intelligenza artificiale" non vuol dire solo ChatGPT</a:t>
            </a:r>
            <a:endParaRPr lang="en-US" sz="3450" dirty="0"/>
          </a:p>
        </p:txBody>
      </p:sp>
      <p:sp>
        <p:nvSpPr>
          <p:cNvPr id="4" name="Shape 2"/>
          <p:cNvSpPr/>
          <p:nvPr/>
        </p:nvSpPr>
        <p:spPr>
          <a:xfrm>
            <a:off x="952500" y="2496294"/>
            <a:ext cx="5257800" cy="3441204"/>
          </a:xfrm>
          <a:prstGeom prst="roundRect">
            <a:avLst>
              <a:gd name="adj" fmla="val 2214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2915394"/>
            <a:ext cx="5029200" cy="73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296"/>
              </a:lnSpc>
              <a:buNone/>
            </a:pPr>
            <a:r>
              <a:rPr lang="en-US" sz="34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👁</a:t>
            </a:r>
            <a:endParaRPr lang="en-US" sz="3450" dirty="0"/>
          </a:p>
        </p:txBody>
      </p:sp>
      <p:sp>
        <p:nvSpPr>
          <p:cNvPr id="6" name="Text 4"/>
          <p:cNvSpPr/>
          <p:nvPr/>
        </p:nvSpPr>
        <p:spPr>
          <a:xfrm>
            <a:off x="1295400" y="3806875"/>
            <a:ext cx="5029200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00" b="1" dirty="0">
                <a:solidFill>
                  <a:srgbClr val="1F56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 invisibile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295400" y="4366915"/>
            <a:ext cx="4709160" cy="11895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Ciò che l'azienda usa già da anni — filtro spam, lettura fatture, previsione della domanda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6515100" y="2496294"/>
            <a:ext cx="5257800" cy="3441204"/>
          </a:xfrm>
          <a:prstGeom prst="roundRect">
            <a:avLst>
              <a:gd name="adj" fmla="val 2214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0" y="2915394"/>
            <a:ext cx="5029200" cy="73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296"/>
              </a:lnSpc>
              <a:buNone/>
            </a:pPr>
            <a:r>
              <a:rPr lang="en-US" sz="34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⚖</a:t>
            </a:r>
            <a:endParaRPr lang="en-US" sz="3450" dirty="0"/>
          </a:p>
        </p:txBody>
      </p:sp>
      <p:sp>
        <p:nvSpPr>
          <p:cNvPr id="10" name="Text 8"/>
          <p:cNvSpPr/>
          <p:nvPr/>
        </p:nvSpPr>
        <p:spPr>
          <a:xfrm>
            <a:off x="6858000" y="3806875"/>
            <a:ext cx="5029200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00" b="1" dirty="0">
                <a:solidFill>
                  <a:srgbClr val="1F56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Confonde le aspettative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6858000" y="4366915"/>
            <a:ext cx="4709160" cy="11895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L'AI classica è prevedibile e ripetibile; la generativa non garantisce la stessa risposta due volte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12077700" y="2496294"/>
            <a:ext cx="5257800" cy="3441204"/>
          </a:xfrm>
          <a:prstGeom prst="roundRect">
            <a:avLst>
              <a:gd name="adj" fmla="val 2214"/>
            </a:avLst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12420600" y="2915394"/>
            <a:ext cx="5029200" cy="73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296"/>
              </a:lnSpc>
              <a:buNone/>
            </a:pPr>
            <a:r>
              <a:rPr lang="en-US" sz="34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</a:t>
            </a:r>
            <a:endParaRPr lang="en-US" sz="3450" dirty="0"/>
          </a:p>
        </p:txBody>
      </p:sp>
      <p:sp>
        <p:nvSpPr>
          <p:cNvPr id="14" name="Text 12"/>
          <p:cNvSpPr/>
          <p:nvPr/>
        </p:nvSpPr>
        <p:spPr>
          <a:xfrm>
            <a:off x="12420600" y="3806875"/>
            <a:ext cx="5029200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00" b="1" dirty="0">
                <a:solidFill>
                  <a:srgbClr val="1F56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Riguarda gli obblighi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12420600" y="4366915"/>
            <a:ext cx="4709160" cy="11895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regole europee si applicano all'AI in senso ampio, anche a strumenti mai catalogati come tali</a:t>
            </a:r>
            <a:endParaRPr lang="en-US" sz="195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9572625"/>
            <a:ext cx="364778" cy="28575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469678" y="9563100"/>
            <a:ext cx="198893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9130"/>
              </a:lnSpc>
              <a:buNone/>
            </a:pPr>
            <a:r>
              <a:rPr lang="en-US" sz="15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AFGP · Formazione AI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17123569" y="9563100"/>
            <a:ext cx="28813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9130"/>
              </a:lnSpc>
              <a:buNone/>
            </a:pPr>
            <a:r>
              <a:rPr lang="en-US" sz="15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8021300" cy="3732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548"/>
              </a:lnSpc>
              <a:buNone/>
            </a:pPr>
            <a:r>
              <a:rPr lang="en-US" sz="1650" b="1" spc="132" kern="0" dirty="0">
                <a:solidFill>
                  <a:srgbClr val="0E8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 È UNA NOVITÀ DEL 2023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52500" y="1382911"/>
            <a:ext cx="18021300" cy="5418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1385"/>
              </a:lnSpc>
              <a:buNone/>
            </a:pPr>
            <a:r>
              <a:rPr lang="en-US" sz="3450" b="1" dirty="0">
                <a:solidFill>
                  <a:srgbClr val="1F56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L'AI che avete già, senza chiamarla così</a:t>
            </a:r>
            <a:endParaRPr lang="en-US" sz="3450" dirty="0"/>
          </a:p>
        </p:txBody>
      </p:sp>
      <p:sp>
        <p:nvSpPr>
          <p:cNvPr id="4" name="Shape 2"/>
          <p:cNvSpPr/>
          <p:nvPr/>
        </p:nvSpPr>
        <p:spPr>
          <a:xfrm>
            <a:off x="952500" y="2496294"/>
            <a:ext cx="5257800" cy="3112294"/>
          </a:xfrm>
          <a:prstGeom prst="roundRect">
            <a:avLst>
              <a:gd name="adj" fmla="val 2448"/>
            </a:avLst>
          </a:prstGeom>
          <a:solidFill>
            <a:srgbClr val="F4F6F9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2915394"/>
            <a:ext cx="470916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286"/>
              </a:lnSpc>
              <a:buNone/>
            </a:pPr>
            <a:r>
              <a:rPr lang="en-US" sz="2250" b="1" dirty="0">
                <a:solidFill>
                  <a:srgbClr val="1F56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Filtro della posta indesiderata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1295400" y="3544044"/>
            <a:ext cx="4709160" cy="16835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9355"/>
              </a:lnSpc>
              <a:buNone/>
            </a:pPr>
            <a:r>
              <a:rPr lang="en-US" sz="20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Nessuno ha scritto le regole per riconoscere un messaggio truffaldino: sono ricavate da milioni di esempi già classificati</a:t>
            </a:r>
            <a:endParaRPr lang="en-US" sz="2025" dirty="0"/>
          </a:p>
        </p:txBody>
      </p:sp>
      <p:sp>
        <p:nvSpPr>
          <p:cNvPr id="7" name="Shape 5"/>
          <p:cNvSpPr/>
          <p:nvPr/>
        </p:nvSpPr>
        <p:spPr>
          <a:xfrm>
            <a:off x="6515100" y="2496294"/>
            <a:ext cx="5257800" cy="3112294"/>
          </a:xfrm>
          <a:prstGeom prst="roundRect">
            <a:avLst>
              <a:gd name="adj" fmla="val 2448"/>
            </a:avLst>
          </a:prstGeom>
          <a:solidFill>
            <a:srgbClr val="F4F6F9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0" y="2915394"/>
            <a:ext cx="470916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286"/>
              </a:lnSpc>
              <a:buNone/>
            </a:pPr>
            <a:r>
              <a:rPr lang="en-US" sz="2250" b="1" dirty="0">
                <a:solidFill>
                  <a:srgbClr val="1F56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Lettura automatica dei documenti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6858000" y="3544044"/>
            <a:ext cx="4709160" cy="12721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9355"/>
              </a:lnSpc>
              <a:buNone/>
            </a:pPr>
            <a:r>
              <a:rPr lang="en-US" sz="20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Estrae numero, data e importo da una fattura scansionata e li scrive nel gestionale</a:t>
            </a:r>
            <a:endParaRPr lang="en-US" sz="2025" dirty="0"/>
          </a:p>
        </p:txBody>
      </p:sp>
      <p:sp>
        <p:nvSpPr>
          <p:cNvPr id="10" name="Shape 8"/>
          <p:cNvSpPr/>
          <p:nvPr/>
        </p:nvSpPr>
        <p:spPr>
          <a:xfrm>
            <a:off x="12077700" y="2496294"/>
            <a:ext cx="5257800" cy="3112294"/>
          </a:xfrm>
          <a:prstGeom prst="roundRect">
            <a:avLst>
              <a:gd name="adj" fmla="val 2448"/>
            </a:avLst>
          </a:prstGeom>
          <a:solidFill>
            <a:srgbClr val="F4F6F9"/>
          </a:solidFill>
          <a:ln/>
        </p:spPr>
      </p:sp>
      <p:sp>
        <p:nvSpPr>
          <p:cNvPr id="11" name="Text 9"/>
          <p:cNvSpPr/>
          <p:nvPr/>
        </p:nvSpPr>
        <p:spPr>
          <a:xfrm>
            <a:off x="12420600" y="2915394"/>
            <a:ext cx="470916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286"/>
              </a:lnSpc>
              <a:buNone/>
            </a:pPr>
            <a:r>
              <a:rPr lang="en-US" sz="2250" b="1" dirty="0">
                <a:solidFill>
                  <a:srgbClr val="1F56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Previsione della domanda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12420600" y="3544044"/>
            <a:ext cx="4709160" cy="8608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9355"/>
              </a:lnSpc>
              <a:buNone/>
            </a:pPr>
            <a:r>
              <a:rPr lang="en-US" sz="20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Stima quanto servirà di un articolo sulla base di storico e stagionalità</a:t>
            </a:r>
            <a:endParaRPr lang="en-US" sz="2025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9572625"/>
            <a:ext cx="364778" cy="28575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469678" y="9563100"/>
            <a:ext cx="198893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9130"/>
              </a:lnSpc>
              <a:buNone/>
            </a:pPr>
            <a:r>
              <a:rPr lang="en-US" sz="15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AFGP · Formazione AI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17123569" y="9563100"/>
            <a:ext cx="28813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9130"/>
              </a:lnSpc>
              <a:buNone/>
            </a:pPr>
            <a:r>
              <a:rPr lang="en-US" sz="15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8021300" cy="3732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548"/>
              </a:lnSpc>
              <a:buNone/>
            </a:pPr>
            <a:r>
              <a:rPr lang="en-US" sz="1650" b="1" spc="132" kern="0" dirty="0">
                <a:solidFill>
                  <a:srgbClr val="0E8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MAPPA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52500" y="1382911"/>
            <a:ext cx="18021300" cy="5418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1385"/>
              </a:lnSpc>
              <a:buNone/>
            </a:pPr>
            <a:r>
              <a:rPr lang="en-US" sz="3450" b="1" dirty="0">
                <a:solidFill>
                  <a:srgbClr val="1F56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Quattro cerchi, uno dentro l'altro</a:t>
            </a:r>
            <a:endParaRPr lang="en-US" sz="3450" dirty="0"/>
          </a:p>
        </p:txBody>
      </p:sp>
      <p:sp>
        <p:nvSpPr>
          <p:cNvPr id="4" name="Shape 2"/>
          <p:cNvSpPr/>
          <p:nvPr/>
        </p:nvSpPr>
        <p:spPr>
          <a:xfrm>
            <a:off x="4667250" y="2077194"/>
            <a:ext cx="8953500" cy="6667500"/>
          </a:xfrm>
          <a:prstGeom prst="roundRect">
            <a:avLst>
              <a:gd name="adj" fmla="val 50000"/>
            </a:avLst>
          </a:prstGeom>
          <a:solidFill>
            <a:srgbClr val="143C6E"/>
          </a:solidFill>
          <a:ln/>
        </p:spPr>
      </p:sp>
      <p:sp>
        <p:nvSpPr>
          <p:cNvPr id="5" name="Text 3"/>
          <p:cNvSpPr/>
          <p:nvPr/>
        </p:nvSpPr>
        <p:spPr>
          <a:xfrm>
            <a:off x="7906048" y="2496294"/>
            <a:ext cx="2551956" cy="6286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Intelligenza artificiale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5905500" y="3315444"/>
            <a:ext cx="6477000" cy="5429250"/>
          </a:xfrm>
          <a:prstGeom prst="ellipse">
            <a:avLst/>
          </a:prstGeom>
          <a:solidFill>
            <a:srgbClr val="1F569E"/>
          </a:solidFill>
          <a:ln/>
        </p:spPr>
      </p:sp>
      <p:sp>
        <p:nvSpPr>
          <p:cNvPr id="7" name="Text 5"/>
          <p:cNvSpPr/>
          <p:nvPr/>
        </p:nvSpPr>
        <p:spPr>
          <a:xfrm>
            <a:off x="7664053" y="3696444"/>
            <a:ext cx="3048691" cy="5086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432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Apprendimento automatico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7143750" y="4553694"/>
            <a:ext cx="4000500" cy="4191000"/>
          </a:xfrm>
          <a:prstGeom prst="ellipse">
            <a:avLst/>
          </a:prstGeom>
          <a:solidFill>
            <a:srgbClr val="3D7BC0"/>
          </a:solidFill>
          <a:ln/>
        </p:spPr>
      </p:sp>
      <p:sp>
        <p:nvSpPr>
          <p:cNvPr id="9" name="Text 7"/>
          <p:cNvSpPr/>
          <p:nvPr/>
        </p:nvSpPr>
        <p:spPr>
          <a:xfrm>
            <a:off x="7885807" y="4896594"/>
            <a:ext cx="2592586" cy="388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364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Apprendimento profondo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382000" y="5791944"/>
            <a:ext cx="1524000" cy="2952750"/>
          </a:xfrm>
          <a:prstGeom prst="roundRect">
            <a:avLst>
              <a:gd name="adj" fmla="val 50000"/>
            </a:avLst>
          </a:prstGeom>
          <a:solidFill>
            <a:srgbClr val="0E8A82"/>
          </a:solidFill>
          <a:ln/>
        </p:spPr>
      </p:sp>
      <p:sp>
        <p:nvSpPr>
          <p:cNvPr id="11" name="Text 9"/>
          <p:cNvSpPr/>
          <p:nvPr/>
        </p:nvSpPr>
        <p:spPr>
          <a:xfrm>
            <a:off x="8572054" y="6902648"/>
            <a:ext cx="1143744" cy="7694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6364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generativa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33350" y="8744694"/>
            <a:ext cx="18021300" cy="4037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7143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L'AI generativa è un ramo recente di una pianta molto più vecchia</a:t>
            </a:r>
            <a:endParaRPr lang="en-US" sz="18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9572625"/>
            <a:ext cx="364778" cy="28575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469678" y="9563100"/>
            <a:ext cx="198893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9130"/>
              </a:lnSpc>
              <a:buNone/>
            </a:pPr>
            <a:r>
              <a:rPr lang="en-US" sz="15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AFGP · Formazione AI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17123569" y="9563100"/>
            <a:ext cx="28813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9130"/>
              </a:lnSpc>
              <a:buNone/>
            </a:pPr>
            <a:r>
              <a:rPr lang="en-US" sz="15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8021300" cy="3732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548"/>
              </a:lnSpc>
              <a:buNone/>
            </a:pPr>
            <a:r>
              <a:rPr lang="en-US" sz="1650" b="1" spc="132" kern="0" dirty="0">
                <a:solidFill>
                  <a:srgbClr val="0E8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DIFFERENZA CHE CONTA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52500" y="1382911"/>
            <a:ext cx="18021300" cy="5418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1385"/>
              </a:lnSpc>
              <a:buNone/>
            </a:pPr>
            <a:r>
              <a:rPr lang="en-US" sz="3450" b="1" dirty="0">
                <a:solidFill>
                  <a:srgbClr val="1F56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Riconoscere una risposta, o costruirla</a:t>
            </a:r>
            <a:endParaRPr lang="en-US" sz="3450" dirty="0"/>
          </a:p>
        </p:txBody>
      </p:sp>
      <p:sp>
        <p:nvSpPr>
          <p:cNvPr id="4" name="Shape 2"/>
          <p:cNvSpPr/>
          <p:nvPr/>
        </p:nvSpPr>
        <p:spPr>
          <a:xfrm>
            <a:off x="952500" y="2458194"/>
            <a:ext cx="8001000" cy="4099322"/>
          </a:xfrm>
          <a:prstGeom prst="roundRect">
            <a:avLst>
              <a:gd name="adj" fmla="val 1859"/>
            </a:avLst>
          </a:prstGeom>
          <a:solidFill>
            <a:srgbClr val="F4F6F9"/>
          </a:solidFill>
          <a:ln/>
        </p:spPr>
      </p:sp>
      <p:sp>
        <p:nvSpPr>
          <p:cNvPr id="5" name="Text 3"/>
          <p:cNvSpPr/>
          <p:nvPr/>
        </p:nvSpPr>
        <p:spPr>
          <a:xfrm>
            <a:off x="1409700" y="2953494"/>
            <a:ext cx="7795260" cy="5256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778"/>
              </a:lnSpc>
              <a:buNone/>
            </a:pPr>
            <a:r>
              <a:rPr lang="en-US" sz="2400" b="1" dirty="0">
                <a:solidFill>
                  <a:srgbClr val="1F56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non generativa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409700" y="3669655"/>
            <a:ext cx="7299198" cy="1409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1176"/>
              </a:lnSpc>
              <a:buNone/>
            </a:pPr>
            <a:r>
              <a:rPr lang="en-US" sz="22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Sceglie tra risposte già definite. Lo spazio delle possibilità è deciso in anticipo da chi ha progettato il sistema.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1409700" y="5269855"/>
            <a:ext cx="7299198" cy="830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194"/>
              </a:lnSpc>
              <a:buNone/>
            </a:pPr>
            <a:r>
              <a:rPr lang="en-US" sz="1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Es. antispam: indesiderata o no. Lettura fatture: quale numero è l'imponibile.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9334500" y="2458194"/>
            <a:ext cx="8001000" cy="4099322"/>
          </a:xfrm>
          <a:prstGeom prst="roundRect">
            <a:avLst>
              <a:gd name="adj" fmla="val 1859"/>
            </a:avLst>
          </a:prstGeom>
          <a:solidFill>
            <a:srgbClr val="143C6E"/>
          </a:solidFill>
          <a:ln/>
        </p:spPr>
      </p:sp>
      <p:sp>
        <p:nvSpPr>
          <p:cNvPr id="9" name="Text 7"/>
          <p:cNvSpPr/>
          <p:nvPr/>
        </p:nvSpPr>
        <p:spPr>
          <a:xfrm>
            <a:off x="9791700" y="2953494"/>
            <a:ext cx="7795260" cy="5256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778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generativa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9791700" y="3669655"/>
            <a:ext cx="7299198" cy="1409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1176"/>
              </a:lnSpc>
              <a:buNone/>
            </a:pPr>
            <a:r>
              <a:rPr lang="en-US" sz="225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Costruisce una risposta che non esisteva. Non è archiviata da nessuna parte, non sceglie fra opzioni predefinite.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9791700" y="5269855"/>
            <a:ext cx="7299198" cy="830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194"/>
              </a:lnSpc>
              <a:buNone/>
            </a:pPr>
            <a:r>
              <a:rPr lang="en-US" sz="1950" dirty="0">
                <a:solidFill>
                  <a:srgbClr val="FFFFFF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Stessa domanda posta due volte → due testi diversi, entrambi legittimi.</a:t>
            </a:r>
            <a:endParaRPr lang="en-US" sz="195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9572625"/>
            <a:ext cx="364778" cy="28575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469678" y="9563100"/>
            <a:ext cx="198893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9130"/>
              </a:lnSpc>
              <a:buNone/>
            </a:pPr>
            <a:r>
              <a:rPr lang="en-US" sz="15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AFGP · Formazione AI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17123569" y="9563100"/>
            <a:ext cx="28813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9130"/>
              </a:lnSpc>
              <a:buNone/>
            </a:pPr>
            <a:r>
              <a:rPr lang="en-US" sz="15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8021300" cy="3732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548"/>
              </a:lnSpc>
              <a:buNone/>
            </a:pPr>
            <a:r>
              <a:rPr lang="en-US" sz="1650" b="1" spc="132" kern="0" dirty="0">
                <a:solidFill>
                  <a:srgbClr val="0E8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DUE FAMIGLIE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52500" y="1382911"/>
            <a:ext cx="18021300" cy="5418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1385"/>
              </a:lnSpc>
              <a:buNone/>
            </a:pPr>
            <a:r>
              <a:rPr lang="en-US" sz="3450" b="1" dirty="0">
                <a:solidFill>
                  <a:srgbClr val="1F56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Cosa cambia nel lavoro quotidiano</a:t>
            </a:r>
            <a:endParaRPr lang="en-US" sz="3450" dirty="0"/>
          </a:p>
        </p:txBody>
      </p:sp>
      <p:sp>
        <p:nvSpPr>
          <p:cNvPr id="4" name="Shape 2"/>
          <p:cNvSpPr/>
          <p:nvPr/>
        </p:nvSpPr>
        <p:spPr>
          <a:xfrm>
            <a:off x="952500" y="2381994"/>
            <a:ext cx="4855666" cy="815280"/>
          </a:xfrm>
          <a:custGeom>
            <a:avLst/>
            <a:gdLst/>
            <a:ahLst/>
            <a:cxnLst/>
            <a:rect l="l" t="t" r="r" b="b"/>
            <a:pathLst>
              <a:path w="4855666" h="815280">
                <a:moveTo>
                  <a:pt x="57150" y="0"/>
                </a:moveTo>
                <a:lnTo>
                  <a:pt x="4855666" y="0"/>
                </a:lnTo>
                <a:lnTo>
                  <a:pt x="4855666" y="815280"/>
                </a:lnTo>
                <a:lnTo>
                  <a:pt x="0" y="815280"/>
                </a:lnTo>
                <a:lnTo>
                  <a:pt x="0" y="57150"/>
                </a:lnTo>
                <a:arcTo hR="57150" wR="57150" stAng="10800000" swAng="5400000"/>
                <a:close/>
              </a:path>
            </a:pathLst>
          </a:custGeom>
          <a:solidFill>
            <a:srgbClr val="1F569E"/>
          </a:solidFill>
          <a:ln/>
        </p:spPr>
      </p:sp>
      <p:sp>
        <p:nvSpPr>
          <p:cNvPr id="5" name="Text 3"/>
          <p:cNvSpPr/>
          <p:nvPr/>
        </p:nvSpPr>
        <p:spPr>
          <a:xfrm>
            <a:off x="1219200" y="2591544"/>
            <a:ext cx="4467936" cy="434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4194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Dimensione</a:t>
            </a:r>
            <a:endParaRPr lang="en-US" sz="1950" dirty="0"/>
          </a:p>
        </p:txBody>
      </p:sp>
      <p:sp>
        <p:nvSpPr>
          <p:cNvPr id="6" name="Shape 4"/>
          <p:cNvSpPr/>
          <p:nvPr/>
        </p:nvSpPr>
        <p:spPr>
          <a:xfrm>
            <a:off x="5808166" y="2381994"/>
            <a:ext cx="5397550" cy="815280"/>
          </a:xfrm>
          <a:prstGeom prst="rect">
            <a:avLst/>
          </a:prstGeom>
          <a:solidFill>
            <a:srgbClr val="1F569E"/>
          </a:solidFill>
          <a:ln/>
        </p:spPr>
      </p:sp>
      <p:sp>
        <p:nvSpPr>
          <p:cNvPr id="7" name="Text 5"/>
          <p:cNvSpPr/>
          <p:nvPr/>
        </p:nvSpPr>
        <p:spPr>
          <a:xfrm>
            <a:off x="6074866" y="2591544"/>
            <a:ext cx="5026076" cy="434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4194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non generativa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11205716" y="2381994"/>
            <a:ext cx="6129784" cy="815280"/>
          </a:xfrm>
          <a:custGeom>
            <a:avLst/>
            <a:gdLst/>
            <a:ahLst/>
            <a:cxnLst/>
            <a:rect l="l" t="t" r="r" b="b"/>
            <a:pathLst>
              <a:path w="6129784" h="815280">
                <a:moveTo>
                  <a:pt x="0" y="0"/>
                </a:moveTo>
                <a:lnTo>
                  <a:pt x="6072634" y="0"/>
                </a:lnTo>
                <a:arcTo hR="57150" wR="57150" stAng="16200000" swAng="5400000"/>
                <a:lnTo>
                  <a:pt x="6129784" y="815280"/>
                </a:lnTo>
                <a:lnTo>
                  <a:pt x="0" y="815280"/>
                </a:lnTo>
                <a:lnTo>
                  <a:pt x="0" y="0"/>
                </a:lnTo>
                <a:close/>
              </a:path>
            </a:pathLst>
          </a:custGeom>
          <a:solidFill>
            <a:srgbClr val="1F569E"/>
          </a:solidFill>
          <a:ln/>
        </p:spPr>
      </p:sp>
      <p:sp>
        <p:nvSpPr>
          <p:cNvPr id="9" name="Text 7"/>
          <p:cNvSpPr/>
          <p:nvPr/>
        </p:nvSpPr>
        <p:spPr>
          <a:xfrm>
            <a:off x="11472416" y="2591544"/>
            <a:ext cx="5780278" cy="434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4194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generativa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952500" y="4007793"/>
            <a:ext cx="4855666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1" name="Text 9"/>
          <p:cNvSpPr/>
          <p:nvPr/>
        </p:nvSpPr>
        <p:spPr>
          <a:xfrm>
            <a:off x="1219200" y="3406825"/>
            <a:ext cx="4467936" cy="4295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4194"/>
              </a:lnSpc>
              <a:buNone/>
            </a:pPr>
            <a:r>
              <a:rPr lang="en-US" sz="1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Stesso input, output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5808166" y="3197275"/>
            <a:ext cx="5397550" cy="82004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5808166" y="4007793"/>
            <a:ext cx="5397550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4" name="Text 12"/>
          <p:cNvSpPr/>
          <p:nvPr/>
        </p:nvSpPr>
        <p:spPr>
          <a:xfrm>
            <a:off x="6074866" y="3406825"/>
            <a:ext cx="5026076" cy="4295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4194"/>
              </a:lnSpc>
              <a:buNone/>
            </a:pPr>
            <a:r>
              <a:rPr lang="en-US" sz="1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Sempre identico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11205716" y="3197275"/>
            <a:ext cx="6129784" cy="82004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11205716" y="4007793"/>
            <a:ext cx="6129784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7" name="Text 15"/>
          <p:cNvSpPr/>
          <p:nvPr/>
        </p:nvSpPr>
        <p:spPr>
          <a:xfrm>
            <a:off x="11472416" y="3406825"/>
            <a:ext cx="5780278" cy="4295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4194"/>
              </a:lnSpc>
              <a:buNone/>
            </a:pPr>
            <a:r>
              <a:rPr lang="en-US" sz="1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Può variare a ogni richiesta</a:t>
            </a:r>
            <a:endParaRPr lang="en-US" sz="1950" dirty="0"/>
          </a:p>
        </p:txBody>
      </p:sp>
      <p:sp>
        <p:nvSpPr>
          <p:cNvPr id="18" name="Shape 16"/>
          <p:cNvSpPr/>
          <p:nvPr/>
        </p:nvSpPr>
        <p:spPr>
          <a:xfrm>
            <a:off x="952500" y="4832598"/>
            <a:ext cx="4855666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9" name="Text 17"/>
          <p:cNvSpPr/>
          <p:nvPr/>
        </p:nvSpPr>
        <p:spPr>
          <a:xfrm>
            <a:off x="1219200" y="4226868"/>
            <a:ext cx="4467936" cy="434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4194"/>
              </a:lnSpc>
              <a:buNone/>
            </a:pPr>
            <a:r>
              <a:rPr lang="en-US" sz="1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Compiti coperti</a:t>
            </a:r>
            <a:endParaRPr lang="en-US" sz="1950" dirty="0"/>
          </a:p>
        </p:txBody>
      </p:sp>
      <p:sp>
        <p:nvSpPr>
          <p:cNvPr id="20" name="Shape 18"/>
          <p:cNvSpPr/>
          <p:nvPr/>
        </p:nvSpPr>
        <p:spPr>
          <a:xfrm>
            <a:off x="5808166" y="4017318"/>
            <a:ext cx="5397550" cy="82480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5808166" y="4832598"/>
            <a:ext cx="5397550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2" name="Text 20"/>
          <p:cNvSpPr/>
          <p:nvPr/>
        </p:nvSpPr>
        <p:spPr>
          <a:xfrm>
            <a:off x="6074866" y="4226868"/>
            <a:ext cx="5026076" cy="434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4194"/>
              </a:lnSpc>
              <a:buNone/>
            </a:pPr>
            <a:r>
              <a:rPr lang="en-US" sz="1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Uno solo</a:t>
            </a:r>
            <a:endParaRPr lang="en-US" sz="1950" dirty="0"/>
          </a:p>
        </p:txBody>
      </p:sp>
      <p:sp>
        <p:nvSpPr>
          <p:cNvPr id="23" name="Shape 21"/>
          <p:cNvSpPr/>
          <p:nvPr/>
        </p:nvSpPr>
        <p:spPr>
          <a:xfrm>
            <a:off x="11205716" y="4017318"/>
            <a:ext cx="6129784" cy="82480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Shape 22"/>
          <p:cNvSpPr/>
          <p:nvPr/>
        </p:nvSpPr>
        <p:spPr>
          <a:xfrm>
            <a:off x="11205716" y="4832598"/>
            <a:ext cx="6129784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5" name="Text 23"/>
          <p:cNvSpPr/>
          <p:nvPr/>
        </p:nvSpPr>
        <p:spPr>
          <a:xfrm>
            <a:off x="11472416" y="4226868"/>
            <a:ext cx="5780278" cy="434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4194"/>
              </a:lnSpc>
              <a:buNone/>
            </a:pPr>
            <a:r>
              <a:rPr lang="en-US" sz="1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Molti, anche mai visti prima</a:t>
            </a:r>
            <a:endParaRPr lang="en-US" sz="1950" dirty="0"/>
          </a:p>
        </p:txBody>
      </p:sp>
      <p:sp>
        <p:nvSpPr>
          <p:cNvPr id="26" name="Shape 24"/>
          <p:cNvSpPr/>
          <p:nvPr/>
        </p:nvSpPr>
        <p:spPr>
          <a:xfrm>
            <a:off x="952500" y="5657404"/>
            <a:ext cx="4855666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7" name="Text 25"/>
          <p:cNvSpPr/>
          <p:nvPr/>
        </p:nvSpPr>
        <p:spPr>
          <a:xfrm>
            <a:off x="1219200" y="5051673"/>
            <a:ext cx="4467936" cy="434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4194"/>
              </a:lnSpc>
              <a:buNone/>
            </a:pPr>
            <a:r>
              <a:rPr lang="en-US" sz="1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Errore tipico</a:t>
            </a:r>
            <a:endParaRPr lang="en-US" sz="1950" dirty="0"/>
          </a:p>
        </p:txBody>
      </p:sp>
      <p:sp>
        <p:nvSpPr>
          <p:cNvPr id="28" name="Shape 26"/>
          <p:cNvSpPr/>
          <p:nvPr/>
        </p:nvSpPr>
        <p:spPr>
          <a:xfrm>
            <a:off x="5808166" y="4842123"/>
            <a:ext cx="5397550" cy="82480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Shape 27"/>
          <p:cNvSpPr/>
          <p:nvPr/>
        </p:nvSpPr>
        <p:spPr>
          <a:xfrm>
            <a:off x="5808166" y="5657404"/>
            <a:ext cx="5397550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0" name="Text 28"/>
          <p:cNvSpPr/>
          <p:nvPr/>
        </p:nvSpPr>
        <p:spPr>
          <a:xfrm>
            <a:off x="6074866" y="5051673"/>
            <a:ext cx="5026076" cy="434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4194"/>
              </a:lnSpc>
              <a:buNone/>
            </a:pPr>
            <a:r>
              <a:rPr lang="en-US" sz="1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Evidente</a:t>
            </a:r>
            <a:endParaRPr lang="en-US" sz="1950" dirty="0"/>
          </a:p>
        </p:txBody>
      </p:sp>
      <p:sp>
        <p:nvSpPr>
          <p:cNvPr id="31" name="Shape 29"/>
          <p:cNvSpPr/>
          <p:nvPr/>
        </p:nvSpPr>
        <p:spPr>
          <a:xfrm>
            <a:off x="11205716" y="4842123"/>
            <a:ext cx="6129784" cy="82480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Shape 30"/>
          <p:cNvSpPr/>
          <p:nvPr/>
        </p:nvSpPr>
        <p:spPr>
          <a:xfrm>
            <a:off x="11205716" y="5657404"/>
            <a:ext cx="6129784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3" name="Text 31"/>
          <p:cNvSpPr/>
          <p:nvPr/>
        </p:nvSpPr>
        <p:spPr>
          <a:xfrm>
            <a:off x="11472416" y="5051673"/>
            <a:ext cx="5780278" cy="434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4194"/>
              </a:lnSpc>
              <a:buNone/>
            </a:pPr>
            <a:r>
              <a:rPr lang="en-US" sz="1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Nascosto, ben scritto e sicuro di sé</a:t>
            </a:r>
            <a:endParaRPr lang="en-US" sz="1950" dirty="0"/>
          </a:p>
        </p:txBody>
      </p:sp>
      <p:sp>
        <p:nvSpPr>
          <p:cNvPr id="34" name="Text 32"/>
          <p:cNvSpPr/>
          <p:nvPr/>
        </p:nvSpPr>
        <p:spPr>
          <a:xfrm>
            <a:off x="1219200" y="5876479"/>
            <a:ext cx="4467936" cy="4390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4194"/>
              </a:lnSpc>
              <a:buNone/>
            </a:pPr>
            <a:r>
              <a:rPr lang="en-US" sz="1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Dove sta il lavoro umano</a:t>
            </a:r>
            <a:endParaRPr lang="en-US" sz="1950" dirty="0"/>
          </a:p>
        </p:txBody>
      </p:sp>
      <p:sp>
        <p:nvSpPr>
          <p:cNvPr id="35" name="Shape 33"/>
          <p:cNvSpPr/>
          <p:nvPr/>
        </p:nvSpPr>
        <p:spPr>
          <a:xfrm>
            <a:off x="5808166" y="5666929"/>
            <a:ext cx="5397550" cy="82004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6" name="Text 34"/>
          <p:cNvSpPr/>
          <p:nvPr/>
        </p:nvSpPr>
        <p:spPr>
          <a:xfrm>
            <a:off x="6074866" y="5876479"/>
            <a:ext cx="5026076" cy="4390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4194"/>
              </a:lnSpc>
              <a:buNone/>
            </a:pPr>
            <a:r>
              <a:rPr lang="en-US" sz="1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monte, una volta: progettare</a:t>
            </a:r>
            <a:endParaRPr lang="en-US" sz="1950" dirty="0"/>
          </a:p>
        </p:txBody>
      </p:sp>
      <p:sp>
        <p:nvSpPr>
          <p:cNvPr id="37" name="Shape 35"/>
          <p:cNvSpPr/>
          <p:nvPr/>
        </p:nvSpPr>
        <p:spPr>
          <a:xfrm>
            <a:off x="11205716" y="5666929"/>
            <a:ext cx="6129784" cy="82004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8" name="Text 36"/>
          <p:cNvSpPr/>
          <p:nvPr/>
        </p:nvSpPr>
        <p:spPr>
          <a:xfrm>
            <a:off x="11472416" y="5876479"/>
            <a:ext cx="5780278" cy="4390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4194"/>
              </a:lnSpc>
              <a:buNone/>
            </a:pPr>
            <a:r>
              <a:rPr lang="en-US" sz="1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valle, ogni volta: verificare</a:t>
            </a:r>
            <a:endParaRPr lang="en-US" sz="1950" dirty="0"/>
          </a:p>
        </p:txBody>
      </p:sp>
      <p:pic>
        <p:nvPicPr>
          <p:cNvPr id="3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9572625"/>
            <a:ext cx="364778" cy="285750"/>
          </a:xfrm>
          <a:prstGeom prst="rect">
            <a:avLst/>
          </a:prstGeom>
        </p:spPr>
      </p:pic>
      <p:sp>
        <p:nvSpPr>
          <p:cNvPr id="40" name="Text 37"/>
          <p:cNvSpPr/>
          <p:nvPr/>
        </p:nvSpPr>
        <p:spPr>
          <a:xfrm>
            <a:off x="1469678" y="9563100"/>
            <a:ext cx="198893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9130"/>
              </a:lnSpc>
              <a:buNone/>
            </a:pPr>
            <a:r>
              <a:rPr lang="en-US" sz="15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AFGP · Formazione AI</a:t>
            </a:r>
            <a:endParaRPr lang="en-US" sz="1500" dirty="0"/>
          </a:p>
        </p:txBody>
      </p:sp>
      <p:sp>
        <p:nvSpPr>
          <p:cNvPr id="41" name="Text 38"/>
          <p:cNvSpPr/>
          <p:nvPr/>
        </p:nvSpPr>
        <p:spPr>
          <a:xfrm>
            <a:off x="17123569" y="9563100"/>
            <a:ext cx="28813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9130"/>
              </a:lnSpc>
              <a:buNone/>
            </a:pPr>
            <a:r>
              <a:rPr lang="en-US" sz="15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3C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500" y="3532733"/>
            <a:ext cx="17183100" cy="3732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548"/>
              </a:lnSpc>
              <a:buNone/>
            </a:pPr>
            <a:r>
              <a:rPr lang="en-US" sz="1650" b="1" spc="132" kern="0" dirty="0">
                <a:solidFill>
                  <a:srgbClr val="7FD4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DOMANDA CHE ARRIVA SEMPRE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333500" y="4096494"/>
            <a:ext cx="14716125" cy="12328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9392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reti neurali esistono da decenni. Perché il salto è avvenuto proprio ora?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1333500" y="5596086"/>
            <a:ext cx="12753975" cy="1196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1395"/>
              </a:lnSpc>
              <a:buNone/>
            </a:pPr>
            <a:r>
              <a:rPr lang="en-US" sz="2850" dirty="0">
                <a:solidFill>
                  <a:srgbClr val="FFFFFF">
                    <a:alpha val="7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 una scoperta improvvisa: quattro condizioni che, verso la fine degli anni Dieci, si sono trovate tutte insieme</a:t>
            </a:r>
            <a:endParaRPr lang="en-US" sz="28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9486900"/>
            <a:ext cx="486370" cy="381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91270" y="9525000"/>
            <a:ext cx="198893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9130"/>
              </a:lnSpc>
              <a:buNone/>
            </a:pPr>
            <a:r>
              <a:rPr lang="en-US" sz="1500" b="1" dirty="0">
                <a:solidFill>
                  <a:srgbClr val="FFFFFF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AFGP · Formazione AI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7123569" y="9563100"/>
            <a:ext cx="28813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9130"/>
              </a:lnSpc>
              <a:buNone/>
            </a:pPr>
            <a:r>
              <a:rPr lang="en-US" sz="1500" b="1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8021300" cy="3732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548"/>
              </a:lnSpc>
              <a:buNone/>
            </a:pPr>
            <a:r>
              <a:rPr lang="en-US" sz="1650" b="1" spc="132" kern="0" dirty="0">
                <a:solidFill>
                  <a:srgbClr val="0E8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QUATTRO CONDIZIONI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52500" y="1382911"/>
            <a:ext cx="18021300" cy="5418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1385"/>
              </a:lnSpc>
              <a:buNone/>
            </a:pPr>
            <a:r>
              <a:rPr lang="en-US" sz="3450" b="1" dirty="0">
                <a:solidFill>
                  <a:srgbClr val="1F56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Nessuna scoperta improvvisa, quattro condizioni insieme</a:t>
            </a:r>
            <a:endParaRPr lang="en-US" sz="3450" dirty="0"/>
          </a:p>
        </p:txBody>
      </p:sp>
      <p:sp>
        <p:nvSpPr>
          <p:cNvPr id="4" name="Shape 2"/>
          <p:cNvSpPr/>
          <p:nvPr/>
        </p:nvSpPr>
        <p:spPr>
          <a:xfrm>
            <a:off x="952500" y="2458194"/>
            <a:ext cx="3910013" cy="2719239"/>
          </a:xfrm>
          <a:prstGeom prst="roundRect">
            <a:avLst>
              <a:gd name="adj" fmla="val 2802"/>
            </a:avLst>
          </a:prstGeom>
          <a:solidFill>
            <a:srgbClr val="F4F6F9"/>
          </a:solidFill>
          <a:ln/>
        </p:spPr>
      </p:sp>
      <p:sp>
        <p:nvSpPr>
          <p:cNvPr id="5" name="Text 3"/>
          <p:cNvSpPr/>
          <p:nvPr/>
        </p:nvSpPr>
        <p:spPr>
          <a:xfrm>
            <a:off x="1238250" y="2801094"/>
            <a:ext cx="3672364" cy="4037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364"/>
              </a:lnSpc>
              <a:buNone/>
            </a:pPr>
            <a:r>
              <a:rPr lang="en-US" sz="1800" b="1" dirty="0">
                <a:solidFill>
                  <a:srgbClr val="0E8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2017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38250" y="3319165"/>
            <a:ext cx="3672364" cy="434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194"/>
              </a:lnSpc>
              <a:buNone/>
            </a:pPr>
            <a:r>
              <a:rPr lang="en-US" sz="1950" b="1" dirty="0">
                <a:solidFill>
                  <a:srgbClr val="1F56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Architettura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238250" y="3848695"/>
            <a:ext cx="3438668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7778"/>
              </a:lnSpc>
              <a:buNone/>
            </a:pPr>
            <a:r>
              <a:rPr lang="en-US" sz="17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transformer: parallelizzabile, non "più intelligente"</a:t>
            </a:r>
            <a:endParaRPr lang="en-US" sz="1725" dirty="0"/>
          </a:p>
        </p:txBody>
      </p:sp>
      <p:sp>
        <p:nvSpPr>
          <p:cNvPr id="8" name="Shape 6"/>
          <p:cNvSpPr/>
          <p:nvPr/>
        </p:nvSpPr>
        <p:spPr>
          <a:xfrm>
            <a:off x="5110163" y="2458194"/>
            <a:ext cx="3910013" cy="2719239"/>
          </a:xfrm>
          <a:prstGeom prst="roundRect">
            <a:avLst>
              <a:gd name="adj" fmla="val 2802"/>
            </a:avLst>
          </a:prstGeom>
          <a:solidFill>
            <a:srgbClr val="F4F6F9"/>
          </a:solidFill>
          <a:ln/>
        </p:spPr>
      </p:sp>
      <p:sp>
        <p:nvSpPr>
          <p:cNvPr id="9" name="Text 7"/>
          <p:cNvSpPr/>
          <p:nvPr/>
        </p:nvSpPr>
        <p:spPr>
          <a:xfrm>
            <a:off x="5395913" y="2801094"/>
            <a:ext cx="3672364" cy="4037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364"/>
              </a:lnSpc>
              <a:buNone/>
            </a:pPr>
            <a:r>
              <a:rPr lang="en-US" sz="1800" b="1" dirty="0">
                <a:solidFill>
                  <a:srgbClr val="0E8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Anni '10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395913" y="3319165"/>
            <a:ext cx="3672364" cy="434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194"/>
              </a:lnSpc>
              <a:buNone/>
            </a:pPr>
            <a:r>
              <a:rPr lang="en-US" sz="1950" b="1" dirty="0">
                <a:solidFill>
                  <a:srgbClr val="1F56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Calcolo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5395913" y="3848695"/>
            <a:ext cx="3438668" cy="1023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7778"/>
              </a:lnSpc>
              <a:buNone/>
            </a:pPr>
            <a:r>
              <a:rPr lang="en-US" sz="17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schede grafiche da videogiochi rendono l'addestramento economicamente sostenibile</a:t>
            </a:r>
            <a:endParaRPr lang="en-US" sz="1725" dirty="0"/>
          </a:p>
        </p:txBody>
      </p:sp>
      <p:sp>
        <p:nvSpPr>
          <p:cNvPr id="12" name="Shape 10"/>
          <p:cNvSpPr/>
          <p:nvPr/>
        </p:nvSpPr>
        <p:spPr>
          <a:xfrm>
            <a:off x="9267825" y="2458194"/>
            <a:ext cx="3910013" cy="2719239"/>
          </a:xfrm>
          <a:prstGeom prst="roundRect">
            <a:avLst>
              <a:gd name="adj" fmla="val 2802"/>
            </a:avLst>
          </a:prstGeom>
          <a:solidFill>
            <a:srgbClr val="F4F6F9"/>
          </a:solidFill>
          <a:ln/>
        </p:spPr>
      </p:sp>
      <p:sp>
        <p:nvSpPr>
          <p:cNvPr id="13" name="Text 11"/>
          <p:cNvSpPr/>
          <p:nvPr/>
        </p:nvSpPr>
        <p:spPr>
          <a:xfrm>
            <a:off x="9553575" y="2801094"/>
            <a:ext cx="3672364" cy="4037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364"/>
              </a:lnSpc>
              <a:buNone/>
            </a:pPr>
            <a:r>
              <a:rPr lang="en-US" sz="1800" b="1" dirty="0">
                <a:solidFill>
                  <a:srgbClr val="0E8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Anni '00-'10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553575" y="3319165"/>
            <a:ext cx="3672364" cy="434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194"/>
              </a:lnSpc>
              <a:buNone/>
            </a:pPr>
            <a:r>
              <a:rPr lang="en-US" sz="1950" b="1" dirty="0">
                <a:solidFill>
                  <a:srgbClr val="1F56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Dati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9553575" y="3848695"/>
            <a:ext cx="3438668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7778"/>
              </a:lnSpc>
              <a:buNone/>
            </a:pPr>
            <a:r>
              <a:rPr lang="en-US" sz="17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web rende disponibili quantità di testo prima inesistenti</a:t>
            </a:r>
            <a:endParaRPr lang="en-US" sz="1725" dirty="0"/>
          </a:p>
        </p:txBody>
      </p:sp>
      <p:sp>
        <p:nvSpPr>
          <p:cNvPr id="16" name="Shape 14"/>
          <p:cNvSpPr/>
          <p:nvPr/>
        </p:nvSpPr>
        <p:spPr>
          <a:xfrm>
            <a:off x="13425488" y="2458194"/>
            <a:ext cx="3910013" cy="2719239"/>
          </a:xfrm>
          <a:prstGeom prst="roundRect">
            <a:avLst>
              <a:gd name="adj" fmla="val 2802"/>
            </a:avLst>
          </a:prstGeom>
          <a:solidFill>
            <a:srgbClr val="F4F6F9"/>
          </a:solidFill>
          <a:ln/>
        </p:spPr>
      </p:sp>
      <p:sp>
        <p:nvSpPr>
          <p:cNvPr id="17" name="Text 15"/>
          <p:cNvSpPr/>
          <p:nvPr/>
        </p:nvSpPr>
        <p:spPr>
          <a:xfrm>
            <a:off x="13711238" y="2801094"/>
            <a:ext cx="3672364" cy="4037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364"/>
              </a:lnSpc>
              <a:buNone/>
            </a:pPr>
            <a:r>
              <a:rPr lang="en-US" sz="1800" b="1" dirty="0">
                <a:solidFill>
                  <a:srgbClr val="0E8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~2020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3711238" y="3319165"/>
            <a:ext cx="3672364" cy="434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194"/>
              </a:lnSpc>
              <a:buNone/>
            </a:pPr>
            <a:r>
              <a:rPr lang="en-US" sz="1950" b="1" dirty="0">
                <a:solidFill>
                  <a:srgbClr val="1F56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Scala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13711238" y="3848695"/>
            <a:ext cx="3438668" cy="1023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7778"/>
              </a:lnSpc>
              <a:buNone/>
            </a:pPr>
            <a:r>
              <a:rPr lang="en-US" sz="17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Aumentare modello, dati e calcolo insieme migliora i risultati in modo regolare</a:t>
            </a:r>
            <a:endParaRPr lang="en-US" sz="1725" dirty="0"/>
          </a:p>
        </p:txBody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9572625"/>
            <a:ext cx="364778" cy="28575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469678" y="9563100"/>
            <a:ext cx="198893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9130"/>
              </a:lnSpc>
              <a:buNone/>
            </a:pPr>
            <a:r>
              <a:rPr lang="en-US" sz="15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AFGP · Formazione AI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17123569" y="9563100"/>
            <a:ext cx="28813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9130"/>
              </a:lnSpc>
              <a:buNone/>
            </a:pPr>
            <a:r>
              <a:rPr lang="en-US" sz="15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8021300" cy="3732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548"/>
              </a:lnSpc>
              <a:buNone/>
            </a:pPr>
            <a:r>
              <a:rPr lang="en-US" sz="1650" b="1" spc="132" kern="0" dirty="0">
                <a:solidFill>
                  <a:srgbClr val="0E8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VERO CAMBIAMENTO DEL 2022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52500" y="1382911"/>
            <a:ext cx="18021300" cy="5418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1385"/>
              </a:lnSpc>
              <a:buNone/>
            </a:pPr>
            <a:r>
              <a:rPr lang="en-US" sz="3450" b="1" dirty="0">
                <a:solidFill>
                  <a:srgbClr val="1F56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barriera caduta è stata di accesso, non di potenza</a:t>
            </a:r>
            <a:endParaRPr lang="en-US" sz="3450" dirty="0"/>
          </a:p>
        </p:txBody>
      </p:sp>
      <p:sp>
        <p:nvSpPr>
          <p:cNvPr id="4" name="Text 2"/>
          <p:cNvSpPr/>
          <p:nvPr/>
        </p:nvSpPr>
        <p:spPr>
          <a:xfrm>
            <a:off x="952500" y="5086648"/>
            <a:ext cx="2457956" cy="1752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0866"/>
              </a:lnSpc>
              <a:buNone/>
            </a:pPr>
            <a:r>
              <a:rPr lang="en-US" sz="13500" b="1" dirty="0">
                <a:solidFill>
                  <a:srgbClr val="0E8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'22</a:t>
            </a:r>
            <a:endParaRPr lang="en-US" sz="13500" dirty="0"/>
          </a:p>
        </p:txBody>
      </p:sp>
      <p:sp>
        <p:nvSpPr>
          <p:cNvPr id="5" name="Text 3"/>
          <p:cNvSpPr/>
          <p:nvPr/>
        </p:nvSpPr>
        <p:spPr>
          <a:xfrm>
            <a:off x="3758505" y="5212556"/>
            <a:ext cx="12753975" cy="15007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378"/>
              </a:lnSpc>
              <a:buNone/>
            </a:pPr>
            <a:r>
              <a:rPr lang="en-US" sz="2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Nel 2020 i grandi modelli linguistici esistevano già, riservati a chi sapeva usarli in modo tecnico. Con ChatGPT non cambia soprattutto la potenza del modello: cambia che diventa accessibile a chiunque sappia descrivere bene un compito, in una conversazione.</a:t>
            </a:r>
            <a:endParaRPr lang="en-US" sz="24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9572625"/>
            <a:ext cx="364778" cy="28575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9678" y="9563100"/>
            <a:ext cx="198893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9130"/>
              </a:lnSpc>
              <a:buNone/>
            </a:pPr>
            <a:r>
              <a:rPr lang="en-US" sz="15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AFGP · Formazione AI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7123569" y="9563100"/>
            <a:ext cx="28813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9130"/>
              </a:lnSpc>
              <a:buNone/>
            </a:pPr>
            <a:r>
              <a:rPr lang="en-US" sz="15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3C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500" y="3076724"/>
            <a:ext cx="17183100" cy="3732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548"/>
              </a:lnSpc>
              <a:buNone/>
            </a:pPr>
            <a:r>
              <a:rPr lang="en-US" sz="1650" b="1" spc="132" kern="0" dirty="0">
                <a:solidFill>
                  <a:srgbClr val="7FD4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FRASE DA RICORDARE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333500" y="3716685"/>
            <a:ext cx="15206662" cy="21981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96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LLM è un sistema che, dato un testo, calcola quale sia la continuazione più plausibile — e la produce un pezzo alla volta.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1333500" y="6295876"/>
            <a:ext cx="12753975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1176"/>
              </a:lnSpc>
              <a:buNone/>
            </a:pPr>
            <a:r>
              <a:rPr lang="en-US" sz="2250" dirty="0">
                <a:solidFill>
                  <a:srgbClr val="FFFFFF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Rispondere, riassumere, tradurre, riscrivere: è sempre questa stessa operazione, ripetuta migliaia di volte</a:t>
            </a:r>
            <a:endParaRPr lang="en-US" sz="22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9486900"/>
            <a:ext cx="486370" cy="381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91270" y="9525000"/>
            <a:ext cx="198893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9130"/>
              </a:lnSpc>
              <a:buNone/>
            </a:pPr>
            <a:r>
              <a:rPr lang="en-US" sz="1500" b="1" dirty="0">
                <a:solidFill>
                  <a:srgbClr val="FFFFFF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AFGP · Formazione AI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7137707" y="9563100"/>
            <a:ext cx="27399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9130"/>
              </a:lnSpc>
              <a:buNone/>
            </a:pPr>
            <a:r>
              <a:rPr lang="en-US" sz="1500" b="1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8021300" cy="3732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548"/>
              </a:lnSpc>
              <a:buNone/>
            </a:pPr>
            <a:r>
              <a:rPr lang="en-US" sz="1650" b="1" spc="132" kern="0" dirty="0">
                <a:solidFill>
                  <a:srgbClr val="0E8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COSA C'È DIETRO LE RISPOSTE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52500" y="1382911"/>
            <a:ext cx="18021300" cy="5418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1385"/>
              </a:lnSpc>
              <a:buNone/>
            </a:pPr>
            <a:r>
              <a:rPr lang="en-US" sz="3450" b="1" dirty="0">
                <a:solidFill>
                  <a:srgbClr val="1F56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modello non sa nulla di voi finché non glielo dite</a:t>
            </a:r>
            <a:endParaRPr lang="en-US" sz="3450" dirty="0"/>
          </a:p>
        </p:txBody>
      </p:sp>
      <p:sp>
        <p:nvSpPr>
          <p:cNvPr id="4" name="Shape 2"/>
          <p:cNvSpPr/>
          <p:nvPr/>
        </p:nvSpPr>
        <p:spPr>
          <a:xfrm>
            <a:off x="952500" y="2458194"/>
            <a:ext cx="5257800" cy="2433042"/>
          </a:xfrm>
          <a:prstGeom prst="roundRect">
            <a:avLst>
              <a:gd name="adj" fmla="val 3132"/>
            </a:avLst>
          </a:prstGeom>
          <a:solidFill>
            <a:srgbClr val="F4F6F9"/>
          </a:solidFill>
          <a:ln/>
        </p:spPr>
      </p:sp>
      <p:sp>
        <p:nvSpPr>
          <p:cNvPr id="5" name="Text 3"/>
          <p:cNvSpPr/>
          <p:nvPr/>
        </p:nvSpPr>
        <p:spPr>
          <a:xfrm>
            <a:off x="1276350" y="2839194"/>
            <a:ext cx="5071110" cy="449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9355"/>
              </a:lnSpc>
              <a:buNone/>
            </a:pPr>
            <a:r>
              <a:rPr lang="en-US" sz="2025" b="1" dirty="0">
                <a:solidFill>
                  <a:srgbClr val="1F56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Conosce solo ciò che è pubblico</a:t>
            </a:r>
            <a:endParaRPr lang="en-US" sz="2025" dirty="0"/>
          </a:p>
        </p:txBody>
      </p:sp>
      <p:sp>
        <p:nvSpPr>
          <p:cNvPr id="6" name="Text 4"/>
          <p:cNvSpPr/>
          <p:nvPr/>
        </p:nvSpPr>
        <p:spPr>
          <a:xfrm>
            <a:off x="1276350" y="3402955"/>
            <a:ext cx="4748403" cy="11453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3621"/>
              </a:lnSpc>
              <a:buNone/>
            </a:pPr>
            <a:r>
              <a:rPr lang="en-US" sz="187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Nulla dei vostri listini, fornitori o condizioni negoziate: se non è mai stato pubblicato, il modello lo ignora</a:t>
            </a:r>
            <a:endParaRPr lang="en-US" sz="1875" dirty="0"/>
          </a:p>
        </p:txBody>
      </p:sp>
      <p:sp>
        <p:nvSpPr>
          <p:cNvPr id="7" name="Shape 5"/>
          <p:cNvSpPr/>
          <p:nvPr/>
        </p:nvSpPr>
        <p:spPr>
          <a:xfrm>
            <a:off x="6515100" y="2458194"/>
            <a:ext cx="5257800" cy="2433042"/>
          </a:xfrm>
          <a:prstGeom prst="roundRect">
            <a:avLst>
              <a:gd name="adj" fmla="val 3132"/>
            </a:avLst>
          </a:prstGeom>
          <a:solidFill>
            <a:srgbClr val="F4F6F9"/>
          </a:solidFill>
          <a:ln/>
        </p:spPr>
      </p:sp>
      <p:sp>
        <p:nvSpPr>
          <p:cNvPr id="8" name="Text 6"/>
          <p:cNvSpPr/>
          <p:nvPr/>
        </p:nvSpPr>
        <p:spPr>
          <a:xfrm>
            <a:off x="6838950" y="2839194"/>
            <a:ext cx="5071110" cy="449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9355"/>
              </a:lnSpc>
              <a:buNone/>
            </a:pPr>
            <a:r>
              <a:rPr lang="en-US" sz="2025" b="1" dirty="0">
                <a:solidFill>
                  <a:srgbClr val="1F56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 una data di aggiornamento</a:t>
            </a:r>
            <a:endParaRPr lang="en-US" sz="2025" dirty="0"/>
          </a:p>
        </p:txBody>
      </p:sp>
      <p:sp>
        <p:nvSpPr>
          <p:cNvPr id="9" name="Text 7"/>
          <p:cNvSpPr/>
          <p:nvPr/>
        </p:nvSpPr>
        <p:spPr>
          <a:xfrm>
            <a:off x="6838950" y="3402955"/>
            <a:ext cx="4748403" cy="11453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3621"/>
              </a:lnSpc>
              <a:buNone/>
            </a:pPr>
            <a:r>
              <a:rPr lang="en-US" sz="187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Dopo quella data non sa più nulla del mondo, ma risponde comunque con la stessa sicurezza</a:t>
            </a:r>
            <a:endParaRPr lang="en-US" sz="1875" dirty="0"/>
          </a:p>
        </p:txBody>
      </p:sp>
      <p:sp>
        <p:nvSpPr>
          <p:cNvPr id="10" name="Shape 8"/>
          <p:cNvSpPr/>
          <p:nvPr/>
        </p:nvSpPr>
        <p:spPr>
          <a:xfrm>
            <a:off x="12077700" y="2458194"/>
            <a:ext cx="5257800" cy="2433042"/>
          </a:xfrm>
          <a:prstGeom prst="roundRect">
            <a:avLst>
              <a:gd name="adj" fmla="val 3132"/>
            </a:avLst>
          </a:prstGeom>
          <a:solidFill>
            <a:srgbClr val="F4F6F9"/>
          </a:solidFill>
          <a:ln/>
        </p:spPr>
      </p:sp>
      <p:sp>
        <p:nvSpPr>
          <p:cNvPr id="11" name="Text 9"/>
          <p:cNvSpPr/>
          <p:nvPr/>
        </p:nvSpPr>
        <p:spPr>
          <a:xfrm>
            <a:off x="12401550" y="2839194"/>
            <a:ext cx="5071110" cy="449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9355"/>
              </a:lnSpc>
              <a:buNone/>
            </a:pPr>
            <a:r>
              <a:rPr lang="en-US" sz="2025" b="1" dirty="0">
                <a:solidFill>
                  <a:srgbClr val="1F56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Eredita le distorsioni dei testi</a:t>
            </a:r>
            <a:endParaRPr lang="en-US" sz="2025" dirty="0"/>
          </a:p>
        </p:txBody>
      </p:sp>
      <p:sp>
        <p:nvSpPr>
          <p:cNvPr id="12" name="Text 10"/>
          <p:cNvSpPr/>
          <p:nvPr/>
        </p:nvSpPr>
        <p:spPr>
          <a:xfrm>
            <a:off x="12401550" y="3402955"/>
            <a:ext cx="4748403" cy="11453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3621"/>
              </a:lnSpc>
              <a:buNone/>
            </a:pPr>
            <a:r>
              <a:rPr lang="en-US" sz="187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associazioni più frequenti nel materiale di addestramento ricompaiono nelle risposte</a:t>
            </a:r>
            <a:endParaRPr lang="en-US" sz="1875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9572625"/>
            <a:ext cx="364778" cy="28575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469678" y="9563100"/>
            <a:ext cx="198893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9130"/>
              </a:lnSpc>
              <a:buNone/>
            </a:pPr>
            <a:r>
              <a:rPr lang="en-US" sz="15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AFGP · Formazione AI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17123569" y="9563100"/>
            <a:ext cx="28813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9130"/>
              </a:lnSpc>
              <a:buNone/>
            </a:pPr>
            <a:r>
              <a:rPr lang="en-US" sz="15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8021300" cy="3732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548"/>
              </a:lnSpc>
              <a:buNone/>
            </a:pPr>
            <a:r>
              <a:rPr lang="en-US" sz="1650" b="1" spc="132" kern="0" dirty="0">
                <a:solidFill>
                  <a:srgbClr val="0E8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COME NASCE UN ASSISTENTE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52500" y="1382911"/>
            <a:ext cx="18021300" cy="5418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1385"/>
              </a:lnSpc>
              <a:buNone/>
            </a:pPr>
            <a:r>
              <a:rPr lang="en-US" sz="3450" b="1" dirty="0">
                <a:solidFill>
                  <a:srgbClr val="1F56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 passaggi, dal continuare testo al rispondere</a:t>
            </a:r>
            <a:endParaRPr lang="en-US" sz="3450" dirty="0"/>
          </a:p>
        </p:txBody>
      </p:sp>
      <p:sp>
        <p:nvSpPr>
          <p:cNvPr id="4" name="Shape 2"/>
          <p:cNvSpPr/>
          <p:nvPr/>
        </p:nvSpPr>
        <p:spPr>
          <a:xfrm>
            <a:off x="952500" y="2496294"/>
            <a:ext cx="5441900" cy="2507754"/>
          </a:xfrm>
          <a:custGeom>
            <a:avLst/>
            <a:gdLst/>
            <a:ahLst/>
            <a:cxnLst/>
            <a:rect l="l" t="t" r="r" b="b"/>
            <a:pathLst>
              <a:path w="5441900" h="2507754">
                <a:moveTo>
                  <a:pt x="76200" y="0"/>
                </a:moveTo>
                <a:lnTo>
                  <a:pt x="5441900" y="0"/>
                </a:lnTo>
                <a:lnTo>
                  <a:pt x="5441900" y="2507754"/>
                </a:lnTo>
                <a:lnTo>
                  <a:pt x="76200" y="2507754"/>
                </a:lnTo>
                <a:arcTo hR="76200" wR="76200" stAng="5400000" swAng="5400000"/>
                <a:lnTo>
                  <a:pt x="0" y="76200"/>
                </a:lnTo>
                <a:arcTo hR="76200" wR="76200" stAng="10800000" swAng="5400000"/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1314450" y="2915394"/>
            <a:ext cx="5189800" cy="4037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364"/>
              </a:lnSpc>
              <a:buNone/>
            </a:pPr>
            <a:r>
              <a:rPr lang="en-US" sz="1800" b="1" dirty="0">
                <a:solidFill>
                  <a:srgbClr val="0E8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Pre-addestramento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14450" y="3433465"/>
            <a:ext cx="4859540" cy="11895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Impara a prevedere il token successivo su un'enorme quantità di testo. Sa continuare testo, ma non è ancora un assistente.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6394400" y="2496294"/>
            <a:ext cx="28575" cy="250775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8" name="Shape 6"/>
          <p:cNvSpPr/>
          <p:nvPr/>
        </p:nvSpPr>
        <p:spPr>
          <a:xfrm>
            <a:off x="6422975" y="2496294"/>
            <a:ext cx="5442049" cy="250775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6784925" y="2915394"/>
            <a:ext cx="5189964" cy="4037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364"/>
              </a:lnSpc>
              <a:buNone/>
            </a:pPr>
            <a:r>
              <a:rPr lang="en-US" sz="1800" b="1" dirty="0">
                <a:solidFill>
                  <a:srgbClr val="0E8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Istruzioni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784925" y="3433465"/>
            <a:ext cx="4859694" cy="11895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Coppie richiesta-risposta gli insegnano il formato: a una domanda deve seguire una risposta.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11865025" y="2496294"/>
            <a:ext cx="28575" cy="250775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2" name="Shape 10"/>
          <p:cNvSpPr/>
          <p:nvPr/>
        </p:nvSpPr>
        <p:spPr>
          <a:xfrm>
            <a:off x="11893600" y="2496294"/>
            <a:ext cx="5441900" cy="2507754"/>
          </a:xfrm>
          <a:custGeom>
            <a:avLst/>
            <a:gdLst/>
            <a:ahLst/>
            <a:cxnLst/>
            <a:rect l="l" t="t" r="r" b="b"/>
            <a:pathLst>
              <a:path w="5441900" h="2507754">
                <a:moveTo>
                  <a:pt x="0" y="0"/>
                </a:moveTo>
                <a:lnTo>
                  <a:pt x="5365700" y="0"/>
                </a:lnTo>
                <a:arcTo hR="76200" wR="76200" stAng="16200000" swAng="5400000"/>
                <a:lnTo>
                  <a:pt x="5441900" y="2431554"/>
                </a:lnTo>
                <a:arcTo hR="76200" wR="76200" stAng="0" swAng="5400000"/>
                <a:lnTo>
                  <a:pt x="0" y="250775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12255550" y="2915394"/>
            <a:ext cx="5189800" cy="4037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364"/>
              </a:lnSpc>
              <a:buNone/>
            </a:pPr>
            <a:r>
              <a:rPr lang="en-US" sz="1800" b="1" dirty="0">
                <a:solidFill>
                  <a:srgbClr val="0E8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Allineamento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2255550" y="3433465"/>
            <a:ext cx="4859540" cy="11895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 confrontano risposte diverse e indicano la migliore: qui si stabilisce tono e cautele.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952500" y="5346948"/>
            <a:ext cx="18021300" cy="4037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143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 esiste un assistente "neutro": il comportamento riflette scelte fatte da chi lo ha costruito</a:t>
            </a:r>
            <a:endParaRPr lang="en-US" sz="18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9572625"/>
            <a:ext cx="364778" cy="28575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469678" y="9563100"/>
            <a:ext cx="198893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9130"/>
              </a:lnSpc>
              <a:buNone/>
            </a:pPr>
            <a:r>
              <a:rPr lang="en-US" sz="15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AFGP · Formazione AI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17123569" y="9563100"/>
            <a:ext cx="28813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9130"/>
              </a:lnSpc>
              <a:buNone/>
            </a:pPr>
            <a:r>
              <a:rPr lang="en-US" sz="15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8021300" cy="3732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548"/>
              </a:lnSpc>
              <a:buNone/>
            </a:pPr>
            <a:r>
              <a:rPr lang="en-US" sz="1650" b="1" spc="132" kern="0" dirty="0">
                <a:solidFill>
                  <a:srgbClr val="0E8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L'UNITÀ DI MISURA DEL TESTO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52500" y="1382911"/>
            <a:ext cx="18021300" cy="5418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1385"/>
              </a:lnSpc>
              <a:buNone/>
            </a:pPr>
            <a:r>
              <a:rPr lang="en-US" sz="3450" b="1" dirty="0">
                <a:solidFill>
                  <a:srgbClr val="1F56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modello non legge parole: legge token</a:t>
            </a:r>
            <a:endParaRPr lang="en-US" sz="3450" dirty="0"/>
          </a:p>
        </p:txBody>
      </p:sp>
      <p:sp>
        <p:nvSpPr>
          <p:cNvPr id="4" name="Text 2"/>
          <p:cNvSpPr/>
          <p:nvPr/>
        </p:nvSpPr>
        <p:spPr>
          <a:xfrm>
            <a:off x="952500" y="5322987"/>
            <a:ext cx="7878032" cy="13181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token è un frammento di testo: una parola breve e frequente, un pezzo di parola più lunga o rara, un segno di punteggiatura, uno spazio.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9134475" y="4534198"/>
            <a:ext cx="19050" cy="285750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6" name="Shape 4"/>
          <p:cNvSpPr/>
          <p:nvPr/>
        </p:nvSpPr>
        <p:spPr>
          <a:xfrm>
            <a:off x="2667000" y="8373219"/>
            <a:ext cx="3714750" cy="619125"/>
          </a:xfrm>
          <a:prstGeom prst="roundRect">
            <a:avLst>
              <a:gd name="adj" fmla="val 9231"/>
            </a:avLst>
          </a:prstGeom>
          <a:solidFill>
            <a:srgbClr val="0E8A82"/>
          </a:solidFill>
          <a:ln/>
        </p:spPr>
      </p:sp>
      <p:sp>
        <p:nvSpPr>
          <p:cNvPr id="7" name="Text 5">
            <a:hlinkClick r:id="rId1" tooltip=""/>
          </p:cNvPr>
          <p:cNvSpPr/>
          <p:nvPr/>
        </p:nvSpPr>
        <p:spPr>
          <a:xfrm>
            <a:off x="2897029" y="8525619"/>
            <a:ext cx="3254693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35385"/>
              </a:lnSpc>
              <a:buNone/>
            </a:pPr>
            <a:r>
              <a:rPr lang="en-US" sz="1650" b="1" u="sng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Attention is all you need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9686925" y="3587800"/>
            <a:ext cx="7648575" cy="1443782"/>
          </a:xfrm>
          <a:prstGeom prst="roundRect">
            <a:avLst>
              <a:gd name="adj" fmla="val 5278"/>
            </a:avLst>
          </a:prstGeom>
          <a:solidFill>
            <a:srgbClr val="F4F6F9"/>
          </a:solidFill>
          <a:ln/>
        </p:spPr>
      </p:sp>
      <p:sp>
        <p:nvSpPr>
          <p:cNvPr id="9" name="Text 7"/>
          <p:cNvSpPr/>
          <p:nvPr/>
        </p:nvSpPr>
        <p:spPr>
          <a:xfrm>
            <a:off x="9991725" y="3854500"/>
            <a:ext cx="7742873" cy="5561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333"/>
              </a:lnSpc>
              <a:buNone/>
            </a:pPr>
            <a:r>
              <a:rPr lang="en-US" sz="2550" b="1" dirty="0">
                <a:solidFill>
                  <a:srgbClr val="0E8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~1,5</a:t>
            </a:r>
            <a:endParaRPr lang="en-US" sz="2550" dirty="0"/>
          </a:p>
        </p:txBody>
      </p:sp>
      <p:sp>
        <p:nvSpPr>
          <p:cNvPr id="10" name="Text 8"/>
          <p:cNvSpPr/>
          <p:nvPr/>
        </p:nvSpPr>
        <p:spPr>
          <a:xfrm>
            <a:off x="9991725" y="4429720"/>
            <a:ext cx="7742873" cy="3732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385"/>
              </a:lnSpc>
              <a:buNone/>
            </a:pPr>
            <a:r>
              <a:rPr lang="en-US" sz="16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 per parola, in italiano — stima grossolana, non un rapporto fisso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9686925" y="5241131"/>
            <a:ext cx="7648575" cy="1443782"/>
          </a:xfrm>
          <a:prstGeom prst="roundRect">
            <a:avLst>
              <a:gd name="adj" fmla="val 5278"/>
            </a:avLst>
          </a:prstGeom>
          <a:solidFill>
            <a:srgbClr val="F4F6F9"/>
          </a:solidFill>
          <a:ln/>
        </p:spPr>
      </p:sp>
      <p:sp>
        <p:nvSpPr>
          <p:cNvPr id="12" name="Text 10"/>
          <p:cNvSpPr/>
          <p:nvPr/>
        </p:nvSpPr>
        <p:spPr>
          <a:xfrm>
            <a:off x="9991725" y="5507831"/>
            <a:ext cx="7742873" cy="5561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333"/>
              </a:lnSpc>
              <a:buNone/>
            </a:pPr>
            <a:r>
              <a:rPr lang="en-US" sz="2550" b="1" dirty="0">
                <a:solidFill>
                  <a:srgbClr val="0E8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~1.000</a:t>
            </a:r>
            <a:endParaRPr lang="en-US" sz="2550" dirty="0"/>
          </a:p>
        </p:txBody>
      </p:sp>
      <p:sp>
        <p:nvSpPr>
          <p:cNvPr id="13" name="Text 11"/>
          <p:cNvSpPr/>
          <p:nvPr/>
        </p:nvSpPr>
        <p:spPr>
          <a:xfrm>
            <a:off x="9991725" y="6083052"/>
            <a:ext cx="7742873" cy="3732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385"/>
              </a:lnSpc>
              <a:buNone/>
            </a:pPr>
            <a:r>
              <a:rPr lang="en-US" sz="16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 per una pagina di testo fitto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9686925" y="6894463"/>
            <a:ext cx="7648575" cy="1443782"/>
          </a:xfrm>
          <a:prstGeom prst="roundRect">
            <a:avLst>
              <a:gd name="adj" fmla="val 5278"/>
            </a:avLst>
          </a:prstGeom>
          <a:solidFill>
            <a:srgbClr val="F4F6F9"/>
          </a:solidFill>
          <a:ln/>
        </p:spPr>
      </p:sp>
      <p:sp>
        <p:nvSpPr>
          <p:cNvPr id="15" name="Text 13"/>
          <p:cNvSpPr/>
          <p:nvPr/>
        </p:nvSpPr>
        <p:spPr>
          <a:xfrm>
            <a:off x="9991725" y="7161163"/>
            <a:ext cx="7742873" cy="5561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333"/>
              </a:lnSpc>
              <a:buNone/>
            </a:pPr>
            <a:r>
              <a:rPr lang="en-US" sz="2550" b="1" dirty="0">
                <a:solidFill>
                  <a:srgbClr val="0E8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~20.000</a:t>
            </a:r>
            <a:endParaRPr lang="en-US" sz="2550" dirty="0"/>
          </a:p>
        </p:txBody>
      </p:sp>
      <p:sp>
        <p:nvSpPr>
          <p:cNvPr id="16" name="Text 14"/>
          <p:cNvSpPr/>
          <p:nvPr/>
        </p:nvSpPr>
        <p:spPr>
          <a:xfrm>
            <a:off x="9991725" y="7736384"/>
            <a:ext cx="7742873" cy="3732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385"/>
              </a:lnSpc>
              <a:buNone/>
            </a:pPr>
            <a:r>
              <a:rPr lang="en-US" sz="16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 per un capitolato di venti pagine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2667000" y="7658844"/>
            <a:ext cx="3714750" cy="639961"/>
          </a:xfrm>
          <a:prstGeom prst="roundRect">
            <a:avLst>
              <a:gd name="adj" fmla="val 8930"/>
            </a:avLst>
          </a:prstGeom>
          <a:solidFill>
            <a:srgbClr val="0E8A82"/>
          </a:solidFill>
          <a:ln/>
        </p:spPr>
      </p:sp>
      <p:sp>
        <p:nvSpPr>
          <p:cNvPr id="18" name="Text 16">
            <a:hlinkClick r:id="rId2" tooltip=""/>
          </p:cNvPr>
          <p:cNvSpPr/>
          <p:nvPr/>
        </p:nvSpPr>
        <p:spPr>
          <a:xfrm>
            <a:off x="2897029" y="7811244"/>
            <a:ext cx="3254693" cy="3732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35385"/>
              </a:lnSpc>
              <a:buNone/>
            </a:pPr>
            <a:r>
              <a:rPr lang="en-US" sz="1650" b="1" u="sng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Tokenizzazione</a:t>
            </a:r>
            <a:endParaRPr lang="en-US" sz="1650" dirty="0"/>
          </a:p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9572625"/>
            <a:ext cx="364778" cy="28575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469678" y="9563100"/>
            <a:ext cx="198893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9130"/>
              </a:lnSpc>
              <a:buNone/>
            </a:pPr>
            <a:r>
              <a:rPr lang="en-US" sz="15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AFGP · Formazione AI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17123569" y="9563100"/>
            <a:ext cx="28813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9130"/>
              </a:lnSpc>
              <a:buNone/>
            </a:pPr>
            <a:r>
              <a:rPr lang="en-US" sz="15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8021300" cy="3732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548"/>
              </a:lnSpc>
              <a:buNone/>
            </a:pPr>
            <a:r>
              <a:rPr lang="en-US" sz="1650" b="1" spc="132" kern="0" dirty="0">
                <a:solidFill>
                  <a:srgbClr val="0E8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DOMANDA FREQUENTE IN AULA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52500" y="1382911"/>
            <a:ext cx="18021300" cy="5418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1385"/>
              </a:lnSpc>
              <a:buNone/>
            </a:pPr>
            <a:r>
              <a:rPr lang="en-US" sz="3450" b="1" dirty="0">
                <a:solidFill>
                  <a:srgbClr val="1F56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Stessa domanda, due volte: perché la risposta cambia</a:t>
            </a:r>
            <a:endParaRPr lang="en-US" sz="3450" dirty="0"/>
          </a:p>
        </p:txBody>
      </p:sp>
      <p:sp>
        <p:nvSpPr>
          <p:cNvPr id="4" name="Text 2"/>
          <p:cNvSpPr/>
          <p:nvPr/>
        </p:nvSpPr>
        <p:spPr>
          <a:xfrm>
            <a:off x="952500" y="4753273"/>
            <a:ext cx="7485602" cy="2324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1176"/>
              </a:lnSpc>
              <a:buNone/>
            </a:pPr>
            <a:r>
              <a:rPr lang="en-US" sz="22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scelta della parola successiva include, di default, un margine di casualità — governato da un parametro chiamato </a:t>
            </a:r>
            <a:pPr algn="l" indent="0" marL="0">
              <a:lnSpc>
                <a:spcPct val="141176"/>
              </a:lnSpc>
              <a:buNone/>
            </a:pPr>
            <a:r>
              <a:rPr lang="en-US" sz="2250" b="1" dirty="0">
                <a:solidFill>
                  <a:srgbClr val="1F56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temperatura </a:t>
            </a:r>
            <a:pPr algn="l" indent="0" marL="0">
              <a:lnSpc>
                <a:spcPct val="141176"/>
              </a:lnSpc>
              <a:buNone/>
            </a:pPr>
            <a:r>
              <a:rPr lang="en-US" sz="22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Non è un difetto: scegliere sempre la parola più probabile produrrebbe testi rigidi e ripetitivi.</a:t>
            </a:r>
            <a:endParaRPr lang="en-US" sz="2250" dirty="0"/>
          </a:p>
        </p:txBody>
      </p:sp>
      <p:sp>
        <p:nvSpPr>
          <p:cNvPr id="5" name="Shape 3"/>
          <p:cNvSpPr/>
          <p:nvPr/>
        </p:nvSpPr>
        <p:spPr>
          <a:xfrm>
            <a:off x="8753475" y="4562773"/>
            <a:ext cx="19050" cy="266700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6" name="Shape 4"/>
          <p:cNvSpPr/>
          <p:nvPr/>
        </p:nvSpPr>
        <p:spPr>
          <a:xfrm>
            <a:off x="9305925" y="4796730"/>
            <a:ext cx="8029575" cy="2199084"/>
          </a:xfrm>
          <a:prstGeom prst="roundRect">
            <a:avLst>
              <a:gd name="adj" fmla="val 3465"/>
            </a:avLst>
          </a:prstGeom>
          <a:solidFill>
            <a:srgbClr val="F4F6F9"/>
          </a:solidFill>
          <a:ln/>
        </p:spPr>
      </p:sp>
      <p:sp>
        <p:nvSpPr>
          <p:cNvPr id="7" name="Text 5"/>
          <p:cNvSpPr/>
          <p:nvPr/>
        </p:nvSpPr>
        <p:spPr>
          <a:xfrm>
            <a:off x="9686925" y="5215830"/>
            <a:ext cx="7994333" cy="449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9355"/>
              </a:lnSpc>
              <a:buNone/>
            </a:pPr>
            <a:r>
              <a:rPr lang="en-US" sz="2025" b="1" dirty="0">
                <a:solidFill>
                  <a:srgbClr val="1F56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Conseguenza pratica</a:t>
            </a:r>
            <a:endParaRPr lang="en-US" sz="2025" dirty="0"/>
          </a:p>
        </p:txBody>
      </p:sp>
      <p:sp>
        <p:nvSpPr>
          <p:cNvPr id="8" name="Text 6"/>
          <p:cNvSpPr/>
          <p:nvPr/>
        </p:nvSpPr>
        <p:spPr>
          <a:xfrm>
            <a:off x="9686925" y="5779591"/>
            <a:ext cx="7485602" cy="8352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0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Sulla riproducibilità di un LLM non si può contare. Per calcoli o procedure certificate, serve un controllo che verifichi l'esito.</a:t>
            </a:r>
            <a:endParaRPr lang="en-US" sz="2025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9572625"/>
            <a:ext cx="364778" cy="28575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469678" y="9563100"/>
            <a:ext cx="198893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9130"/>
              </a:lnSpc>
              <a:buNone/>
            </a:pPr>
            <a:r>
              <a:rPr lang="en-US" sz="15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AFGP · Formazione AI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7123569" y="9563100"/>
            <a:ext cx="28813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9130"/>
              </a:lnSpc>
              <a:buNone/>
            </a:pPr>
            <a:r>
              <a:rPr lang="en-US" sz="15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8021300" cy="3732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548"/>
              </a:lnSpc>
              <a:buNone/>
            </a:pPr>
            <a:r>
              <a:rPr lang="en-US" sz="1650" b="1" spc="132" kern="0" dirty="0">
                <a:solidFill>
                  <a:srgbClr val="0E8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 CORREGGERE SUBITO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52500" y="1382911"/>
            <a:ext cx="18021300" cy="5418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1385"/>
              </a:lnSpc>
              <a:buNone/>
            </a:pPr>
            <a:r>
              <a:rPr lang="en-US" sz="3450" b="1" dirty="0">
                <a:solidFill>
                  <a:srgbClr val="1F56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Quattro convinzioni che vale la pena smontare</a:t>
            </a:r>
            <a:endParaRPr lang="en-US" sz="3450" dirty="0"/>
          </a:p>
        </p:txBody>
      </p:sp>
      <p:sp>
        <p:nvSpPr>
          <p:cNvPr id="4" name="Shape 2"/>
          <p:cNvSpPr/>
          <p:nvPr/>
        </p:nvSpPr>
        <p:spPr>
          <a:xfrm>
            <a:off x="952500" y="2420094"/>
            <a:ext cx="8058150" cy="2011561"/>
          </a:xfrm>
          <a:prstGeom prst="roundRect">
            <a:avLst>
              <a:gd name="adj" fmla="val 3788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2782044"/>
            <a:ext cx="8109585" cy="449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9355"/>
              </a:lnSpc>
              <a:buNone/>
            </a:pPr>
            <a:r>
              <a:rPr lang="en-US" sz="2025" b="1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"È arrivata con ChatGPT"</a:t>
            </a:r>
            <a:endParaRPr lang="en-US" sz="2025" dirty="0"/>
          </a:p>
        </p:txBody>
      </p:sp>
      <p:sp>
        <p:nvSpPr>
          <p:cNvPr id="6" name="Text 4"/>
          <p:cNvSpPr/>
          <p:nvPr/>
        </p:nvSpPr>
        <p:spPr>
          <a:xfrm>
            <a:off x="1295400" y="3326755"/>
            <a:ext cx="7593521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806"/>
              </a:lnSpc>
              <a:buNone/>
            </a:pPr>
            <a:r>
              <a:rPr lang="en-US" sz="1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È da decenni, ed è già in azienda. Il cambiamento è nell'accesso, non nell'esistenza.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9277350" y="2420094"/>
            <a:ext cx="8058150" cy="2011561"/>
          </a:xfrm>
          <a:prstGeom prst="roundRect">
            <a:avLst>
              <a:gd name="adj" fmla="val 3788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9620250" y="2782044"/>
            <a:ext cx="8109585" cy="449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9355"/>
              </a:lnSpc>
              <a:buNone/>
            </a:pPr>
            <a:r>
              <a:rPr lang="en-US" sz="2025" b="1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"Se sbaglia, è difettoso"</a:t>
            </a:r>
            <a:endParaRPr lang="en-US" sz="2025" dirty="0"/>
          </a:p>
        </p:txBody>
      </p:sp>
      <p:sp>
        <p:nvSpPr>
          <p:cNvPr id="9" name="Text 7"/>
          <p:cNvSpPr/>
          <p:nvPr/>
        </p:nvSpPr>
        <p:spPr>
          <a:xfrm>
            <a:off x="9620250" y="3326755"/>
            <a:ext cx="810958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806"/>
              </a:lnSpc>
              <a:buNone/>
            </a:pPr>
            <a:r>
              <a:rPr lang="en-US" sz="1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Sbagliare è una proprietà del sistema, non un guasto occasionale.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952500" y="4698355"/>
            <a:ext cx="8058150" cy="2011561"/>
          </a:xfrm>
          <a:prstGeom prst="roundRect">
            <a:avLst>
              <a:gd name="adj" fmla="val 3788"/>
            </a:avLst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1295400" y="5060305"/>
            <a:ext cx="8109585" cy="449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9355"/>
              </a:lnSpc>
              <a:buNone/>
            </a:pPr>
            <a:r>
              <a:rPr lang="en-US" sz="2025" b="1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"Ieri rispondeva diverso, non è affidabile"</a:t>
            </a:r>
            <a:endParaRPr lang="en-US" sz="2025" dirty="0"/>
          </a:p>
        </p:txBody>
      </p:sp>
      <p:sp>
        <p:nvSpPr>
          <p:cNvPr id="12" name="Text 10"/>
          <p:cNvSpPr/>
          <p:nvPr/>
        </p:nvSpPr>
        <p:spPr>
          <a:xfrm>
            <a:off x="1295400" y="5605016"/>
            <a:ext cx="7593521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806"/>
              </a:lnSpc>
              <a:buNone/>
            </a:pPr>
            <a:r>
              <a:rPr lang="en-US" sz="1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variabilità è progettata: due risposte diverse possono essere entrambe corrette.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9277350" y="4698355"/>
            <a:ext cx="8058150" cy="2011561"/>
          </a:xfrm>
          <a:prstGeom prst="roundRect">
            <a:avLst>
              <a:gd name="adj" fmla="val 3788"/>
            </a:avLst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9620250" y="5060305"/>
            <a:ext cx="8109585" cy="449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9355"/>
              </a:lnSpc>
              <a:buNone/>
            </a:pPr>
            <a:r>
              <a:rPr lang="en-US" sz="2025" b="1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"Cerca su internet e riporta ciò che trova"</a:t>
            </a:r>
            <a:endParaRPr lang="en-US" sz="2025" dirty="0"/>
          </a:p>
        </p:txBody>
      </p:sp>
      <p:sp>
        <p:nvSpPr>
          <p:cNvPr id="15" name="Text 13"/>
          <p:cNvSpPr/>
          <p:nvPr/>
        </p:nvSpPr>
        <p:spPr>
          <a:xfrm>
            <a:off x="9620250" y="5605016"/>
            <a:ext cx="7593521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806"/>
              </a:lnSpc>
              <a:buNone/>
            </a:pPr>
            <a:r>
              <a:rPr lang="en-US" sz="1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 se lo strumento ha quella funzione attiva. Altrimenti ricostruisce dalla propria conoscenza.</a:t>
            </a:r>
            <a:endParaRPr lang="en-US" sz="195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9572625"/>
            <a:ext cx="364778" cy="28575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469678" y="9563100"/>
            <a:ext cx="198893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9130"/>
              </a:lnSpc>
              <a:buNone/>
            </a:pPr>
            <a:r>
              <a:rPr lang="en-US" sz="15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AFGP · Formazione AI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17123569" y="9563100"/>
            <a:ext cx="28813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9130"/>
              </a:lnSpc>
              <a:buNone/>
            </a:pPr>
            <a:r>
              <a:rPr lang="en-US" sz="15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43C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500" y="3241179"/>
            <a:ext cx="17183100" cy="3732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548"/>
              </a:lnSpc>
              <a:buNone/>
            </a:pPr>
            <a:r>
              <a:rPr lang="en-US" sz="1650" b="1" spc="132" kern="0" dirty="0">
                <a:solidFill>
                  <a:srgbClr val="7FD4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 QUI IN AVANTI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333500" y="3804940"/>
            <a:ext cx="15716250" cy="592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9781"/>
              </a:lnSpc>
              <a:buNone/>
            </a:pPr>
            <a:r>
              <a:rPr lang="en-US" sz="3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Quattro conseguenze che il percorso riprenderà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1333500" y="4816822"/>
            <a:ext cx="1571625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250"/>
              </a:lnSpc>
              <a:buNone/>
            </a:pPr>
            <a:r>
              <a:rPr lang="en-US" sz="2100" b="1" dirty="0">
                <a:solidFill>
                  <a:srgbClr val="7FD4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modello può inventare bene </a:t>
            </a:r>
            <a:pPr algn="l" indent="0" marL="0">
              <a:lnSpc>
                <a:spcPct val="131250"/>
              </a:lnSpc>
              <a:buNone/>
            </a:pPr>
            <a:r>
              <a:rPr lang="en-US" sz="2100" dirty="0">
                <a:solidFill>
                  <a:srgbClr val="FFFFFF">
                    <a:alpha val="8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le allucinazioni si gestiscono verificando, non delegando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333500" y="5426422"/>
            <a:ext cx="1571625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250"/>
              </a:lnSpc>
              <a:buNone/>
            </a:pPr>
            <a:r>
              <a:rPr lang="en-US" sz="2100" b="1" dirty="0">
                <a:solidFill>
                  <a:srgbClr val="7FD4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contesto va fornito </a:t>
            </a:r>
            <a:pPr algn="l" indent="0" marL="0">
              <a:lnSpc>
                <a:spcPct val="131250"/>
              </a:lnSpc>
              <a:buNone/>
            </a:pPr>
            <a:r>
              <a:rPr lang="en-US" sz="2100" dirty="0">
                <a:solidFill>
                  <a:srgbClr val="FFFFFF">
                    <a:alpha val="8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non conosce l'azienda: da qui la tecnica del prompt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333500" y="6036022"/>
            <a:ext cx="1571625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250"/>
              </a:lnSpc>
              <a:buNone/>
            </a:pPr>
            <a:r>
              <a:rPr lang="en-US" sz="2100" b="1" dirty="0">
                <a:solidFill>
                  <a:srgbClr val="7FD4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Ciò che si scrive è una decisione </a:t>
            </a:r>
            <a:pPr algn="l" indent="0" marL="0">
              <a:lnSpc>
                <a:spcPct val="131250"/>
              </a:lnSpc>
              <a:buNone/>
            </a:pPr>
            <a:r>
              <a:rPr lang="en-US" sz="2100" dirty="0">
                <a:solidFill>
                  <a:srgbClr val="FFFFFF">
                    <a:alpha val="8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dati riservati compresi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333500" y="6645622"/>
            <a:ext cx="1571625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250"/>
              </a:lnSpc>
              <a:buNone/>
            </a:pPr>
            <a:r>
              <a:rPr lang="en-US" sz="2100" b="1" dirty="0">
                <a:solidFill>
                  <a:srgbClr val="7FD4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 tutti i compiti sono suoi </a:t>
            </a:r>
            <a:pPr algn="l" indent="0" marL="0">
              <a:lnSpc>
                <a:spcPct val="131250"/>
              </a:lnSpc>
              <a:buNone/>
            </a:pPr>
            <a:r>
              <a:rPr lang="en-US" sz="2100" dirty="0">
                <a:solidFill>
                  <a:srgbClr val="FFFFFF">
                    <a:alpha val="8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riconoscere dove sì e dove no è parte del percorso</a:t>
            </a:r>
            <a:endParaRPr lang="en-US" sz="21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9486900"/>
            <a:ext cx="486370" cy="3810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91270" y="9525000"/>
            <a:ext cx="198893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9130"/>
              </a:lnSpc>
              <a:buNone/>
            </a:pPr>
            <a:r>
              <a:rPr lang="en-US" sz="1500" b="1" dirty="0">
                <a:solidFill>
                  <a:srgbClr val="FFFFFF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AFGP · Formazione AI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7123569" y="9563100"/>
            <a:ext cx="28813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9130"/>
              </a:lnSpc>
              <a:buNone/>
            </a:pPr>
            <a:r>
              <a:rPr lang="en-US" sz="1500" b="1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2026-09-03T08:54:57Z</dcterms:created>
  <dcterms:modified xsi:type="dcterms:W3CDTF">2026-09-03T08:54:57Z</dcterms:modified>
</cp:coreProperties>
</file>