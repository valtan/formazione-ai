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Presentarsi e inquadrare: questo blocco dura 15 minuti nel percorso complessivo di 12 giornate. Il documento di base copre molto più di quanto entrerà in aula: qui vediamo solo il nucleo. Obiettivo del blocco: che i partecipanti smettano di pensare all'AI come 'una cosa nata con ChatGPT nel 2023' e capiscano cosa succede davvero quando premono invio su un assistente conversazionale.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Leggere gli obiettivi senza soffermarsi troppo: servono a dare al gruppo una mappa di quello che arriva, non un elenco da spiegare. Il quinto obiettivo del documento (perché il salto è avvenuto ora) entra qui solo come promemoria: nel blocco da 15' se ne dice una frase, il resto è per le domande.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effetti indesiderati del confondere AI con 'ChatGPT e simili', dal §1 del documento. Primo: rende invisibile ciò che l'azienda già fa (filtro spam, lettura fatture, previsione domanda, controllo qualità). Secondo: confonde le aspettative — l'AI classica fa una cosa sola in modo prevedibile, la generativa fa molte cose senza garantire la stessa risposta due volte. Terzo: le regole europee sull'AI riguardano l'AI in senso ampio, non solo gli assistenti conversazionali — il tema si approfondisce nella giornata sulla normativa, ma la distinzione va posta 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Esempi da adattare con il referente tecnico Agritech: citare strumenti che l'azienda non usa indebolisce l'argomento. Filtro spam: nessuno ha scritto le regole, sono ricavate da esempi e si aggiornano ogni volta che qualcuno segnala un messaggio. Lettura fatture: riconoscimento ottico che estrae numero, data, importo — interessa amministrazione e acquisti. Previsione della domanda: stima da storico e stagionalità, la più diffusa nelle aziende industriali. Messaggio chiave: chi crede che l'AI sia arrivata nel 2023 pensa di partire da zero, quando invece parte da un'esperienza aziendale da valorizzare.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Mappa ridotta all'osso per l'aula, dal §2.2. Intelligenza artificiale: insieme più grande, etichetta dagli anni '50. Apprendimento automatico (machine learning): sistemi che ricavano le regole dai dati — qui sta la maggioranza dell'AI usata oggi in azienda. Apprendimento profondo (deep learning): reti neurali a molti strati, tratta immagini/suoni/testo libero. AI generativa: produce contenuto nuovo. Messaggio da portare a casa, non la nomenclatura: l'AI generativa è un ramo recente di una pianta molto più vecchia, e i due tipi convivranno in azienda invece di sostituirsi.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operativa da §2.3, l'unica che i partecipanti devono ricordare. AI non generativa: sceglie tra risposte già definite, lo spazio delle possibilità è deciso in anticipo da chi ha progettato il sistema. AI generativa: costruisce una risposta che non esisteva, non archiviata da nessuna parte — due domande identiche, due risposte diverse, entrambe legittime.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Tabella da §2.3. L'ultima riga è il motivo per cui esiste un corso di dodici giornate: con l'AI tradizionale il lavoro umano sta a monte, una volta sola, ed è lavoro da tecnici; con l'AI generativa il lavoro umano sta a valle, tutte le volte, ed è lavoro di chi la 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verso §2.5. In aula, in 15 minuti, di questa sezione entra una frase sola (vedi nota per il formatore, §8): non una scoperta improvvisa, ma quattro condizioni che a un certo punto si sono trovate insieme. Le reti neurali esistono da decenni; l'intelligenza artificiale come etichetta dagli anni '50. Nulla di tutto questo dice che la macchina abbia iniziato a pensare.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§2.5. Architettura (2017, Attention Is All You Need, Google): il transformer è parallelizzabile, non 'più intelligente'; questo ha reso praticabile l'addestramento su grandi quantità di testo. Potenza di calcolo: le schede grafiche per videogiochi si sono rivelate lo strumento giusto, dai primi anni Dieci. Dati: quantità di testo digitalizzato cresciuta con il web. Scala: la constatazione empirica che aumentare dimensione, dati e calcolo insieme migliora i risultati in modo regolare — non era scontato, e ha convinto le aziende a investire cifre enormi. Precisazione da dare se richiesta: ciò che migliora in modo prevedibile è la capacità generale di prevedere il testo, non necessariamente il miglioramento su un compito specifico.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chiave da §2.5: il salto tecnico e il salto percepito non coincidono. Nel 2020-2021 i grandi modelli esistevano già ed erano potenti, ma riservati a chi sapeva impostare il testo per un uso tecnico. Ciò che è cambiato con ChatGPT (30 novembre 2022) è l'insieme fra un addestramento a seguire istruzioni e una forma d'uso accessibile a chiunque: la conversazione. Conseguenza per l'azienda: la competenza che serve oggi non è informatica, è saper descrivere con precisione un compito che si conosce bene — motivo per cui il corso si rivolge agli uffici e non alla funzione informatica.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da dire esattamente così, da §3.1: 'Un LLM è un sistema che, dato un testo, calcola quale sia la continuazione più plausibile e la produce un pezzo alla volta.' Tutto ciò che un assistente sa fare — rispondere, riassumere, tradurre, riscrivere — è quella singola operazione ripetuta migliaia di volte. Se qualcuno chiede perché sembra ragionare: per prevedere bene la continuazione bisogna aver colto moltissime regolarità del mondo, e questo produce un comportamento che assomiglia al ragionamento. Il sistema è ottimizzato per produrre risposte plausibili, non vere — nella maggioranza dei casi coincidono, ma quando non coincidono il sistema non se ne accorge.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§3.3. Punto più utile per l'azienda: il modello non sa nulla di voi finché non glielo dite — memoria delle conversazioni, progetti con documenti, collegamenti agli archivi non aggiungono conoscenza al modello, gli mettono davanti testi al momento della richiesta (ancoraggio, si affronta più avanti). Data di aggiornamento: l'addestramento si ferma a un certo punto; il modello risponde comunque con la stessa sicurezza anche su ciò che non sa. Bias: le associazioni frequenti nei testi di addestramento ricompaiono nelle risposte, è un riflesso statistico non una scelta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§3.4. Pre-addestramento: fase lunga e costosa, il sistema impara a prevedere il token successivo su enormi quantità di testo; alla fine è bravissimo a continuare testo ma non è ancora un assistente. Ottimizzazione con esempi di istruzioni (instruction tuning): coppie richiesta-risposta insegnano il formato dello scambio. Allineamento tramite feedback: risposte confrontate e valutate da persone (e sempre più da altri modelli sotto supervisione umana) stabiliscono tono, cautele, rifiuti. Conseguenza per l'azienda: il comportamento di un assistente riflette scelte fatte da chi lo ha costruito — non esiste un assistente 'neutro'.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§3.2. Il modello non lavora su parole intere ma su token, frammenti di testo: una parola breve e frequente vale spesso un solo token, una parola tecnica, un nome proprio o un codice articolo si spezza in più token. Ordine di grandezza puramente indicativo: in italiano una parola vale attorno a un token e mezzo, con variazioni ampie. L'italiano è meno efficiente dell'inglese non per la lunghezza delle parole ma perché i tokenizzatori sono costruiti su testi in larga prevalenza inglesi e frammentano di più tutte le altre lingue. Una pagina fitta si aggira attorno al migliaio di token, un capitolato di venti pagine attorno alle ventimila: stime grossolane, buone per farsi un'idea di scala, non per fare conti — il rapporto esatto dipende dallo strumento. Motivo per cui contano cinque minuti: i token misurano quanto testo il modello considera per volta (finestra di contesto) e quanto costa l'uso a consumo. Nei piani gratuiti o in abbonamento individuale i limiti sono invece espressi in messaggi per finestra temporale, e cambiano nel tempo: chi cercasse un contatore di token nel proprio piano non lo troverebbe. Oltre a questo i token non servono, non vale la pena andare oltre.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§3.5. La scelta del token successivo non prende sempre il più probabile: un parametro chiamato temperatura introduce un margine di casualità, non modificabile dall'utente nelle interfacce comuni. Non è un'incoerenza né un malfunzionamento: prendere sempre il token più probabile produce testi rigidi e ripetitivi. Su domande brevi e fattuali la risposta risulta spesso identica. Conseguenza pratica: sulla riproducibilità di un LLM non si può contare — se un'attività richiede che lo stesso input dia sempre lo stesso risultato, un assistente conversazionale non è lo strumento adatto, o va usato dentro controlli che ne verifichino l'esito.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§6, le convinzioni che ricorrono con regolarità in aula, intercettate qui perché non tornino più. 1) 'Arrivata con ChatGPT' — è da decenni, il cambiamento è nell'accesso. 2) 'Se sbaglia è difettoso' — sbagliare è una proprietà statistica del sistema, non un guasto; il metro è 'sbaglia abbastanza poco da farmi risparmiare tempo netto'. 3) 'Risposta diversa da ieri = non affidabile' — la variabilità è progettata, va distinta dall'inaffidabilità. 4) 'Cerca su internet' — solo se lo strumento ha quella funzione attiva; altrimenti ricostruisce dalla propria conoscenza, ferma alla data di aggiornamento. Ce ne sono altre nel documento (dati in pasto all'AI, impara da solo) da usare se emergono domande.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§4, il legame verso il resto del percorso, senza svilupparlo: ciascun punto avrà il suo spazio più avanti. Allucinazione → si gestisce verificando, non delegando il controllo allo strumento. Contesto → tecnica del prompt. Riservatezza → giornata dedicata alla normativa. Non riproducibile e non calcolatore → non tutti i compiti sono suoi; gran parte del percorso è riconoscere quali sì e quali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Blocco frontale di 10 minuti, giornata 1 di Agritech (17:50–18:00). Apertura: il tema non è tecnico, è un'abitudine da fissare da subito — l'output si legge sempre prima di usarlo, e per gli usi che contano si verifica anche il contenuto, non solo la forma. Fonte completa: 2026-09-07-limiti-e-allucinazioni-materiale.md.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Scorrere rapidamente l'indice (30 secondi): non è un elenco da leggere, serve solo a dare una cornice — il blocco è breve e i sei punti si toccano, non si sviluppano tutti allo stesso modo.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paragone: un errore in un foglio di calcolo si vede (un numero assurdo, un errore evidente). Un errore di un assistente conversazionale, quasi sempre, non si vede: è scritto bene, formattato bene, con lo stesso tono sicuro del resto. I tre esempi sono scenari concreti per gli uffici in aula (commerciale, tecnico, amministrazione, acquisti). Il messaggio di chiusura: questo blocco non serve a scoraggiare l'uso dell'AI, serve a fissare un riflesso fin dal primo giorno.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definizione va detta lentamente, è la frase-chiave del blocco. Poi le tre caratteristiche: non è segnalata (nessun 'non lo so' affidabile), è plausibile e non casuale (assomiglia molto al vero, per questo va controllata anche quando 'sembra' corretta), e non è un bug che sparisce con la prossima versione — ogni fornitore serio lo dichiara nelle proprie condizioni d'uso.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modello non ha un modulo interno che verifica se un'affermazione è vera: calcola la continuazione più plausibile di ciò che ha davanti, un pezzo di testo alla volta. Vero e plausibile coincidono quasi sempre, ma quando non coincidono il sistema non se ne accorge. I cinque fattori sono la lista pratica da avere in mente: più la richiesta cade in una di queste zone, più serve attenzione. Il quarto punto (richieste vaghe) è l'aggancio diretto all'esercizio di prompting che segue tra poco: un prompt che lascia impliciti destinatario, tono o dati costringe il modello a riempire da solo quei vuoti.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 Canada sostenne di non essere responsabile delle informazioni fornite dal proprio chatbot, definendolo 'un'entità legale separata'. Il tribunale ha respinto questa difesa: un'azienda risponde di tutte le informazioni sul proprio sito, comprese quelle generate da un assistente automatico, e il cliente non aveva motivo di fidarsi meno del chatbot che della pagina ufficiale. Nel materiale di base (§5.2) c'è un secondo caso, quello dell'avvocato che citò in tribunale sentenze inventate da ChatGPT (Mata v. Avianca, 2023, sanzione di 5.000 $): utile se in aula serve un secondo esempio o se la domanda arriva da qualcuno con formazione giuridica.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regola è graduata sul rischio dell'uso, non sull'argomento. Due scorciatoie da smontare esplicitamente: chiedere conferma allo stesso assistente non è una verifica (sta di nuovo generando la continuazione più plausibile, non consultando un archivio di verità); un secondo strumento diverso aiuta ma non sostituisce la fonte primaria, perché due strumenti indipendenti possono convergere sullo stesso errore se nasce da una lacuna comune nei dati di addestramento.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Chiusura in 20-30 secondi, poi si passa alla panoramica del mercato (blocco successivo, 18:00–18:10) o direttamente all'esercizio, a seconda di come il formatore ha scelto di gestire l'aggancio (vedi nota 'Come usare questo documento' nel materiale di base). Il terzo punto è il ponte: durante il debrief della Fase A vale la pena un richiamo di trenta secondi a questo blocco.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Blocco frontale di 10 minuti, giornata 1 di Agritech (18:00–18:10), subito dopo il blocco su limiti e allucinazioni. Vincolo di impostazione da tenere a mente: le linee guida del progetto chiedono che in prima giornata la panoramica di mercato resti un accenno — mappa d'insieme, nessun approfondimento. L'approfondimento vero (famiglie di LLM, Projects/Skills/Plugin-MCP) è in giornata 3. Fonte completa: 2026-09-07-panoramica-mercato-strumenti-materiale.md.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Scorrere rapidamente l'indice (30 secondi). Il filo conduttore che tiene insieme i quattro punti: la mappa per famiglie conta più dei singoli nomi di prodotto, che cambiano continuamente.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paragone utile: chiedere la stessa cosa a due strumenti diversi produce quasi sempre due risposte entrambe ragionevoli, scritte in modo diverso — non una giusta e una sbagliata. Le due distorsioni da smontare: credere che esista un solo strumento 'giusto' (primo punto), e la sensazione di dover scegliere subito da soli, con l'ansia di sbagliare (secondo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centrale del blocco: se resta una sola cosa, deve restare questa. La domanda 'da dove parte l'utente' orienta subito verso una famiglia, prima ancora di aver scelto un fornitore preciso. Copilot qui è la versione consumer (Windows/Edge/copilot.microsoft.com), da non confondere con Microsoft 365 Copilot nella famiglia 2. Se qualcuno chiede di alternative europee (es. Mistral) o modelli aperti/locali: esistono, sono nel materiale di base (§3), ma oggi restano fuori — si torna in giornata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Tabella di partenza per una discussione, non un verdetto: ogni riga ha eccezioni a seconda del prodotto e del piano scelto. Sulla riga CONTESTO: alcuni chatbot generalisti (es. Claude, ChatGPT) offrono connettori verso Google Workspace, repository e altre fonti, quindi il confine con la famiglia 2 non è netto — la differenza vera è che nella famiglia 2 l'accesso è nativo, incluso di default, mentre nella famiglia 1 va aggiunto. Sulla riga ADOZIONE: i chatbot generalisti offrono spesso più funzionalità (ricerca web, generazione immagini, esecuzione di codice, connettori), ma sono anche tutte da scoprire — non è detto che l'attrito iniziale sia minore. Non sostituisce una valutazione fatta sui processi reali dell'azienda — è esattamente ciò che l'assessment e le prime giornate del percorso raccoglieranno.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da sottolineare esplicitamente: Claude non genera immagini, a differenza di ChatGPT e Gemini — è un'assenza, non un limite tecnico nascosto, e va detta senza minimizzarla né drammatizzarla. Ricordare che il percorso è orientato verso Claude nell'impostazione generale (materiale di base, §7), ma la scelta definitiva per Agritech non è ancora fatta.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Molti partecipanti lo conosceranno già solo per sentito dire, ed è spesso il metro di paragone implicito per gli altri due — utile ricondurlo alla stessa griglia di lettura (ricerca/creatività, documenti, uso quotidiano) invece di trattarlo come un caso a parte. Le funzioni video e la gamma esatta dei piani cambiano spesso: ricontrollare prima della lezione.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da far notare è il collegamento con la slide della mappa in due famiglie: Gemini è l'unico dei tre che vive in modo nativo in entrambe le famiglie — chatbot a sé stante e AI integrata nella suite, per chi usa già Google Workspace. Utile chiedere in aula, con una domanda veloce, quale suite di produttività usa già la maggioranza dei presenti.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 chiusura del blocco 'tre prodotti': riporta al principio già stabilito — nessun vincitore assoluto. Sulla riga RICERCA &amp; CREATIVITÀ: l'assenza di generazione immagini in Claude è l'unica vera differenza netta 'sì/no'; sul resto le differenze sono più di sfumatura (nome della funzione, piano in cui è inclusa) che di sostanza. Collegamento pratico per Agritech: la scelta finale terrà conto anche di quale suite di produttività l'azienda già usa (materiale di base,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olab.research.google.com/drive/14E3g-S2iKQTzHWlD-hQTL0qShl8IS3Po?usp=sharing" TargetMode="External"/><Relationship Id="rId2" Type="http://schemas.openxmlformats.org/officeDocument/2006/relationships/hyperlink" Target="https://colab.research.google.com/drive/1ie8wR6purmeU4SyHpt_zNitSoJ8VtGAQ?usp=sharing#scrollTo=58UteImxdo-T" TargetMode="External"/><Relationship Id="rId3" Type="http://schemas.openxmlformats.org/officeDocument/2006/relationships/image" Target="../media/image-14-1.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C6E"/>
        </a:solidFill>
      </p:bgPr>
    </p:bg>
    <p:spTree>
      <p:nvGrpSpPr>
        <p:cNvPr id="1" name=""/>
        <p:cNvGrpSpPr/>
        <p:nvPr/>
      </p:nvGrpSpPr>
      <p:grpSpPr>
        <a:xfrm>
          <a:off x="0" y="0"/>
          <a:ext cx="0" cy="0"/>
          <a:chOff x="0" y="0"/>
          <a:chExt cx="0" cy="0"/>
        </a:xfrm>
      </p:grpSpPr>
      <p:sp>
        <p:nvSpPr>
          <p:cNvPr id="2" name="Text 0"/>
          <p:cNvSpPr/>
          <p:nvPr/>
        </p:nvSpPr>
        <p:spPr>
          <a:xfrm>
            <a:off x="1333500" y="3447455"/>
            <a:ext cx="171831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7FD4CC"/>
                </a:solidFill>
                <a:latin typeface="Arial" pitchFamily="34" charset="0"/>
                <a:ea typeface="Arial" pitchFamily="34" charset="-122"/>
                <a:cs typeface="Arial" pitchFamily="34" charset="-120"/>
              </a:rPr>
              <a:t>GIORNATA 1 · APERTURA DEL PERCORSO · AGRITECH</a:t>
            </a:r>
            <a:endParaRPr lang="en-US" sz="1650" dirty="0"/>
          </a:p>
        </p:txBody>
      </p:sp>
      <p:sp>
        <p:nvSpPr>
          <p:cNvPr id="3" name="Text 1"/>
          <p:cNvSpPr/>
          <p:nvPr/>
        </p:nvSpPr>
        <p:spPr>
          <a:xfrm>
            <a:off x="1333500" y="4049316"/>
            <a:ext cx="14716125" cy="1403449"/>
          </a:xfrm>
          <a:prstGeom prst="rect">
            <a:avLst/>
          </a:prstGeom>
          <a:noFill/>
          <a:ln/>
        </p:spPr>
        <p:txBody>
          <a:bodyPr wrap="square" lIns="25400" tIns="25400" rIns="25400" bIns="25400" rtlCol="0" anchor="t">
            <a:normAutofit/>
          </a:bodyPr>
          <a:lstStyle/>
          <a:p>
            <a:pPr algn="l" indent="0" marL="0">
              <a:lnSpc>
                <a:spcPct val="79644"/>
              </a:lnSpc>
              <a:buNone/>
            </a:pPr>
            <a:r>
              <a:rPr lang="en-US" sz="4800" b="1" dirty="0">
                <a:solidFill>
                  <a:srgbClr val="FFFFFF"/>
                </a:solidFill>
                <a:latin typeface="Arial" pitchFamily="34" charset="0"/>
                <a:ea typeface="Arial" pitchFamily="34" charset="-122"/>
                <a:cs typeface="Arial" pitchFamily="34" charset="-120"/>
              </a:rPr>
              <a:t>Che cos'è l'intelligenza artificiale, e come funziona un modello linguistico</a:t>
            </a:r>
            <a:endParaRPr lang="en-US" sz="4800" dirty="0"/>
          </a:p>
        </p:txBody>
      </p:sp>
      <p:sp>
        <p:nvSpPr>
          <p:cNvPr id="4" name="Text 2"/>
          <p:cNvSpPr/>
          <p:nvPr/>
        </p:nvSpPr>
        <p:spPr>
          <a:xfrm>
            <a:off x="1333500" y="5681365"/>
            <a:ext cx="11772900" cy="1196280"/>
          </a:xfrm>
          <a:prstGeom prst="rect">
            <a:avLst/>
          </a:prstGeom>
          <a:noFill/>
          <a:ln/>
        </p:spPr>
        <p:txBody>
          <a:bodyPr wrap="square" lIns="25400" tIns="25400" rIns="25400" bIns="25400" rtlCol="0" anchor="t">
            <a:normAutofit/>
          </a:bodyPr>
          <a:lstStyle/>
          <a:p>
            <a:pPr algn="l" indent="0" marL="0">
              <a:lnSpc>
                <a:spcPct val="141395"/>
              </a:lnSpc>
              <a:buNone/>
            </a:pPr>
            <a:r>
              <a:rPr lang="en-US" sz="2850" dirty="0">
                <a:solidFill>
                  <a:srgbClr val="FFFFFF">
                    <a:alpha val="72000"/>
                  </a:srgbClr>
                </a:solidFill>
                <a:latin typeface="Arial" pitchFamily="34" charset="0"/>
                <a:ea typeface="Arial" pitchFamily="34" charset="-122"/>
                <a:cs typeface="Arial" pitchFamily="34" charset="-120"/>
              </a:rPr>
              <a:t>Cosa distingue l'AI generativa da quella che avete già in azienda, e cosa succede davvero quando premono invio</a:t>
            </a:r>
            <a:endParaRPr lang="en-US" sz="2850" dirty="0"/>
          </a:p>
        </p:txBody>
      </p:sp>
      <p:sp>
        <p:nvSpPr>
          <p:cNvPr id="5" name="Shape 3"/>
          <p:cNvSpPr/>
          <p:nvPr/>
        </p:nvSpPr>
        <p:spPr>
          <a:xfrm>
            <a:off x="952500" y="9391650"/>
            <a:ext cx="1187797" cy="476250"/>
          </a:xfrm>
          <a:prstGeom prst="roundRect">
            <a:avLst>
              <a:gd name="adj" fmla="val 12000"/>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104900" y="9467850"/>
            <a:ext cx="882997" cy="323850"/>
          </a:xfrm>
          <a:prstGeom prst="rect">
            <a:avLst/>
          </a:prstGeom>
        </p:spPr>
      </p:pic>
      <p:sp>
        <p:nvSpPr>
          <p:cNvPr id="7" name="Shape 4"/>
          <p:cNvSpPr/>
          <p:nvPr/>
        </p:nvSpPr>
        <p:spPr>
          <a:xfrm>
            <a:off x="14220825" y="9344025"/>
            <a:ext cx="3231505" cy="476250"/>
          </a:xfrm>
          <a:prstGeom prst="roundRect">
            <a:avLst>
              <a:gd name="adj" fmla="val 50000"/>
            </a:avLst>
          </a:prstGeom>
          <a:ln w="9525">
            <a:solidFill>
              <a:srgbClr val="FFFFFF">
                <a:alpha val="32000"/>
              </a:srgbClr>
            </a:solidFill>
            <a:prstDash val="solid"/>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439900" y="9477375"/>
            <a:ext cx="209550" cy="209550"/>
          </a:xfrm>
          <a:prstGeom prst="rect">
            <a:avLst/>
          </a:prstGeom>
        </p:spPr>
      </p:pic>
      <p:sp>
        <p:nvSpPr>
          <p:cNvPr id="9" name="Text 5"/>
          <p:cNvSpPr/>
          <p:nvPr/>
        </p:nvSpPr>
        <p:spPr>
          <a:xfrm>
            <a:off x="14763750" y="9467850"/>
            <a:ext cx="2545705" cy="266700"/>
          </a:xfrm>
          <a:prstGeom prst="rect">
            <a:avLst/>
          </a:prstGeom>
          <a:noFill/>
          <a:ln/>
        </p:spPr>
        <p:txBody>
          <a:bodyPr wrap="square" lIns="25400" tIns="25400" rIns="25400" bIns="25400" rtlCol="0" anchor="t">
            <a:normAutofit/>
          </a:bodyPr>
          <a:lstStyle/>
          <a:p>
            <a:pPr algn="l" indent="0" marL="0">
              <a:lnSpc>
                <a:spcPct val="141176"/>
              </a:lnSpc>
              <a:buNone/>
            </a:pPr>
            <a:r>
              <a:rPr lang="en-US" sz="1125" b="1" spc="45" kern="0" dirty="0">
                <a:solidFill>
                  <a:srgbClr val="FFFFFF">
                    <a:alpha val="78000"/>
                  </a:srgbClr>
                </a:solidFill>
                <a:latin typeface="Arial" pitchFamily="34" charset="0"/>
                <a:ea typeface="Arial" pitchFamily="34" charset="-122"/>
                <a:cs typeface="Arial" pitchFamily="34" charset="-120"/>
              </a:rPr>
              <a:t>GENERATO CON IL SUPPORTO DELL'AI</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IN QUESTO BLOCCO</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Cosa portate via da questi 15 minuti</a:t>
            </a:r>
            <a:endParaRPr lang="en-US" sz="3450" dirty="0"/>
          </a:p>
        </p:txBody>
      </p:sp>
      <p:sp>
        <p:nvSpPr>
          <p:cNvPr id="4" name="Text 2"/>
          <p:cNvSpPr/>
          <p:nvPr/>
        </p:nvSpPr>
        <p:spPr>
          <a:xfrm>
            <a:off x="952500" y="2420094"/>
            <a:ext cx="742950" cy="739080"/>
          </a:xfrm>
          <a:prstGeom prst="rect">
            <a:avLst/>
          </a:prstGeom>
          <a:noFill/>
          <a:ln/>
        </p:spPr>
        <p:txBody>
          <a:bodyPr wrap="square" lIns="25400" tIns="25400" rIns="25400" bIns="25400" rtlCol="0" anchor="t">
            <a:normAutofit/>
          </a:bodyPr>
          <a:lstStyle/>
          <a:p>
            <a:pPr algn="l" indent="0" marL="0">
              <a:lnSpc>
                <a:spcPct val="113231"/>
              </a:lnSpc>
              <a:buNone/>
            </a:pPr>
            <a:r>
              <a:rPr lang="en-US" sz="3450" b="1" dirty="0">
                <a:solidFill>
                  <a:srgbClr val="0E8A82"/>
                </a:solidFill>
                <a:latin typeface="Arial" pitchFamily="34" charset="0"/>
                <a:ea typeface="Arial" pitchFamily="34" charset="-122"/>
                <a:cs typeface="Arial" pitchFamily="34" charset="-120"/>
              </a:rPr>
              <a:t>1</a:t>
            </a:r>
            <a:endParaRPr lang="en-US" sz="3450" dirty="0"/>
          </a:p>
        </p:txBody>
      </p:sp>
      <p:sp>
        <p:nvSpPr>
          <p:cNvPr id="5" name="Text 3"/>
          <p:cNvSpPr/>
          <p:nvPr/>
        </p:nvSpPr>
        <p:spPr>
          <a:xfrm>
            <a:off x="1885950" y="2477244"/>
            <a:ext cx="12415198"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1A1A1A"/>
                </a:solidFill>
                <a:latin typeface="Arial" pitchFamily="34" charset="0"/>
                <a:ea typeface="Arial" pitchFamily="34" charset="-122"/>
                <a:cs typeface="Arial" pitchFamily="34" charset="-120"/>
              </a:rPr>
              <a:t>Distinguere l'AI in senso ampio dall'AI generativa — e riconoscere che la prima è già in azienda</a:t>
            </a:r>
            <a:endParaRPr lang="en-US" sz="2250" dirty="0"/>
          </a:p>
        </p:txBody>
      </p:sp>
      <p:sp>
        <p:nvSpPr>
          <p:cNvPr id="6" name="Text 4"/>
          <p:cNvSpPr/>
          <p:nvPr/>
        </p:nvSpPr>
        <p:spPr>
          <a:xfrm>
            <a:off x="952500" y="3368725"/>
            <a:ext cx="742950" cy="739080"/>
          </a:xfrm>
          <a:prstGeom prst="rect">
            <a:avLst/>
          </a:prstGeom>
          <a:noFill/>
          <a:ln/>
        </p:spPr>
        <p:txBody>
          <a:bodyPr wrap="square" lIns="25400" tIns="25400" rIns="25400" bIns="25400" rtlCol="0" anchor="t">
            <a:normAutofit/>
          </a:bodyPr>
          <a:lstStyle/>
          <a:p>
            <a:pPr algn="l" indent="0" marL="0">
              <a:lnSpc>
                <a:spcPct val="113231"/>
              </a:lnSpc>
              <a:buNone/>
            </a:pPr>
            <a:r>
              <a:rPr lang="en-US" sz="3450" b="1" dirty="0">
                <a:solidFill>
                  <a:srgbClr val="0E8A82"/>
                </a:solidFill>
                <a:latin typeface="Arial" pitchFamily="34" charset="0"/>
                <a:ea typeface="Arial" pitchFamily="34" charset="-122"/>
                <a:cs typeface="Arial" pitchFamily="34" charset="-120"/>
              </a:rPr>
              <a:t>2</a:t>
            </a:r>
            <a:endParaRPr lang="en-US" sz="3450" dirty="0"/>
          </a:p>
        </p:txBody>
      </p:sp>
      <p:sp>
        <p:nvSpPr>
          <p:cNvPr id="7" name="Text 5"/>
          <p:cNvSpPr/>
          <p:nvPr/>
        </p:nvSpPr>
        <p:spPr>
          <a:xfrm>
            <a:off x="1885950" y="3425875"/>
            <a:ext cx="10471749"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1A1A1A"/>
                </a:solidFill>
                <a:latin typeface="Arial" pitchFamily="34" charset="0"/>
                <a:ea typeface="Arial" pitchFamily="34" charset="-122"/>
                <a:cs typeface="Arial" pitchFamily="34" charset="-120"/>
              </a:rPr>
              <a:t>Spiegare in una frase cosa fa un modello linguistico quando genera una risposta</a:t>
            </a:r>
            <a:endParaRPr lang="en-US" sz="2250" dirty="0"/>
          </a:p>
        </p:txBody>
      </p:sp>
      <p:sp>
        <p:nvSpPr>
          <p:cNvPr id="8" name="Text 6"/>
          <p:cNvSpPr/>
          <p:nvPr/>
        </p:nvSpPr>
        <p:spPr>
          <a:xfrm>
            <a:off x="952500" y="4317355"/>
            <a:ext cx="742950" cy="739080"/>
          </a:xfrm>
          <a:prstGeom prst="rect">
            <a:avLst/>
          </a:prstGeom>
          <a:noFill/>
          <a:ln/>
        </p:spPr>
        <p:txBody>
          <a:bodyPr wrap="square" lIns="25400" tIns="25400" rIns="25400" bIns="25400" rtlCol="0" anchor="t">
            <a:normAutofit/>
          </a:bodyPr>
          <a:lstStyle/>
          <a:p>
            <a:pPr algn="l" indent="0" marL="0">
              <a:lnSpc>
                <a:spcPct val="113231"/>
              </a:lnSpc>
              <a:buNone/>
            </a:pPr>
            <a:r>
              <a:rPr lang="en-US" sz="3450" b="1" dirty="0">
                <a:solidFill>
                  <a:srgbClr val="0E8A82"/>
                </a:solidFill>
                <a:latin typeface="Arial" pitchFamily="34" charset="0"/>
                <a:ea typeface="Arial" pitchFamily="34" charset="-122"/>
                <a:cs typeface="Arial" pitchFamily="34" charset="-120"/>
              </a:rPr>
              <a:t>3</a:t>
            </a:r>
            <a:endParaRPr lang="en-US" sz="3450" dirty="0"/>
          </a:p>
        </p:txBody>
      </p:sp>
      <p:sp>
        <p:nvSpPr>
          <p:cNvPr id="9" name="Text 7"/>
          <p:cNvSpPr/>
          <p:nvPr/>
        </p:nvSpPr>
        <p:spPr>
          <a:xfrm>
            <a:off x="1885950" y="4374505"/>
            <a:ext cx="11024217"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1A1A1A"/>
                </a:solidFill>
                <a:latin typeface="Arial" pitchFamily="34" charset="0"/>
                <a:ea typeface="Arial" pitchFamily="34" charset="-122"/>
                <a:cs typeface="Arial" pitchFamily="34" charset="-120"/>
              </a:rPr>
              <a:t>Capire da dove viene ciò che il modello "sa", e perché ha una data di aggiornamento</a:t>
            </a:r>
            <a:endParaRPr lang="en-US" sz="2250" dirty="0"/>
          </a:p>
        </p:txBody>
      </p:sp>
      <p:sp>
        <p:nvSpPr>
          <p:cNvPr id="10" name="Text 8"/>
          <p:cNvSpPr/>
          <p:nvPr/>
        </p:nvSpPr>
        <p:spPr>
          <a:xfrm>
            <a:off x="952500" y="5265986"/>
            <a:ext cx="742950" cy="739080"/>
          </a:xfrm>
          <a:prstGeom prst="rect">
            <a:avLst/>
          </a:prstGeom>
          <a:noFill/>
          <a:ln/>
        </p:spPr>
        <p:txBody>
          <a:bodyPr wrap="square" lIns="25400" tIns="25400" rIns="25400" bIns="25400" rtlCol="0" anchor="t">
            <a:normAutofit/>
          </a:bodyPr>
          <a:lstStyle/>
          <a:p>
            <a:pPr algn="l" indent="0" marL="0">
              <a:lnSpc>
                <a:spcPct val="113231"/>
              </a:lnSpc>
              <a:buNone/>
            </a:pPr>
            <a:r>
              <a:rPr lang="en-US" sz="3450" b="1" dirty="0">
                <a:solidFill>
                  <a:srgbClr val="0E8A82"/>
                </a:solidFill>
                <a:latin typeface="Arial" pitchFamily="34" charset="0"/>
                <a:ea typeface="Arial" pitchFamily="34" charset="-122"/>
                <a:cs typeface="Arial" pitchFamily="34" charset="-120"/>
              </a:rPr>
              <a:t>4</a:t>
            </a:r>
            <a:endParaRPr lang="en-US" sz="3450" dirty="0"/>
          </a:p>
        </p:txBody>
      </p:sp>
      <p:sp>
        <p:nvSpPr>
          <p:cNvPr id="11" name="Text 9"/>
          <p:cNvSpPr/>
          <p:nvPr/>
        </p:nvSpPr>
        <p:spPr>
          <a:xfrm>
            <a:off x="1885950" y="5323136"/>
            <a:ext cx="10912773"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1A1A1A"/>
                </a:solidFill>
                <a:latin typeface="Arial" pitchFamily="34" charset="0"/>
                <a:ea typeface="Arial" pitchFamily="34" charset="-122"/>
                <a:cs typeface="Arial" pitchFamily="34" charset="-120"/>
              </a:rPr>
              <a:t>Ricondurre i comportamenti anomali al funzionamento del modello, non a un guasto</a:t>
            </a:r>
            <a:endParaRPr lang="en-US" sz="2250" dirty="0"/>
          </a:p>
        </p:txBody>
      </p:sp>
      <p:pic>
        <p:nvPicPr>
          <p:cNvPr id="12"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3" name="Text 10"/>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02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IL PUNTO DI PARTENZA</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"Intelligenza artificiale" non vuol dire solo ChatGPT</a:t>
            </a:r>
            <a:endParaRPr lang="en-US" sz="3450" dirty="0"/>
          </a:p>
        </p:txBody>
      </p:sp>
      <p:sp>
        <p:nvSpPr>
          <p:cNvPr id="4" name="Shape 2"/>
          <p:cNvSpPr/>
          <p:nvPr/>
        </p:nvSpPr>
        <p:spPr>
          <a:xfrm>
            <a:off x="952500" y="2496294"/>
            <a:ext cx="5257800" cy="3441204"/>
          </a:xfrm>
          <a:prstGeom prst="roundRect">
            <a:avLst>
              <a:gd name="adj" fmla="val 2214"/>
            </a:avLst>
          </a:prstGeom>
          <a:solidFill>
            <a:srgbClr val="FFFFFF"/>
          </a:solidFill>
          <a:ln/>
        </p:spPr>
      </p:sp>
      <p:sp>
        <p:nvSpPr>
          <p:cNvPr id="5" name="Text 3"/>
          <p:cNvSpPr/>
          <p:nvPr/>
        </p:nvSpPr>
        <p:spPr>
          <a:xfrm>
            <a:off x="1295400" y="2915394"/>
            <a:ext cx="5029200" cy="739080"/>
          </a:xfrm>
          <a:prstGeom prst="rect">
            <a:avLst/>
          </a:prstGeom>
          <a:noFill/>
          <a:ln/>
        </p:spPr>
        <p:txBody>
          <a:bodyPr wrap="square" lIns="25400" tIns="25400" rIns="25400" bIns="25400" rtlCol="0" anchor="t">
            <a:normAutofit/>
          </a:bodyPr>
          <a:lstStyle/>
          <a:p>
            <a:pPr algn="l" indent="0" marL="0">
              <a:lnSpc>
                <a:spcPct val="136296"/>
              </a:lnSpc>
              <a:buNone/>
            </a:pPr>
            <a:r>
              <a:rPr lang="en-US" sz="3450" dirty="0">
                <a:solidFill>
                  <a:srgbClr val="1A1A1A"/>
                </a:solidFill>
                <a:latin typeface="Arial" pitchFamily="34" charset="0"/>
                <a:ea typeface="Arial" pitchFamily="34" charset="-122"/>
                <a:cs typeface="Arial" pitchFamily="34" charset="-120"/>
              </a:rPr>
              <a:t>👁</a:t>
            </a:r>
            <a:endParaRPr lang="en-US" sz="3450" dirty="0"/>
          </a:p>
        </p:txBody>
      </p:sp>
      <p:sp>
        <p:nvSpPr>
          <p:cNvPr id="6" name="Text 4"/>
          <p:cNvSpPr/>
          <p:nvPr/>
        </p:nvSpPr>
        <p:spPr>
          <a:xfrm>
            <a:off x="1295400" y="3806875"/>
            <a:ext cx="5029200" cy="464790"/>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1F569E"/>
                </a:solidFill>
                <a:latin typeface="Arial" pitchFamily="34" charset="0"/>
                <a:ea typeface="Arial" pitchFamily="34" charset="-122"/>
                <a:cs typeface="Arial" pitchFamily="34" charset="-120"/>
              </a:rPr>
              <a:t>Rende invisibile</a:t>
            </a:r>
            <a:endParaRPr lang="en-US" sz="2100" dirty="0"/>
          </a:p>
        </p:txBody>
      </p:sp>
      <p:sp>
        <p:nvSpPr>
          <p:cNvPr id="7" name="Text 5"/>
          <p:cNvSpPr/>
          <p:nvPr/>
        </p:nvSpPr>
        <p:spPr>
          <a:xfrm>
            <a:off x="1295400" y="4366915"/>
            <a:ext cx="4709160" cy="118958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1A1A1A"/>
                </a:solidFill>
                <a:latin typeface="Arial" pitchFamily="34" charset="0"/>
                <a:ea typeface="Arial" pitchFamily="34" charset="-122"/>
                <a:cs typeface="Arial" pitchFamily="34" charset="-120"/>
              </a:rPr>
              <a:t>Ciò che l'azienda usa già da anni — filtro spam, lettura fatture, previsione della domanda</a:t>
            </a:r>
            <a:endParaRPr lang="en-US" sz="1950" dirty="0"/>
          </a:p>
        </p:txBody>
      </p:sp>
      <p:sp>
        <p:nvSpPr>
          <p:cNvPr id="8" name="Shape 6"/>
          <p:cNvSpPr/>
          <p:nvPr/>
        </p:nvSpPr>
        <p:spPr>
          <a:xfrm>
            <a:off x="6515100" y="2496294"/>
            <a:ext cx="5257800" cy="3441204"/>
          </a:xfrm>
          <a:prstGeom prst="roundRect">
            <a:avLst>
              <a:gd name="adj" fmla="val 2214"/>
            </a:avLst>
          </a:prstGeom>
          <a:solidFill>
            <a:srgbClr val="FFFFFF"/>
          </a:solidFill>
          <a:ln/>
        </p:spPr>
      </p:sp>
      <p:sp>
        <p:nvSpPr>
          <p:cNvPr id="9" name="Text 7"/>
          <p:cNvSpPr/>
          <p:nvPr/>
        </p:nvSpPr>
        <p:spPr>
          <a:xfrm>
            <a:off x="6858000" y="2915394"/>
            <a:ext cx="5029200" cy="739080"/>
          </a:xfrm>
          <a:prstGeom prst="rect">
            <a:avLst/>
          </a:prstGeom>
          <a:noFill/>
          <a:ln/>
        </p:spPr>
        <p:txBody>
          <a:bodyPr wrap="square" lIns="25400" tIns="25400" rIns="25400" bIns="25400" rtlCol="0" anchor="t">
            <a:normAutofit/>
          </a:bodyPr>
          <a:lstStyle/>
          <a:p>
            <a:pPr algn="l" indent="0" marL="0">
              <a:lnSpc>
                <a:spcPct val="136296"/>
              </a:lnSpc>
              <a:buNone/>
            </a:pPr>
            <a:r>
              <a:rPr lang="en-US" sz="3450" dirty="0">
                <a:solidFill>
                  <a:srgbClr val="1A1A1A"/>
                </a:solidFill>
                <a:latin typeface="Arial" pitchFamily="34" charset="0"/>
                <a:ea typeface="Arial" pitchFamily="34" charset="-122"/>
                <a:cs typeface="Arial" pitchFamily="34" charset="-120"/>
              </a:rPr>
              <a:t>⚖</a:t>
            </a:r>
            <a:endParaRPr lang="en-US" sz="3450" dirty="0"/>
          </a:p>
        </p:txBody>
      </p:sp>
      <p:sp>
        <p:nvSpPr>
          <p:cNvPr id="10" name="Text 8"/>
          <p:cNvSpPr/>
          <p:nvPr/>
        </p:nvSpPr>
        <p:spPr>
          <a:xfrm>
            <a:off x="6858000" y="3806875"/>
            <a:ext cx="5029200" cy="464790"/>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1F569E"/>
                </a:solidFill>
                <a:latin typeface="Arial" pitchFamily="34" charset="0"/>
                <a:ea typeface="Arial" pitchFamily="34" charset="-122"/>
                <a:cs typeface="Arial" pitchFamily="34" charset="-120"/>
              </a:rPr>
              <a:t>Confonde le aspettative</a:t>
            </a:r>
            <a:endParaRPr lang="en-US" sz="2100" dirty="0"/>
          </a:p>
        </p:txBody>
      </p:sp>
      <p:sp>
        <p:nvSpPr>
          <p:cNvPr id="11" name="Text 9"/>
          <p:cNvSpPr/>
          <p:nvPr/>
        </p:nvSpPr>
        <p:spPr>
          <a:xfrm>
            <a:off x="6858000" y="4366915"/>
            <a:ext cx="4709160" cy="118958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1A1A1A"/>
                </a:solidFill>
                <a:latin typeface="Arial" pitchFamily="34" charset="0"/>
                <a:ea typeface="Arial" pitchFamily="34" charset="-122"/>
                <a:cs typeface="Arial" pitchFamily="34" charset="-120"/>
              </a:rPr>
              <a:t>L'AI classica è prevedibile e ripetibile; la generativa non garantisce la stessa risposta due volte</a:t>
            </a:r>
            <a:endParaRPr lang="en-US" sz="1950" dirty="0"/>
          </a:p>
        </p:txBody>
      </p:sp>
      <p:sp>
        <p:nvSpPr>
          <p:cNvPr id="12" name="Shape 10"/>
          <p:cNvSpPr/>
          <p:nvPr/>
        </p:nvSpPr>
        <p:spPr>
          <a:xfrm>
            <a:off x="12077700" y="2496294"/>
            <a:ext cx="5257800" cy="3441204"/>
          </a:xfrm>
          <a:prstGeom prst="roundRect">
            <a:avLst>
              <a:gd name="adj" fmla="val 2214"/>
            </a:avLst>
          </a:prstGeom>
          <a:solidFill>
            <a:srgbClr val="FFFFFF"/>
          </a:solidFill>
          <a:ln/>
        </p:spPr>
      </p:sp>
      <p:sp>
        <p:nvSpPr>
          <p:cNvPr id="13" name="Text 11"/>
          <p:cNvSpPr/>
          <p:nvPr/>
        </p:nvSpPr>
        <p:spPr>
          <a:xfrm>
            <a:off x="12420600" y="2915394"/>
            <a:ext cx="5029200" cy="739080"/>
          </a:xfrm>
          <a:prstGeom prst="rect">
            <a:avLst/>
          </a:prstGeom>
          <a:noFill/>
          <a:ln/>
        </p:spPr>
        <p:txBody>
          <a:bodyPr wrap="square" lIns="25400" tIns="25400" rIns="25400" bIns="25400" rtlCol="0" anchor="t">
            <a:normAutofit/>
          </a:bodyPr>
          <a:lstStyle/>
          <a:p>
            <a:pPr algn="l" indent="0" marL="0">
              <a:lnSpc>
                <a:spcPct val="136296"/>
              </a:lnSpc>
              <a:buNone/>
            </a:pPr>
            <a:r>
              <a:rPr lang="en-US" sz="3450" dirty="0">
                <a:solidFill>
                  <a:srgbClr val="1A1A1A"/>
                </a:solidFill>
                <a:latin typeface="Arial" pitchFamily="34" charset="0"/>
                <a:ea typeface="Arial" pitchFamily="34" charset="-122"/>
                <a:cs typeface="Arial" pitchFamily="34" charset="-120"/>
              </a:rPr>
              <a:t>📋</a:t>
            </a:r>
            <a:endParaRPr lang="en-US" sz="3450" dirty="0"/>
          </a:p>
        </p:txBody>
      </p:sp>
      <p:sp>
        <p:nvSpPr>
          <p:cNvPr id="14" name="Text 12"/>
          <p:cNvSpPr/>
          <p:nvPr/>
        </p:nvSpPr>
        <p:spPr>
          <a:xfrm>
            <a:off x="12420600" y="3806875"/>
            <a:ext cx="5029200" cy="464790"/>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1F569E"/>
                </a:solidFill>
                <a:latin typeface="Arial" pitchFamily="34" charset="0"/>
                <a:ea typeface="Arial" pitchFamily="34" charset="-122"/>
                <a:cs typeface="Arial" pitchFamily="34" charset="-120"/>
              </a:rPr>
              <a:t>Riguarda gli obblighi</a:t>
            </a:r>
            <a:endParaRPr lang="en-US" sz="2100" dirty="0"/>
          </a:p>
        </p:txBody>
      </p:sp>
      <p:sp>
        <p:nvSpPr>
          <p:cNvPr id="15" name="Text 13"/>
          <p:cNvSpPr/>
          <p:nvPr/>
        </p:nvSpPr>
        <p:spPr>
          <a:xfrm>
            <a:off x="12420600" y="4366915"/>
            <a:ext cx="4709160" cy="118958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1A1A1A"/>
                </a:solidFill>
                <a:latin typeface="Arial" pitchFamily="34" charset="0"/>
                <a:ea typeface="Arial" pitchFamily="34" charset="-122"/>
                <a:cs typeface="Arial" pitchFamily="34" charset="-120"/>
              </a:rPr>
              <a:t>Le regole europee si applicano all'AI in senso ampio, anche a strumenti mai catalogati come tali</a:t>
            </a:r>
            <a:endParaRPr lang="en-US" sz="1950" dirty="0"/>
          </a:p>
        </p:txBody>
      </p:sp>
      <p:pic>
        <p:nvPicPr>
          <p:cNvPr id="16"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7"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03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NON È UNA NOVITÀ DEL 2023</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L'AI che avete già, senza chiamarla così</a:t>
            </a:r>
            <a:endParaRPr lang="en-US" sz="3450" dirty="0"/>
          </a:p>
        </p:txBody>
      </p:sp>
      <p:sp>
        <p:nvSpPr>
          <p:cNvPr id="4" name="Shape 2"/>
          <p:cNvSpPr/>
          <p:nvPr/>
        </p:nvSpPr>
        <p:spPr>
          <a:xfrm>
            <a:off x="952500" y="2496294"/>
            <a:ext cx="5257800" cy="3112294"/>
          </a:xfrm>
          <a:prstGeom prst="roundRect">
            <a:avLst>
              <a:gd name="adj" fmla="val 2448"/>
            </a:avLst>
          </a:prstGeom>
          <a:solidFill>
            <a:srgbClr val="F4F6F9"/>
          </a:solidFill>
          <a:ln/>
        </p:spPr>
      </p:sp>
      <p:sp>
        <p:nvSpPr>
          <p:cNvPr id="5" name="Text 3"/>
          <p:cNvSpPr/>
          <p:nvPr/>
        </p:nvSpPr>
        <p:spPr>
          <a:xfrm>
            <a:off x="1295400" y="2915394"/>
            <a:ext cx="4709160" cy="495300"/>
          </a:xfrm>
          <a:prstGeom prst="rect">
            <a:avLst/>
          </a:prstGeom>
          <a:noFill/>
          <a:ln/>
        </p:spPr>
        <p:txBody>
          <a:bodyPr wrap="square" lIns="25400" tIns="25400" rIns="25400" bIns="25400" rtlCol="0" anchor="t">
            <a:normAutofit/>
          </a:bodyPr>
          <a:lstStyle/>
          <a:p>
            <a:pPr algn="l" indent="0" marL="0">
              <a:lnSpc>
                <a:spcPct val="114286"/>
              </a:lnSpc>
              <a:buNone/>
            </a:pPr>
            <a:r>
              <a:rPr lang="en-US" sz="2250" b="1" dirty="0">
                <a:solidFill>
                  <a:srgbClr val="1F569E"/>
                </a:solidFill>
                <a:latin typeface="Arial" pitchFamily="34" charset="0"/>
                <a:ea typeface="Arial" pitchFamily="34" charset="-122"/>
                <a:cs typeface="Arial" pitchFamily="34" charset="-120"/>
              </a:rPr>
              <a:t>Filtro della posta indesiderata</a:t>
            </a:r>
            <a:endParaRPr lang="en-US" sz="2250" dirty="0"/>
          </a:p>
        </p:txBody>
      </p:sp>
      <p:sp>
        <p:nvSpPr>
          <p:cNvPr id="6" name="Text 4"/>
          <p:cNvSpPr/>
          <p:nvPr/>
        </p:nvSpPr>
        <p:spPr>
          <a:xfrm>
            <a:off x="1295400" y="3544044"/>
            <a:ext cx="4709160" cy="1683544"/>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1A1A1A"/>
                </a:solidFill>
                <a:latin typeface="Arial" pitchFamily="34" charset="0"/>
                <a:ea typeface="Arial" pitchFamily="34" charset="-122"/>
                <a:cs typeface="Arial" pitchFamily="34" charset="-120"/>
              </a:rPr>
              <a:t>Nessuno ha scritto le regole per riconoscere un messaggio truffaldino: sono ricavate da milioni di esempi già classificati</a:t>
            </a:r>
            <a:endParaRPr lang="en-US" sz="2025" dirty="0"/>
          </a:p>
        </p:txBody>
      </p:sp>
      <p:sp>
        <p:nvSpPr>
          <p:cNvPr id="7" name="Shape 5"/>
          <p:cNvSpPr/>
          <p:nvPr/>
        </p:nvSpPr>
        <p:spPr>
          <a:xfrm>
            <a:off x="6515100" y="2496294"/>
            <a:ext cx="5257800" cy="3112294"/>
          </a:xfrm>
          <a:prstGeom prst="roundRect">
            <a:avLst>
              <a:gd name="adj" fmla="val 2448"/>
            </a:avLst>
          </a:prstGeom>
          <a:solidFill>
            <a:srgbClr val="F4F6F9"/>
          </a:solidFill>
          <a:ln/>
        </p:spPr>
      </p:sp>
      <p:sp>
        <p:nvSpPr>
          <p:cNvPr id="8" name="Text 6"/>
          <p:cNvSpPr/>
          <p:nvPr/>
        </p:nvSpPr>
        <p:spPr>
          <a:xfrm>
            <a:off x="6858000" y="2915394"/>
            <a:ext cx="4709160" cy="495300"/>
          </a:xfrm>
          <a:prstGeom prst="rect">
            <a:avLst/>
          </a:prstGeom>
          <a:noFill/>
          <a:ln/>
        </p:spPr>
        <p:txBody>
          <a:bodyPr wrap="square" lIns="25400" tIns="25400" rIns="25400" bIns="25400" rtlCol="0" anchor="t">
            <a:normAutofit/>
          </a:bodyPr>
          <a:lstStyle/>
          <a:p>
            <a:pPr algn="l" indent="0" marL="0">
              <a:lnSpc>
                <a:spcPct val="114286"/>
              </a:lnSpc>
              <a:buNone/>
            </a:pPr>
            <a:r>
              <a:rPr lang="en-US" sz="2250" b="1" dirty="0">
                <a:solidFill>
                  <a:srgbClr val="1F569E"/>
                </a:solidFill>
                <a:latin typeface="Arial" pitchFamily="34" charset="0"/>
                <a:ea typeface="Arial" pitchFamily="34" charset="-122"/>
                <a:cs typeface="Arial" pitchFamily="34" charset="-120"/>
              </a:rPr>
              <a:t>Lettura automatica dei documenti</a:t>
            </a:r>
            <a:endParaRPr lang="en-US" sz="2250" dirty="0"/>
          </a:p>
        </p:txBody>
      </p:sp>
      <p:sp>
        <p:nvSpPr>
          <p:cNvPr id="9" name="Text 7"/>
          <p:cNvSpPr/>
          <p:nvPr/>
        </p:nvSpPr>
        <p:spPr>
          <a:xfrm>
            <a:off x="6858000" y="3544044"/>
            <a:ext cx="4709160" cy="1272183"/>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1A1A1A"/>
                </a:solidFill>
                <a:latin typeface="Arial" pitchFamily="34" charset="0"/>
                <a:ea typeface="Arial" pitchFamily="34" charset="-122"/>
                <a:cs typeface="Arial" pitchFamily="34" charset="-120"/>
              </a:rPr>
              <a:t>Estrae numero, data e importo da una fattura scansionata e li scrive nel gestionale</a:t>
            </a:r>
            <a:endParaRPr lang="en-US" sz="2025" dirty="0"/>
          </a:p>
        </p:txBody>
      </p:sp>
      <p:sp>
        <p:nvSpPr>
          <p:cNvPr id="10" name="Shape 8"/>
          <p:cNvSpPr/>
          <p:nvPr/>
        </p:nvSpPr>
        <p:spPr>
          <a:xfrm>
            <a:off x="12077700" y="2496294"/>
            <a:ext cx="5257800" cy="3112294"/>
          </a:xfrm>
          <a:prstGeom prst="roundRect">
            <a:avLst>
              <a:gd name="adj" fmla="val 2448"/>
            </a:avLst>
          </a:prstGeom>
          <a:solidFill>
            <a:srgbClr val="F4F6F9"/>
          </a:solidFill>
          <a:ln/>
        </p:spPr>
      </p:sp>
      <p:sp>
        <p:nvSpPr>
          <p:cNvPr id="11" name="Text 9"/>
          <p:cNvSpPr/>
          <p:nvPr/>
        </p:nvSpPr>
        <p:spPr>
          <a:xfrm>
            <a:off x="12420600" y="2915394"/>
            <a:ext cx="4709160" cy="495300"/>
          </a:xfrm>
          <a:prstGeom prst="rect">
            <a:avLst/>
          </a:prstGeom>
          <a:noFill/>
          <a:ln/>
        </p:spPr>
        <p:txBody>
          <a:bodyPr wrap="square" lIns="25400" tIns="25400" rIns="25400" bIns="25400" rtlCol="0" anchor="t">
            <a:normAutofit/>
          </a:bodyPr>
          <a:lstStyle/>
          <a:p>
            <a:pPr algn="l" indent="0" marL="0">
              <a:lnSpc>
                <a:spcPct val="114286"/>
              </a:lnSpc>
              <a:buNone/>
            </a:pPr>
            <a:r>
              <a:rPr lang="en-US" sz="2250" b="1" dirty="0">
                <a:solidFill>
                  <a:srgbClr val="1F569E"/>
                </a:solidFill>
                <a:latin typeface="Arial" pitchFamily="34" charset="0"/>
                <a:ea typeface="Arial" pitchFamily="34" charset="-122"/>
                <a:cs typeface="Arial" pitchFamily="34" charset="-120"/>
              </a:rPr>
              <a:t>Previsione della domanda</a:t>
            </a:r>
            <a:endParaRPr lang="en-US" sz="2250" dirty="0"/>
          </a:p>
        </p:txBody>
      </p:sp>
      <p:sp>
        <p:nvSpPr>
          <p:cNvPr id="12" name="Text 10"/>
          <p:cNvSpPr/>
          <p:nvPr/>
        </p:nvSpPr>
        <p:spPr>
          <a:xfrm>
            <a:off x="12420600" y="3544044"/>
            <a:ext cx="4709160" cy="860822"/>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1A1A1A"/>
                </a:solidFill>
                <a:latin typeface="Arial" pitchFamily="34" charset="0"/>
                <a:ea typeface="Arial" pitchFamily="34" charset="-122"/>
                <a:cs typeface="Arial" pitchFamily="34" charset="-120"/>
              </a:rPr>
              <a:t>Stima quanto servirà di un articolo sulla base di storico e stagionalità</a:t>
            </a:r>
            <a:endParaRPr lang="en-US" sz="2025" dirty="0"/>
          </a:p>
        </p:txBody>
      </p:sp>
      <p:pic>
        <p:nvPicPr>
          <p:cNvPr id="13"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4" name="Text 11"/>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04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LA MAPPA</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Quattro cerchi, uno dentro l'altro</a:t>
            </a:r>
            <a:endParaRPr lang="en-US" sz="3450" dirty="0"/>
          </a:p>
        </p:txBody>
      </p:sp>
      <p:sp>
        <p:nvSpPr>
          <p:cNvPr id="4" name="Shape 2"/>
          <p:cNvSpPr/>
          <p:nvPr/>
        </p:nvSpPr>
        <p:spPr>
          <a:xfrm>
            <a:off x="4667250" y="2077194"/>
            <a:ext cx="8953500" cy="6667500"/>
          </a:xfrm>
          <a:prstGeom prst="roundRect">
            <a:avLst>
              <a:gd name="adj" fmla="val 50000"/>
            </a:avLst>
          </a:prstGeom>
          <a:solidFill>
            <a:srgbClr val="143C6E"/>
          </a:solidFill>
          <a:ln/>
        </p:spPr>
      </p:sp>
      <p:sp>
        <p:nvSpPr>
          <p:cNvPr id="5" name="Text 3"/>
          <p:cNvSpPr/>
          <p:nvPr/>
        </p:nvSpPr>
        <p:spPr>
          <a:xfrm>
            <a:off x="7906048" y="2496294"/>
            <a:ext cx="2551956" cy="6286500"/>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FFFFFF"/>
                </a:solidFill>
                <a:latin typeface="Arial" pitchFamily="34" charset="0"/>
                <a:ea typeface="Arial" pitchFamily="34" charset="-122"/>
                <a:cs typeface="Arial" pitchFamily="34" charset="-120"/>
              </a:rPr>
              <a:t>Intelligenza artificiale</a:t>
            </a:r>
            <a:endParaRPr lang="en-US" sz="2100" dirty="0"/>
          </a:p>
        </p:txBody>
      </p:sp>
      <p:sp>
        <p:nvSpPr>
          <p:cNvPr id="6" name="Shape 4"/>
          <p:cNvSpPr/>
          <p:nvPr/>
        </p:nvSpPr>
        <p:spPr>
          <a:xfrm>
            <a:off x="5905500" y="3315444"/>
            <a:ext cx="6477000" cy="5429250"/>
          </a:xfrm>
          <a:prstGeom prst="ellipse">
            <a:avLst/>
          </a:prstGeom>
          <a:solidFill>
            <a:srgbClr val="1F569E"/>
          </a:solidFill>
          <a:ln/>
        </p:spPr>
      </p:sp>
      <p:sp>
        <p:nvSpPr>
          <p:cNvPr id="7" name="Text 5"/>
          <p:cNvSpPr/>
          <p:nvPr/>
        </p:nvSpPr>
        <p:spPr>
          <a:xfrm>
            <a:off x="7664053" y="3696444"/>
            <a:ext cx="3048691" cy="5086350"/>
          </a:xfrm>
          <a:prstGeom prst="rect">
            <a:avLst/>
          </a:prstGeom>
          <a:noFill/>
          <a:ln/>
        </p:spPr>
        <p:txBody>
          <a:bodyPr wrap="square" lIns="25400" tIns="25400" rIns="25400" bIns="25400" rtlCol="0" anchor="t">
            <a:normAutofit/>
          </a:bodyPr>
          <a:lstStyle/>
          <a:p>
            <a:pPr algn="l" indent="0" marL="0">
              <a:lnSpc>
                <a:spcPct val="112432"/>
              </a:lnSpc>
              <a:buNone/>
            </a:pPr>
            <a:r>
              <a:rPr lang="en-US" sz="1950" b="1" dirty="0">
                <a:solidFill>
                  <a:srgbClr val="FFFFFF"/>
                </a:solidFill>
                <a:latin typeface="Arial" pitchFamily="34" charset="0"/>
                <a:ea typeface="Arial" pitchFamily="34" charset="-122"/>
                <a:cs typeface="Arial" pitchFamily="34" charset="-120"/>
              </a:rPr>
              <a:t>Apprendimento automatico</a:t>
            </a:r>
            <a:endParaRPr lang="en-US" sz="1950" dirty="0"/>
          </a:p>
        </p:txBody>
      </p:sp>
      <p:sp>
        <p:nvSpPr>
          <p:cNvPr id="8" name="Shape 6"/>
          <p:cNvSpPr/>
          <p:nvPr/>
        </p:nvSpPr>
        <p:spPr>
          <a:xfrm>
            <a:off x="7143750" y="4553694"/>
            <a:ext cx="4000500" cy="4191000"/>
          </a:xfrm>
          <a:prstGeom prst="ellipse">
            <a:avLst/>
          </a:prstGeom>
          <a:solidFill>
            <a:srgbClr val="3D7BC0"/>
          </a:solidFill>
          <a:ln/>
        </p:spPr>
      </p:sp>
      <p:sp>
        <p:nvSpPr>
          <p:cNvPr id="9" name="Text 7"/>
          <p:cNvSpPr/>
          <p:nvPr/>
        </p:nvSpPr>
        <p:spPr>
          <a:xfrm>
            <a:off x="7885807" y="4896594"/>
            <a:ext cx="2592586" cy="3886200"/>
          </a:xfrm>
          <a:prstGeom prst="rect">
            <a:avLst/>
          </a:prstGeom>
          <a:noFill/>
          <a:ln/>
        </p:spPr>
        <p:txBody>
          <a:bodyPr wrap="square" lIns="25400" tIns="25400" rIns="25400" bIns="25400" rtlCol="0" anchor="t">
            <a:normAutofit/>
          </a:bodyPr>
          <a:lstStyle/>
          <a:p>
            <a:pPr algn="l" indent="0" marL="0">
              <a:lnSpc>
                <a:spcPct val="116364"/>
              </a:lnSpc>
              <a:buNone/>
            </a:pPr>
            <a:r>
              <a:rPr lang="en-US" sz="1800" b="1" dirty="0">
                <a:solidFill>
                  <a:srgbClr val="FFFFFF"/>
                </a:solidFill>
                <a:latin typeface="Arial" pitchFamily="34" charset="0"/>
                <a:ea typeface="Arial" pitchFamily="34" charset="-122"/>
                <a:cs typeface="Arial" pitchFamily="34" charset="-120"/>
              </a:rPr>
              <a:t>Apprendimento profondo</a:t>
            </a:r>
            <a:endParaRPr lang="en-US" sz="1800" dirty="0"/>
          </a:p>
        </p:txBody>
      </p:sp>
      <p:sp>
        <p:nvSpPr>
          <p:cNvPr id="10" name="Shape 8"/>
          <p:cNvSpPr/>
          <p:nvPr/>
        </p:nvSpPr>
        <p:spPr>
          <a:xfrm>
            <a:off x="8382000" y="5791944"/>
            <a:ext cx="1524000" cy="2952750"/>
          </a:xfrm>
          <a:prstGeom prst="roundRect">
            <a:avLst>
              <a:gd name="adj" fmla="val 50000"/>
            </a:avLst>
          </a:prstGeom>
          <a:solidFill>
            <a:srgbClr val="0E8A82"/>
          </a:solidFill>
          <a:ln/>
        </p:spPr>
      </p:sp>
      <p:sp>
        <p:nvSpPr>
          <p:cNvPr id="11" name="Text 9"/>
          <p:cNvSpPr/>
          <p:nvPr/>
        </p:nvSpPr>
        <p:spPr>
          <a:xfrm>
            <a:off x="8572054" y="6902648"/>
            <a:ext cx="1143744" cy="769441"/>
          </a:xfrm>
          <a:prstGeom prst="rect">
            <a:avLst/>
          </a:prstGeom>
          <a:noFill/>
          <a:ln/>
        </p:spPr>
        <p:txBody>
          <a:bodyPr wrap="square" lIns="25400" tIns="25400" rIns="25400" bIns="25400" rtlCol="0" anchor="t">
            <a:normAutofit/>
          </a:bodyPr>
          <a:lstStyle/>
          <a:p>
            <a:pPr algn="ctr" indent="0" marL="0">
              <a:lnSpc>
                <a:spcPct val="116364"/>
              </a:lnSpc>
              <a:buNone/>
            </a:pPr>
            <a:r>
              <a:rPr lang="en-US" sz="1800" b="1" dirty="0">
                <a:solidFill>
                  <a:srgbClr val="FFFFFF"/>
                </a:solidFill>
                <a:latin typeface="Arial" pitchFamily="34" charset="0"/>
                <a:ea typeface="Arial" pitchFamily="34" charset="-122"/>
                <a:cs typeface="Arial" pitchFamily="34" charset="-120"/>
              </a:rPr>
              <a:t>AI generativa</a:t>
            </a:r>
            <a:endParaRPr lang="en-US" sz="1800" dirty="0"/>
          </a:p>
        </p:txBody>
      </p:sp>
      <p:sp>
        <p:nvSpPr>
          <p:cNvPr id="12" name="Text 10"/>
          <p:cNvSpPr/>
          <p:nvPr/>
        </p:nvSpPr>
        <p:spPr>
          <a:xfrm>
            <a:off x="133350" y="8744694"/>
            <a:ext cx="18021300" cy="403771"/>
          </a:xfrm>
          <a:prstGeom prst="rect">
            <a:avLst/>
          </a:prstGeom>
          <a:noFill/>
          <a:ln/>
        </p:spPr>
        <p:txBody>
          <a:bodyPr wrap="square" lIns="25400" tIns="25400" rIns="25400" bIns="25400" rtlCol="0" anchor="t">
            <a:normAutofit/>
          </a:bodyPr>
          <a:lstStyle/>
          <a:p>
            <a:pPr algn="ctr" indent="0" marL="0">
              <a:lnSpc>
                <a:spcPct val="137143"/>
              </a:lnSpc>
              <a:buNone/>
            </a:pPr>
            <a:r>
              <a:rPr lang="en-US" sz="1800" dirty="0">
                <a:solidFill>
                  <a:srgbClr val="6B7280"/>
                </a:solidFill>
                <a:latin typeface="Arial" pitchFamily="34" charset="0"/>
                <a:ea typeface="Arial" pitchFamily="34" charset="-122"/>
                <a:cs typeface="Arial" pitchFamily="34" charset="-120"/>
              </a:rPr>
              <a:t>L'AI generativa è un ramo recente di una pianta molto più vecchia</a:t>
            </a:r>
            <a:endParaRPr lang="en-US" sz="1800" dirty="0"/>
          </a:p>
        </p:txBody>
      </p:sp>
      <p:pic>
        <p:nvPicPr>
          <p:cNvPr id="13"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4" name="Text 11"/>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05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LA DIFFERENZA CHE CONTA</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Riconoscere una risposta, o costruirla</a:t>
            </a:r>
            <a:endParaRPr lang="en-US" sz="3450" dirty="0"/>
          </a:p>
        </p:txBody>
      </p:sp>
      <p:sp>
        <p:nvSpPr>
          <p:cNvPr id="4" name="Shape 2"/>
          <p:cNvSpPr/>
          <p:nvPr/>
        </p:nvSpPr>
        <p:spPr>
          <a:xfrm>
            <a:off x="952500" y="2458194"/>
            <a:ext cx="8001000" cy="4099322"/>
          </a:xfrm>
          <a:prstGeom prst="roundRect">
            <a:avLst>
              <a:gd name="adj" fmla="val 1859"/>
            </a:avLst>
          </a:prstGeom>
          <a:solidFill>
            <a:srgbClr val="F4F6F9"/>
          </a:solidFill>
          <a:ln/>
        </p:spPr>
      </p:sp>
      <p:sp>
        <p:nvSpPr>
          <p:cNvPr id="5" name="Text 3"/>
          <p:cNvSpPr/>
          <p:nvPr/>
        </p:nvSpPr>
        <p:spPr>
          <a:xfrm>
            <a:off x="1409700" y="2953494"/>
            <a:ext cx="7795260" cy="525661"/>
          </a:xfrm>
          <a:prstGeom prst="rect">
            <a:avLst/>
          </a:prstGeom>
          <a:noFill/>
          <a:ln/>
        </p:spPr>
        <p:txBody>
          <a:bodyPr wrap="square" lIns="25400" tIns="25400" rIns="25400" bIns="25400" rtlCol="0" anchor="t">
            <a:normAutofit/>
          </a:bodyPr>
          <a:lstStyle/>
          <a:p>
            <a:pPr algn="l" indent="0" marL="0">
              <a:lnSpc>
                <a:spcPct val="113778"/>
              </a:lnSpc>
              <a:buNone/>
            </a:pPr>
            <a:r>
              <a:rPr lang="en-US" sz="2400" b="1" dirty="0">
                <a:solidFill>
                  <a:srgbClr val="1F569E"/>
                </a:solidFill>
                <a:latin typeface="Arial" pitchFamily="34" charset="0"/>
                <a:ea typeface="Arial" pitchFamily="34" charset="-122"/>
                <a:cs typeface="Arial" pitchFamily="34" charset="-120"/>
              </a:rPr>
              <a:t>AI non generativa</a:t>
            </a:r>
            <a:endParaRPr lang="en-US" sz="2400" dirty="0"/>
          </a:p>
        </p:txBody>
      </p:sp>
      <p:sp>
        <p:nvSpPr>
          <p:cNvPr id="6" name="Text 4"/>
          <p:cNvSpPr/>
          <p:nvPr/>
        </p:nvSpPr>
        <p:spPr>
          <a:xfrm>
            <a:off x="1409700" y="3669655"/>
            <a:ext cx="7299198" cy="1409700"/>
          </a:xfrm>
          <a:prstGeom prst="rect">
            <a:avLst/>
          </a:prstGeom>
          <a:noFill/>
          <a:ln/>
        </p:spPr>
        <p:txBody>
          <a:bodyPr wrap="square" lIns="25400" tIns="25400" rIns="25400" bIns="25400" rtlCol="0" anchor="t">
            <a:normAutofit/>
          </a:bodyPr>
          <a:lstStyle/>
          <a:p>
            <a:pPr algn="l" indent="0" marL="0">
              <a:lnSpc>
                <a:spcPct val="141176"/>
              </a:lnSpc>
              <a:buNone/>
            </a:pPr>
            <a:r>
              <a:rPr lang="en-US" sz="2250" dirty="0">
                <a:solidFill>
                  <a:srgbClr val="1A1A1A"/>
                </a:solidFill>
                <a:latin typeface="Arial" pitchFamily="34" charset="0"/>
                <a:ea typeface="Arial" pitchFamily="34" charset="-122"/>
                <a:cs typeface="Arial" pitchFamily="34" charset="-120"/>
              </a:rPr>
              <a:t>Sceglie tra risposte già definite. Lo spazio delle possibilità è deciso in anticipo da chi ha progettato il sistema.</a:t>
            </a:r>
            <a:endParaRPr lang="en-US" sz="2250" dirty="0"/>
          </a:p>
        </p:txBody>
      </p:sp>
      <p:sp>
        <p:nvSpPr>
          <p:cNvPr id="7" name="Text 5"/>
          <p:cNvSpPr/>
          <p:nvPr/>
        </p:nvSpPr>
        <p:spPr>
          <a:xfrm>
            <a:off x="1409700" y="5269855"/>
            <a:ext cx="7299198" cy="830461"/>
          </a:xfrm>
          <a:prstGeom prst="rect">
            <a:avLst/>
          </a:prstGeom>
          <a:noFill/>
          <a:ln/>
        </p:spPr>
        <p:txBody>
          <a:bodyPr wrap="square" lIns="25400" tIns="25400" rIns="25400" bIns="25400" rtlCol="0" anchor="t">
            <a:normAutofit/>
          </a:bodyPr>
          <a:lstStyle/>
          <a:p>
            <a:pPr algn="l" indent="0" marL="0">
              <a:lnSpc>
                <a:spcPct val="134194"/>
              </a:lnSpc>
              <a:buNone/>
            </a:pPr>
            <a:r>
              <a:rPr lang="en-US" sz="1950" dirty="0">
                <a:solidFill>
                  <a:srgbClr val="6B7280"/>
                </a:solidFill>
                <a:latin typeface="Arial" pitchFamily="34" charset="0"/>
                <a:ea typeface="Arial" pitchFamily="34" charset="-122"/>
                <a:cs typeface="Arial" pitchFamily="34" charset="-120"/>
              </a:rPr>
              <a:t>Es. antispam: indesiderata o no. Lettura fatture: quale numero è l'imponibile.</a:t>
            </a:r>
            <a:endParaRPr lang="en-US" sz="1950" dirty="0"/>
          </a:p>
        </p:txBody>
      </p:sp>
      <p:sp>
        <p:nvSpPr>
          <p:cNvPr id="8" name="Shape 6"/>
          <p:cNvSpPr/>
          <p:nvPr/>
        </p:nvSpPr>
        <p:spPr>
          <a:xfrm>
            <a:off x="9334500" y="2458194"/>
            <a:ext cx="8001000" cy="4099322"/>
          </a:xfrm>
          <a:prstGeom prst="roundRect">
            <a:avLst>
              <a:gd name="adj" fmla="val 1859"/>
            </a:avLst>
          </a:prstGeom>
          <a:solidFill>
            <a:srgbClr val="143C6E"/>
          </a:solidFill>
          <a:ln/>
        </p:spPr>
      </p:sp>
      <p:sp>
        <p:nvSpPr>
          <p:cNvPr id="9" name="Text 7"/>
          <p:cNvSpPr/>
          <p:nvPr/>
        </p:nvSpPr>
        <p:spPr>
          <a:xfrm>
            <a:off x="9791700" y="2953494"/>
            <a:ext cx="7795260" cy="525661"/>
          </a:xfrm>
          <a:prstGeom prst="rect">
            <a:avLst/>
          </a:prstGeom>
          <a:noFill/>
          <a:ln/>
        </p:spPr>
        <p:txBody>
          <a:bodyPr wrap="square" lIns="25400" tIns="25400" rIns="25400" bIns="25400" rtlCol="0" anchor="t">
            <a:normAutofit/>
          </a:bodyPr>
          <a:lstStyle/>
          <a:p>
            <a:pPr algn="l" indent="0" marL="0">
              <a:lnSpc>
                <a:spcPct val="113778"/>
              </a:lnSpc>
              <a:buNone/>
            </a:pPr>
            <a:r>
              <a:rPr lang="en-US" sz="2400" b="1" dirty="0">
                <a:solidFill>
                  <a:srgbClr val="FFFFFF"/>
                </a:solidFill>
                <a:latin typeface="Arial" pitchFamily="34" charset="0"/>
                <a:ea typeface="Arial" pitchFamily="34" charset="-122"/>
                <a:cs typeface="Arial" pitchFamily="34" charset="-120"/>
              </a:rPr>
              <a:t>AI generativa</a:t>
            </a:r>
            <a:endParaRPr lang="en-US" sz="2400" dirty="0"/>
          </a:p>
        </p:txBody>
      </p:sp>
      <p:sp>
        <p:nvSpPr>
          <p:cNvPr id="10" name="Text 8"/>
          <p:cNvSpPr/>
          <p:nvPr/>
        </p:nvSpPr>
        <p:spPr>
          <a:xfrm>
            <a:off x="9791700" y="3669655"/>
            <a:ext cx="7299198" cy="1409700"/>
          </a:xfrm>
          <a:prstGeom prst="rect">
            <a:avLst/>
          </a:prstGeom>
          <a:noFill/>
          <a:ln/>
        </p:spPr>
        <p:txBody>
          <a:bodyPr wrap="square" lIns="25400" tIns="25400" rIns="25400" bIns="25400" rtlCol="0" anchor="t">
            <a:normAutofit/>
          </a:bodyPr>
          <a:lstStyle/>
          <a:p>
            <a:pPr algn="l" indent="0" marL="0">
              <a:lnSpc>
                <a:spcPct val="141176"/>
              </a:lnSpc>
              <a:buNone/>
            </a:pPr>
            <a:r>
              <a:rPr lang="en-US" sz="2250" dirty="0">
                <a:solidFill>
                  <a:srgbClr val="FFFFFF">
                    <a:alpha val="90000"/>
                  </a:srgbClr>
                </a:solidFill>
                <a:latin typeface="Arial" pitchFamily="34" charset="0"/>
                <a:ea typeface="Arial" pitchFamily="34" charset="-122"/>
                <a:cs typeface="Arial" pitchFamily="34" charset="-120"/>
              </a:rPr>
              <a:t>Costruisce una risposta che non esisteva. Non è archiviata da nessuna parte, non sceglie fra opzioni predefinite.</a:t>
            </a:r>
            <a:endParaRPr lang="en-US" sz="2250" dirty="0"/>
          </a:p>
        </p:txBody>
      </p:sp>
      <p:sp>
        <p:nvSpPr>
          <p:cNvPr id="11" name="Text 9"/>
          <p:cNvSpPr/>
          <p:nvPr/>
        </p:nvSpPr>
        <p:spPr>
          <a:xfrm>
            <a:off x="9791700" y="5269855"/>
            <a:ext cx="7299198" cy="830461"/>
          </a:xfrm>
          <a:prstGeom prst="rect">
            <a:avLst/>
          </a:prstGeom>
          <a:noFill/>
          <a:ln/>
        </p:spPr>
        <p:txBody>
          <a:bodyPr wrap="square" lIns="25400" tIns="25400" rIns="25400" bIns="25400" rtlCol="0" anchor="t">
            <a:normAutofit/>
          </a:bodyPr>
          <a:lstStyle/>
          <a:p>
            <a:pPr algn="l" indent="0" marL="0">
              <a:lnSpc>
                <a:spcPct val="134194"/>
              </a:lnSpc>
              <a:buNone/>
            </a:pPr>
            <a:r>
              <a:rPr lang="en-US" sz="1950" dirty="0">
                <a:solidFill>
                  <a:srgbClr val="FFFFFF">
                    <a:alpha val="65000"/>
                  </a:srgbClr>
                </a:solidFill>
                <a:latin typeface="Arial" pitchFamily="34" charset="0"/>
                <a:ea typeface="Arial" pitchFamily="34" charset="-122"/>
                <a:cs typeface="Arial" pitchFamily="34" charset="-120"/>
              </a:rPr>
              <a:t>Stessa domanda posta due volte → due testi diversi, entrambi legittimi.</a:t>
            </a:r>
            <a:endParaRPr lang="en-US" sz="1950" dirty="0"/>
          </a:p>
        </p:txBody>
      </p:sp>
      <p:pic>
        <p:nvPicPr>
          <p:cNvPr id="12"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3" name="Text 10"/>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06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LE DUE FAMIGLIE</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Cosa cambia nel lavoro quotidiano</a:t>
            </a:r>
            <a:endParaRPr lang="en-US" sz="3450" dirty="0"/>
          </a:p>
        </p:txBody>
      </p:sp>
      <p:sp>
        <p:nvSpPr>
          <p:cNvPr id="4" name="Shape 2"/>
          <p:cNvSpPr/>
          <p:nvPr/>
        </p:nvSpPr>
        <p:spPr>
          <a:xfrm>
            <a:off x="952500" y="2381994"/>
            <a:ext cx="4855666" cy="815280"/>
          </a:xfrm>
          <a:custGeom>
            <a:avLst/>
            <a:gdLst/>
            <a:ahLst/>
            <a:cxnLst/>
            <a:rect l="l" t="t" r="r" b="b"/>
            <a:pathLst>
              <a:path w="4855666" h="815280">
                <a:moveTo>
                  <a:pt x="57150" y="0"/>
                </a:moveTo>
                <a:lnTo>
                  <a:pt x="4855666" y="0"/>
                </a:lnTo>
                <a:lnTo>
                  <a:pt x="4855666" y="815280"/>
                </a:lnTo>
                <a:lnTo>
                  <a:pt x="0" y="815280"/>
                </a:lnTo>
                <a:lnTo>
                  <a:pt x="0" y="57150"/>
                </a:lnTo>
                <a:arcTo hR="57150" wR="57150" stAng="10800000" swAng="5400000"/>
                <a:close/>
              </a:path>
            </a:pathLst>
          </a:custGeom>
          <a:solidFill>
            <a:srgbClr val="1F569E"/>
          </a:solidFill>
          <a:ln/>
        </p:spPr>
      </p:sp>
      <p:sp>
        <p:nvSpPr>
          <p:cNvPr id="5" name="Text 3"/>
          <p:cNvSpPr/>
          <p:nvPr/>
        </p:nvSpPr>
        <p:spPr>
          <a:xfrm>
            <a:off x="1219200" y="2591544"/>
            <a:ext cx="4467936" cy="434280"/>
          </a:xfrm>
          <a:prstGeom prst="rect">
            <a:avLst/>
          </a:prstGeom>
          <a:noFill/>
          <a:ln/>
        </p:spPr>
        <p:txBody>
          <a:bodyPr wrap="square" lIns="25400" tIns="25400" rIns="25400" bIns="25400" rtlCol="0" anchor="ctr">
            <a:normAutofit/>
          </a:bodyPr>
          <a:lstStyle/>
          <a:p>
            <a:pPr algn="l" indent="0" marL="0">
              <a:lnSpc>
                <a:spcPct val="134194"/>
              </a:lnSpc>
              <a:buNone/>
            </a:pPr>
            <a:r>
              <a:rPr lang="en-US" sz="1950" b="1" dirty="0">
                <a:solidFill>
                  <a:srgbClr val="FFFFFF"/>
                </a:solidFill>
                <a:latin typeface="Arial" pitchFamily="34" charset="0"/>
                <a:ea typeface="Arial" pitchFamily="34" charset="-122"/>
                <a:cs typeface="Arial" pitchFamily="34" charset="-120"/>
              </a:rPr>
              <a:t>Dimensione</a:t>
            </a:r>
            <a:endParaRPr lang="en-US" sz="1950" dirty="0"/>
          </a:p>
        </p:txBody>
      </p:sp>
      <p:sp>
        <p:nvSpPr>
          <p:cNvPr id="6" name="Shape 4"/>
          <p:cNvSpPr/>
          <p:nvPr/>
        </p:nvSpPr>
        <p:spPr>
          <a:xfrm>
            <a:off x="5808166" y="2381994"/>
            <a:ext cx="5397550" cy="815280"/>
          </a:xfrm>
          <a:prstGeom prst="rect">
            <a:avLst/>
          </a:prstGeom>
          <a:solidFill>
            <a:srgbClr val="1F569E"/>
          </a:solidFill>
          <a:ln/>
        </p:spPr>
      </p:sp>
      <p:sp>
        <p:nvSpPr>
          <p:cNvPr id="7" name="Text 5"/>
          <p:cNvSpPr/>
          <p:nvPr/>
        </p:nvSpPr>
        <p:spPr>
          <a:xfrm>
            <a:off x="6074866" y="2591544"/>
            <a:ext cx="5026076" cy="434280"/>
          </a:xfrm>
          <a:prstGeom prst="rect">
            <a:avLst/>
          </a:prstGeom>
          <a:noFill/>
          <a:ln/>
        </p:spPr>
        <p:txBody>
          <a:bodyPr wrap="square" lIns="25400" tIns="25400" rIns="25400" bIns="25400" rtlCol="0" anchor="ctr">
            <a:normAutofit/>
          </a:bodyPr>
          <a:lstStyle/>
          <a:p>
            <a:pPr algn="l" indent="0" marL="0">
              <a:lnSpc>
                <a:spcPct val="134194"/>
              </a:lnSpc>
              <a:buNone/>
            </a:pPr>
            <a:r>
              <a:rPr lang="en-US" sz="1950" b="1" dirty="0">
                <a:solidFill>
                  <a:srgbClr val="FFFFFF"/>
                </a:solidFill>
                <a:latin typeface="Arial" pitchFamily="34" charset="0"/>
                <a:ea typeface="Arial" pitchFamily="34" charset="-122"/>
                <a:cs typeface="Arial" pitchFamily="34" charset="-120"/>
              </a:rPr>
              <a:t>AI non generativa</a:t>
            </a:r>
            <a:endParaRPr lang="en-US" sz="1950" dirty="0"/>
          </a:p>
        </p:txBody>
      </p:sp>
      <p:sp>
        <p:nvSpPr>
          <p:cNvPr id="8" name="Shape 6"/>
          <p:cNvSpPr/>
          <p:nvPr/>
        </p:nvSpPr>
        <p:spPr>
          <a:xfrm>
            <a:off x="11205716" y="2381994"/>
            <a:ext cx="6129784" cy="815280"/>
          </a:xfrm>
          <a:custGeom>
            <a:avLst/>
            <a:gdLst/>
            <a:ahLst/>
            <a:cxnLst/>
            <a:rect l="l" t="t" r="r" b="b"/>
            <a:pathLst>
              <a:path w="6129784" h="815280">
                <a:moveTo>
                  <a:pt x="0" y="0"/>
                </a:moveTo>
                <a:lnTo>
                  <a:pt x="6072634" y="0"/>
                </a:lnTo>
                <a:arcTo hR="57150" wR="57150" stAng="16200000" swAng="5400000"/>
                <a:lnTo>
                  <a:pt x="6129784" y="815280"/>
                </a:lnTo>
                <a:lnTo>
                  <a:pt x="0" y="815280"/>
                </a:lnTo>
                <a:lnTo>
                  <a:pt x="0" y="0"/>
                </a:lnTo>
                <a:close/>
              </a:path>
            </a:pathLst>
          </a:custGeom>
          <a:solidFill>
            <a:srgbClr val="1F569E"/>
          </a:solidFill>
          <a:ln/>
        </p:spPr>
      </p:sp>
      <p:sp>
        <p:nvSpPr>
          <p:cNvPr id="9" name="Text 7"/>
          <p:cNvSpPr/>
          <p:nvPr/>
        </p:nvSpPr>
        <p:spPr>
          <a:xfrm>
            <a:off x="11472416" y="2591544"/>
            <a:ext cx="5780278" cy="434280"/>
          </a:xfrm>
          <a:prstGeom prst="rect">
            <a:avLst/>
          </a:prstGeom>
          <a:noFill/>
          <a:ln/>
        </p:spPr>
        <p:txBody>
          <a:bodyPr wrap="square" lIns="25400" tIns="25400" rIns="25400" bIns="25400" rtlCol="0" anchor="ctr">
            <a:normAutofit/>
          </a:bodyPr>
          <a:lstStyle/>
          <a:p>
            <a:pPr algn="l" indent="0" marL="0">
              <a:lnSpc>
                <a:spcPct val="134194"/>
              </a:lnSpc>
              <a:buNone/>
            </a:pPr>
            <a:r>
              <a:rPr lang="en-US" sz="1950" b="1" dirty="0">
                <a:solidFill>
                  <a:srgbClr val="FFFFFF"/>
                </a:solidFill>
                <a:latin typeface="Arial" pitchFamily="34" charset="0"/>
                <a:ea typeface="Arial" pitchFamily="34" charset="-122"/>
                <a:cs typeface="Arial" pitchFamily="34" charset="-120"/>
              </a:rPr>
              <a:t>AI generativa</a:t>
            </a:r>
            <a:endParaRPr lang="en-US" sz="1950" dirty="0"/>
          </a:p>
        </p:txBody>
      </p:sp>
      <p:sp>
        <p:nvSpPr>
          <p:cNvPr id="10" name="Shape 8"/>
          <p:cNvSpPr/>
          <p:nvPr/>
        </p:nvSpPr>
        <p:spPr>
          <a:xfrm>
            <a:off x="952500" y="4007793"/>
            <a:ext cx="4855666" cy="9525"/>
          </a:xfrm>
          <a:prstGeom prst="rect">
            <a:avLst/>
          </a:prstGeom>
          <a:solidFill>
            <a:srgbClr val="E5E7EB"/>
          </a:solidFill>
          <a:ln/>
        </p:spPr>
      </p:sp>
      <p:sp>
        <p:nvSpPr>
          <p:cNvPr id="11" name="Text 9"/>
          <p:cNvSpPr/>
          <p:nvPr/>
        </p:nvSpPr>
        <p:spPr>
          <a:xfrm>
            <a:off x="1219200" y="3406825"/>
            <a:ext cx="4467936" cy="429518"/>
          </a:xfrm>
          <a:prstGeom prst="rect">
            <a:avLst/>
          </a:prstGeom>
          <a:noFill/>
          <a:ln/>
        </p:spPr>
        <p:txBody>
          <a:bodyPr wrap="square" lIns="25400" tIns="25400" rIns="25400" bIns="25400" rtlCol="0" anchor="ctr">
            <a:normAutofit/>
          </a:bodyPr>
          <a:lstStyle/>
          <a:p>
            <a:pPr algn="l" indent="0" marL="0">
              <a:lnSpc>
                <a:spcPct val="134194"/>
              </a:lnSpc>
              <a:buNone/>
            </a:pPr>
            <a:r>
              <a:rPr lang="en-US" sz="1950" b="1" dirty="0">
                <a:solidFill>
                  <a:srgbClr val="1A1A1A"/>
                </a:solidFill>
                <a:latin typeface="Arial" pitchFamily="34" charset="0"/>
                <a:ea typeface="Arial" pitchFamily="34" charset="-122"/>
                <a:cs typeface="Arial" pitchFamily="34" charset="-120"/>
              </a:rPr>
              <a:t>Stesso input, output</a:t>
            </a:r>
            <a:endParaRPr lang="en-US" sz="1950" dirty="0"/>
          </a:p>
        </p:txBody>
      </p:sp>
      <p:sp>
        <p:nvSpPr>
          <p:cNvPr id="12" name="Shape 10"/>
          <p:cNvSpPr/>
          <p:nvPr/>
        </p:nvSpPr>
        <p:spPr>
          <a:xfrm>
            <a:off x="5808166" y="3197275"/>
            <a:ext cx="5397550" cy="820043"/>
          </a:xfrm>
          <a:prstGeom prst="rect">
            <a:avLst/>
          </a:prstGeom>
          <a:solidFill>
            <a:srgbClr val="FFFFFF"/>
          </a:solidFill>
          <a:ln/>
        </p:spPr>
      </p:sp>
      <p:sp>
        <p:nvSpPr>
          <p:cNvPr id="13" name="Shape 11"/>
          <p:cNvSpPr/>
          <p:nvPr/>
        </p:nvSpPr>
        <p:spPr>
          <a:xfrm>
            <a:off x="5808166" y="4007793"/>
            <a:ext cx="5397550" cy="9525"/>
          </a:xfrm>
          <a:prstGeom prst="rect">
            <a:avLst/>
          </a:prstGeom>
          <a:solidFill>
            <a:srgbClr val="E5E7EB"/>
          </a:solidFill>
          <a:ln/>
        </p:spPr>
      </p:sp>
      <p:sp>
        <p:nvSpPr>
          <p:cNvPr id="14" name="Text 12"/>
          <p:cNvSpPr/>
          <p:nvPr/>
        </p:nvSpPr>
        <p:spPr>
          <a:xfrm>
            <a:off x="6074866" y="3406825"/>
            <a:ext cx="5026076" cy="429518"/>
          </a:xfrm>
          <a:prstGeom prst="rect">
            <a:avLst/>
          </a:prstGeom>
          <a:noFill/>
          <a:ln/>
        </p:spPr>
        <p:txBody>
          <a:bodyPr wrap="square" lIns="25400" tIns="25400" rIns="25400" bIns="25400" rtlCol="0" anchor="ctr">
            <a:normAutofit/>
          </a:bodyPr>
          <a:lstStyle/>
          <a:p>
            <a:pPr algn="l" indent="0" marL="0">
              <a:lnSpc>
                <a:spcPct val="134194"/>
              </a:lnSpc>
              <a:buNone/>
            </a:pPr>
            <a:r>
              <a:rPr lang="en-US" sz="1950" dirty="0">
                <a:solidFill>
                  <a:srgbClr val="1A1A1A"/>
                </a:solidFill>
                <a:latin typeface="Arial" pitchFamily="34" charset="0"/>
                <a:ea typeface="Arial" pitchFamily="34" charset="-122"/>
                <a:cs typeface="Arial" pitchFamily="34" charset="-120"/>
              </a:rPr>
              <a:t>Sempre identico</a:t>
            </a:r>
            <a:endParaRPr lang="en-US" sz="1950" dirty="0"/>
          </a:p>
        </p:txBody>
      </p:sp>
      <p:sp>
        <p:nvSpPr>
          <p:cNvPr id="15" name="Shape 13"/>
          <p:cNvSpPr/>
          <p:nvPr/>
        </p:nvSpPr>
        <p:spPr>
          <a:xfrm>
            <a:off x="11205716" y="3197275"/>
            <a:ext cx="6129784" cy="820043"/>
          </a:xfrm>
          <a:prstGeom prst="rect">
            <a:avLst/>
          </a:prstGeom>
          <a:solidFill>
            <a:srgbClr val="FFFFFF"/>
          </a:solidFill>
          <a:ln/>
        </p:spPr>
      </p:sp>
      <p:sp>
        <p:nvSpPr>
          <p:cNvPr id="16" name="Shape 14"/>
          <p:cNvSpPr/>
          <p:nvPr/>
        </p:nvSpPr>
        <p:spPr>
          <a:xfrm>
            <a:off x="11205716" y="4007793"/>
            <a:ext cx="6129784" cy="9525"/>
          </a:xfrm>
          <a:prstGeom prst="rect">
            <a:avLst/>
          </a:prstGeom>
          <a:solidFill>
            <a:srgbClr val="E5E7EB"/>
          </a:solidFill>
          <a:ln/>
        </p:spPr>
      </p:sp>
      <p:sp>
        <p:nvSpPr>
          <p:cNvPr id="17" name="Text 15"/>
          <p:cNvSpPr/>
          <p:nvPr/>
        </p:nvSpPr>
        <p:spPr>
          <a:xfrm>
            <a:off x="11472416" y="3406825"/>
            <a:ext cx="5780278" cy="429518"/>
          </a:xfrm>
          <a:prstGeom prst="rect">
            <a:avLst/>
          </a:prstGeom>
          <a:noFill/>
          <a:ln/>
        </p:spPr>
        <p:txBody>
          <a:bodyPr wrap="square" lIns="25400" tIns="25400" rIns="25400" bIns="25400" rtlCol="0" anchor="ctr">
            <a:normAutofit/>
          </a:bodyPr>
          <a:lstStyle/>
          <a:p>
            <a:pPr algn="l" indent="0" marL="0">
              <a:lnSpc>
                <a:spcPct val="134194"/>
              </a:lnSpc>
              <a:buNone/>
            </a:pPr>
            <a:r>
              <a:rPr lang="en-US" sz="1950" dirty="0">
                <a:solidFill>
                  <a:srgbClr val="1A1A1A"/>
                </a:solidFill>
                <a:latin typeface="Arial" pitchFamily="34" charset="0"/>
                <a:ea typeface="Arial" pitchFamily="34" charset="-122"/>
                <a:cs typeface="Arial" pitchFamily="34" charset="-120"/>
              </a:rPr>
              <a:t>Può variare a ogni richiesta</a:t>
            </a:r>
            <a:endParaRPr lang="en-US" sz="1950" dirty="0"/>
          </a:p>
        </p:txBody>
      </p:sp>
      <p:sp>
        <p:nvSpPr>
          <p:cNvPr id="18" name="Shape 16"/>
          <p:cNvSpPr/>
          <p:nvPr/>
        </p:nvSpPr>
        <p:spPr>
          <a:xfrm>
            <a:off x="952500" y="4832598"/>
            <a:ext cx="4855666" cy="9525"/>
          </a:xfrm>
          <a:prstGeom prst="rect">
            <a:avLst/>
          </a:prstGeom>
          <a:solidFill>
            <a:srgbClr val="E5E7EB"/>
          </a:solidFill>
          <a:ln/>
        </p:spPr>
      </p:sp>
      <p:sp>
        <p:nvSpPr>
          <p:cNvPr id="19" name="Text 17"/>
          <p:cNvSpPr/>
          <p:nvPr/>
        </p:nvSpPr>
        <p:spPr>
          <a:xfrm>
            <a:off x="1219200" y="4226868"/>
            <a:ext cx="4467936" cy="434280"/>
          </a:xfrm>
          <a:prstGeom prst="rect">
            <a:avLst/>
          </a:prstGeom>
          <a:noFill/>
          <a:ln/>
        </p:spPr>
        <p:txBody>
          <a:bodyPr wrap="square" lIns="25400" tIns="25400" rIns="25400" bIns="25400" rtlCol="0" anchor="ctr">
            <a:normAutofit/>
          </a:bodyPr>
          <a:lstStyle/>
          <a:p>
            <a:pPr algn="l" indent="0" marL="0">
              <a:lnSpc>
                <a:spcPct val="134194"/>
              </a:lnSpc>
              <a:buNone/>
            </a:pPr>
            <a:r>
              <a:rPr lang="en-US" sz="1950" b="1" dirty="0">
                <a:solidFill>
                  <a:srgbClr val="1A1A1A"/>
                </a:solidFill>
                <a:latin typeface="Arial" pitchFamily="34" charset="0"/>
                <a:ea typeface="Arial" pitchFamily="34" charset="-122"/>
                <a:cs typeface="Arial" pitchFamily="34" charset="-120"/>
              </a:rPr>
              <a:t>Compiti coperti</a:t>
            </a:r>
            <a:endParaRPr lang="en-US" sz="1950" dirty="0"/>
          </a:p>
        </p:txBody>
      </p:sp>
      <p:sp>
        <p:nvSpPr>
          <p:cNvPr id="20" name="Shape 18"/>
          <p:cNvSpPr/>
          <p:nvPr/>
        </p:nvSpPr>
        <p:spPr>
          <a:xfrm>
            <a:off x="5808166" y="4017318"/>
            <a:ext cx="5397550" cy="824805"/>
          </a:xfrm>
          <a:prstGeom prst="rect">
            <a:avLst/>
          </a:prstGeom>
          <a:solidFill>
            <a:srgbClr val="FFFFFF"/>
          </a:solidFill>
          <a:ln/>
        </p:spPr>
      </p:sp>
      <p:sp>
        <p:nvSpPr>
          <p:cNvPr id="21" name="Shape 19"/>
          <p:cNvSpPr/>
          <p:nvPr/>
        </p:nvSpPr>
        <p:spPr>
          <a:xfrm>
            <a:off x="5808166" y="4832598"/>
            <a:ext cx="5397550" cy="9525"/>
          </a:xfrm>
          <a:prstGeom prst="rect">
            <a:avLst/>
          </a:prstGeom>
          <a:solidFill>
            <a:srgbClr val="E5E7EB"/>
          </a:solidFill>
          <a:ln/>
        </p:spPr>
      </p:sp>
      <p:sp>
        <p:nvSpPr>
          <p:cNvPr id="22" name="Text 20"/>
          <p:cNvSpPr/>
          <p:nvPr/>
        </p:nvSpPr>
        <p:spPr>
          <a:xfrm>
            <a:off x="6074866" y="4226868"/>
            <a:ext cx="5026076" cy="434280"/>
          </a:xfrm>
          <a:prstGeom prst="rect">
            <a:avLst/>
          </a:prstGeom>
          <a:noFill/>
          <a:ln/>
        </p:spPr>
        <p:txBody>
          <a:bodyPr wrap="square" lIns="25400" tIns="25400" rIns="25400" bIns="25400" rtlCol="0" anchor="ctr">
            <a:normAutofit/>
          </a:bodyPr>
          <a:lstStyle/>
          <a:p>
            <a:pPr algn="l" indent="0" marL="0">
              <a:lnSpc>
                <a:spcPct val="134194"/>
              </a:lnSpc>
              <a:buNone/>
            </a:pPr>
            <a:r>
              <a:rPr lang="en-US" sz="1950" dirty="0">
                <a:solidFill>
                  <a:srgbClr val="1A1A1A"/>
                </a:solidFill>
                <a:latin typeface="Arial" pitchFamily="34" charset="0"/>
                <a:ea typeface="Arial" pitchFamily="34" charset="-122"/>
                <a:cs typeface="Arial" pitchFamily="34" charset="-120"/>
              </a:rPr>
              <a:t>Uno solo</a:t>
            </a:r>
            <a:endParaRPr lang="en-US" sz="1950" dirty="0"/>
          </a:p>
        </p:txBody>
      </p:sp>
      <p:sp>
        <p:nvSpPr>
          <p:cNvPr id="23" name="Shape 21"/>
          <p:cNvSpPr/>
          <p:nvPr/>
        </p:nvSpPr>
        <p:spPr>
          <a:xfrm>
            <a:off x="11205716" y="4017318"/>
            <a:ext cx="6129784" cy="824805"/>
          </a:xfrm>
          <a:prstGeom prst="rect">
            <a:avLst/>
          </a:prstGeom>
          <a:solidFill>
            <a:srgbClr val="FFFFFF"/>
          </a:solidFill>
          <a:ln/>
        </p:spPr>
      </p:sp>
      <p:sp>
        <p:nvSpPr>
          <p:cNvPr id="24" name="Shape 22"/>
          <p:cNvSpPr/>
          <p:nvPr/>
        </p:nvSpPr>
        <p:spPr>
          <a:xfrm>
            <a:off x="11205716" y="4832598"/>
            <a:ext cx="6129784" cy="9525"/>
          </a:xfrm>
          <a:prstGeom prst="rect">
            <a:avLst/>
          </a:prstGeom>
          <a:solidFill>
            <a:srgbClr val="E5E7EB"/>
          </a:solidFill>
          <a:ln/>
        </p:spPr>
      </p:sp>
      <p:sp>
        <p:nvSpPr>
          <p:cNvPr id="25" name="Text 23"/>
          <p:cNvSpPr/>
          <p:nvPr/>
        </p:nvSpPr>
        <p:spPr>
          <a:xfrm>
            <a:off x="11472416" y="4226868"/>
            <a:ext cx="5780278" cy="434280"/>
          </a:xfrm>
          <a:prstGeom prst="rect">
            <a:avLst/>
          </a:prstGeom>
          <a:noFill/>
          <a:ln/>
        </p:spPr>
        <p:txBody>
          <a:bodyPr wrap="square" lIns="25400" tIns="25400" rIns="25400" bIns="25400" rtlCol="0" anchor="ctr">
            <a:normAutofit/>
          </a:bodyPr>
          <a:lstStyle/>
          <a:p>
            <a:pPr algn="l" indent="0" marL="0">
              <a:lnSpc>
                <a:spcPct val="134194"/>
              </a:lnSpc>
              <a:buNone/>
            </a:pPr>
            <a:r>
              <a:rPr lang="en-US" sz="1950" dirty="0">
                <a:solidFill>
                  <a:srgbClr val="1A1A1A"/>
                </a:solidFill>
                <a:latin typeface="Arial" pitchFamily="34" charset="0"/>
                <a:ea typeface="Arial" pitchFamily="34" charset="-122"/>
                <a:cs typeface="Arial" pitchFamily="34" charset="-120"/>
              </a:rPr>
              <a:t>Molti, anche mai visti prima</a:t>
            </a:r>
            <a:endParaRPr lang="en-US" sz="1950" dirty="0"/>
          </a:p>
        </p:txBody>
      </p:sp>
      <p:sp>
        <p:nvSpPr>
          <p:cNvPr id="26" name="Shape 24"/>
          <p:cNvSpPr/>
          <p:nvPr/>
        </p:nvSpPr>
        <p:spPr>
          <a:xfrm>
            <a:off x="952500" y="5657404"/>
            <a:ext cx="4855666" cy="9525"/>
          </a:xfrm>
          <a:prstGeom prst="rect">
            <a:avLst/>
          </a:prstGeom>
          <a:solidFill>
            <a:srgbClr val="E5E7EB"/>
          </a:solidFill>
          <a:ln/>
        </p:spPr>
      </p:sp>
      <p:sp>
        <p:nvSpPr>
          <p:cNvPr id="27" name="Text 25"/>
          <p:cNvSpPr/>
          <p:nvPr/>
        </p:nvSpPr>
        <p:spPr>
          <a:xfrm>
            <a:off x="1219200" y="5051673"/>
            <a:ext cx="4467936" cy="434280"/>
          </a:xfrm>
          <a:prstGeom prst="rect">
            <a:avLst/>
          </a:prstGeom>
          <a:noFill/>
          <a:ln/>
        </p:spPr>
        <p:txBody>
          <a:bodyPr wrap="square" lIns="25400" tIns="25400" rIns="25400" bIns="25400" rtlCol="0" anchor="ctr">
            <a:normAutofit/>
          </a:bodyPr>
          <a:lstStyle/>
          <a:p>
            <a:pPr algn="l" indent="0" marL="0">
              <a:lnSpc>
                <a:spcPct val="134194"/>
              </a:lnSpc>
              <a:buNone/>
            </a:pPr>
            <a:r>
              <a:rPr lang="en-US" sz="1950" b="1" dirty="0">
                <a:solidFill>
                  <a:srgbClr val="1A1A1A"/>
                </a:solidFill>
                <a:latin typeface="Arial" pitchFamily="34" charset="0"/>
                <a:ea typeface="Arial" pitchFamily="34" charset="-122"/>
                <a:cs typeface="Arial" pitchFamily="34" charset="-120"/>
              </a:rPr>
              <a:t>Errore tipico</a:t>
            </a:r>
            <a:endParaRPr lang="en-US" sz="1950" dirty="0"/>
          </a:p>
        </p:txBody>
      </p:sp>
      <p:sp>
        <p:nvSpPr>
          <p:cNvPr id="28" name="Shape 26"/>
          <p:cNvSpPr/>
          <p:nvPr/>
        </p:nvSpPr>
        <p:spPr>
          <a:xfrm>
            <a:off x="5808166" y="4842123"/>
            <a:ext cx="5397550" cy="824805"/>
          </a:xfrm>
          <a:prstGeom prst="rect">
            <a:avLst/>
          </a:prstGeom>
          <a:solidFill>
            <a:srgbClr val="FFFFFF"/>
          </a:solidFill>
          <a:ln/>
        </p:spPr>
      </p:sp>
      <p:sp>
        <p:nvSpPr>
          <p:cNvPr id="29" name="Shape 27"/>
          <p:cNvSpPr/>
          <p:nvPr/>
        </p:nvSpPr>
        <p:spPr>
          <a:xfrm>
            <a:off x="5808166" y="5657404"/>
            <a:ext cx="5397550" cy="9525"/>
          </a:xfrm>
          <a:prstGeom prst="rect">
            <a:avLst/>
          </a:prstGeom>
          <a:solidFill>
            <a:srgbClr val="E5E7EB"/>
          </a:solidFill>
          <a:ln/>
        </p:spPr>
      </p:sp>
      <p:sp>
        <p:nvSpPr>
          <p:cNvPr id="30" name="Text 28"/>
          <p:cNvSpPr/>
          <p:nvPr/>
        </p:nvSpPr>
        <p:spPr>
          <a:xfrm>
            <a:off x="6074866" y="5051673"/>
            <a:ext cx="5026076" cy="434280"/>
          </a:xfrm>
          <a:prstGeom prst="rect">
            <a:avLst/>
          </a:prstGeom>
          <a:noFill/>
          <a:ln/>
        </p:spPr>
        <p:txBody>
          <a:bodyPr wrap="square" lIns="25400" tIns="25400" rIns="25400" bIns="25400" rtlCol="0" anchor="ctr">
            <a:normAutofit/>
          </a:bodyPr>
          <a:lstStyle/>
          <a:p>
            <a:pPr algn="l" indent="0" marL="0">
              <a:lnSpc>
                <a:spcPct val="134194"/>
              </a:lnSpc>
              <a:buNone/>
            </a:pPr>
            <a:r>
              <a:rPr lang="en-US" sz="1950" dirty="0">
                <a:solidFill>
                  <a:srgbClr val="1A1A1A"/>
                </a:solidFill>
                <a:latin typeface="Arial" pitchFamily="34" charset="0"/>
                <a:ea typeface="Arial" pitchFamily="34" charset="-122"/>
                <a:cs typeface="Arial" pitchFamily="34" charset="-120"/>
              </a:rPr>
              <a:t>Evidente</a:t>
            </a:r>
            <a:endParaRPr lang="en-US" sz="1950" dirty="0"/>
          </a:p>
        </p:txBody>
      </p:sp>
      <p:sp>
        <p:nvSpPr>
          <p:cNvPr id="31" name="Shape 29"/>
          <p:cNvSpPr/>
          <p:nvPr/>
        </p:nvSpPr>
        <p:spPr>
          <a:xfrm>
            <a:off x="11205716" y="4842123"/>
            <a:ext cx="6129784" cy="824805"/>
          </a:xfrm>
          <a:prstGeom prst="rect">
            <a:avLst/>
          </a:prstGeom>
          <a:solidFill>
            <a:srgbClr val="FFFFFF"/>
          </a:solidFill>
          <a:ln/>
        </p:spPr>
      </p:sp>
      <p:sp>
        <p:nvSpPr>
          <p:cNvPr id="32" name="Shape 30"/>
          <p:cNvSpPr/>
          <p:nvPr/>
        </p:nvSpPr>
        <p:spPr>
          <a:xfrm>
            <a:off x="11205716" y="5657404"/>
            <a:ext cx="6129784" cy="9525"/>
          </a:xfrm>
          <a:prstGeom prst="rect">
            <a:avLst/>
          </a:prstGeom>
          <a:solidFill>
            <a:srgbClr val="E5E7EB"/>
          </a:solidFill>
          <a:ln/>
        </p:spPr>
      </p:sp>
      <p:sp>
        <p:nvSpPr>
          <p:cNvPr id="33" name="Text 31"/>
          <p:cNvSpPr/>
          <p:nvPr/>
        </p:nvSpPr>
        <p:spPr>
          <a:xfrm>
            <a:off x="11472416" y="5051673"/>
            <a:ext cx="5780278" cy="434280"/>
          </a:xfrm>
          <a:prstGeom prst="rect">
            <a:avLst/>
          </a:prstGeom>
          <a:noFill/>
          <a:ln/>
        </p:spPr>
        <p:txBody>
          <a:bodyPr wrap="square" lIns="25400" tIns="25400" rIns="25400" bIns="25400" rtlCol="0" anchor="ctr">
            <a:normAutofit/>
          </a:bodyPr>
          <a:lstStyle/>
          <a:p>
            <a:pPr algn="l" indent="0" marL="0">
              <a:lnSpc>
                <a:spcPct val="134194"/>
              </a:lnSpc>
              <a:buNone/>
            </a:pPr>
            <a:r>
              <a:rPr lang="en-US" sz="1950" dirty="0">
                <a:solidFill>
                  <a:srgbClr val="1A1A1A"/>
                </a:solidFill>
                <a:latin typeface="Arial" pitchFamily="34" charset="0"/>
                <a:ea typeface="Arial" pitchFamily="34" charset="-122"/>
                <a:cs typeface="Arial" pitchFamily="34" charset="-120"/>
              </a:rPr>
              <a:t>Nascosto, ben scritto e sicuro di sé</a:t>
            </a:r>
            <a:endParaRPr lang="en-US" sz="1950" dirty="0"/>
          </a:p>
        </p:txBody>
      </p:sp>
      <p:sp>
        <p:nvSpPr>
          <p:cNvPr id="34" name="Text 32"/>
          <p:cNvSpPr/>
          <p:nvPr/>
        </p:nvSpPr>
        <p:spPr>
          <a:xfrm>
            <a:off x="1219200" y="5876479"/>
            <a:ext cx="4467936" cy="439043"/>
          </a:xfrm>
          <a:prstGeom prst="rect">
            <a:avLst/>
          </a:prstGeom>
          <a:noFill/>
          <a:ln/>
        </p:spPr>
        <p:txBody>
          <a:bodyPr wrap="square" lIns="25400" tIns="25400" rIns="25400" bIns="25400" rtlCol="0" anchor="ctr">
            <a:normAutofit/>
          </a:bodyPr>
          <a:lstStyle/>
          <a:p>
            <a:pPr algn="l" indent="0" marL="0">
              <a:lnSpc>
                <a:spcPct val="134194"/>
              </a:lnSpc>
              <a:buNone/>
            </a:pPr>
            <a:r>
              <a:rPr lang="en-US" sz="1950" b="1" dirty="0">
                <a:solidFill>
                  <a:srgbClr val="1A1A1A"/>
                </a:solidFill>
                <a:latin typeface="Arial" pitchFamily="34" charset="0"/>
                <a:ea typeface="Arial" pitchFamily="34" charset="-122"/>
                <a:cs typeface="Arial" pitchFamily="34" charset="-120"/>
              </a:rPr>
              <a:t>Dove sta il lavoro umano</a:t>
            </a:r>
            <a:endParaRPr lang="en-US" sz="1950" dirty="0"/>
          </a:p>
        </p:txBody>
      </p:sp>
      <p:sp>
        <p:nvSpPr>
          <p:cNvPr id="35" name="Shape 33"/>
          <p:cNvSpPr/>
          <p:nvPr/>
        </p:nvSpPr>
        <p:spPr>
          <a:xfrm>
            <a:off x="5808166" y="5666929"/>
            <a:ext cx="5397550" cy="820043"/>
          </a:xfrm>
          <a:prstGeom prst="rect">
            <a:avLst/>
          </a:prstGeom>
          <a:solidFill>
            <a:srgbClr val="FFFFFF"/>
          </a:solidFill>
          <a:ln/>
        </p:spPr>
      </p:sp>
      <p:sp>
        <p:nvSpPr>
          <p:cNvPr id="36" name="Text 34"/>
          <p:cNvSpPr/>
          <p:nvPr/>
        </p:nvSpPr>
        <p:spPr>
          <a:xfrm>
            <a:off x="6074866" y="5876479"/>
            <a:ext cx="5026076" cy="439043"/>
          </a:xfrm>
          <a:prstGeom prst="rect">
            <a:avLst/>
          </a:prstGeom>
          <a:noFill/>
          <a:ln/>
        </p:spPr>
        <p:txBody>
          <a:bodyPr wrap="square" lIns="25400" tIns="25400" rIns="25400" bIns="25400" rtlCol="0" anchor="ctr">
            <a:normAutofit/>
          </a:bodyPr>
          <a:lstStyle/>
          <a:p>
            <a:pPr algn="l" indent="0" marL="0">
              <a:lnSpc>
                <a:spcPct val="134194"/>
              </a:lnSpc>
              <a:buNone/>
            </a:pPr>
            <a:r>
              <a:rPr lang="en-US" sz="1950" dirty="0">
                <a:solidFill>
                  <a:srgbClr val="1A1A1A"/>
                </a:solidFill>
                <a:latin typeface="Arial" pitchFamily="34" charset="0"/>
                <a:ea typeface="Arial" pitchFamily="34" charset="-122"/>
                <a:cs typeface="Arial" pitchFamily="34" charset="-120"/>
              </a:rPr>
              <a:t>A monte, una volta: progettare</a:t>
            </a:r>
            <a:endParaRPr lang="en-US" sz="1950" dirty="0"/>
          </a:p>
        </p:txBody>
      </p:sp>
      <p:sp>
        <p:nvSpPr>
          <p:cNvPr id="37" name="Shape 35"/>
          <p:cNvSpPr/>
          <p:nvPr/>
        </p:nvSpPr>
        <p:spPr>
          <a:xfrm>
            <a:off x="11205716" y="5666929"/>
            <a:ext cx="6129784" cy="820043"/>
          </a:xfrm>
          <a:prstGeom prst="rect">
            <a:avLst/>
          </a:prstGeom>
          <a:solidFill>
            <a:srgbClr val="FFFFFF"/>
          </a:solidFill>
          <a:ln/>
        </p:spPr>
      </p:sp>
      <p:sp>
        <p:nvSpPr>
          <p:cNvPr id="38" name="Text 36"/>
          <p:cNvSpPr/>
          <p:nvPr/>
        </p:nvSpPr>
        <p:spPr>
          <a:xfrm>
            <a:off x="11472416" y="5876479"/>
            <a:ext cx="5780278" cy="439043"/>
          </a:xfrm>
          <a:prstGeom prst="rect">
            <a:avLst/>
          </a:prstGeom>
          <a:noFill/>
          <a:ln/>
        </p:spPr>
        <p:txBody>
          <a:bodyPr wrap="square" lIns="25400" tIns="25400" rIns="25400" bIns="25400" rtlCol="0" anchor="ctr">
            <a:normAutofit/>
          </a:bodyPr>
          <a:lstStyle/>
          <a:p>
            <a:pPr algn="l" indent="0" marL="0">
              <a:lnSpc>
                <a:spcPct val="134194"/>
              </a:lnSpc>
              <a:buNone/>
            </a:pPr>
            <a:r>
              <a:rPr lang="en-US" sz="1950" dirty="0">
                <a:solidFill>
                  <a:srgbClr val="1A1A1A"/>
                </a:solidFill>
                <a:latin typeface="Arial" pitchFamily="34" charset="0"/>
                <a:ea typeface="Arial" pitchFamily="34" charset="-122"/>
                <a:cs typeface="Arial" pitchFamily="34" charset="-120"/>
              </a:rPr>
              <a:t>A valle, ogni volta: verificare</a:t>
            </a:r>
            <a:endParaRPr lang="en-US" sz="1950" dirty="0"/>
          </a:p>
        </p:txBody>
      </p:sp>
      <p:pic>
        <p:nvPicPr>
          <p:cNvPr id="39"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40" name="Text 37"/>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07</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3C6E"/>
        </a:solidFill>
      </p:bgPr>
    </p:bg>
    <p:spTree>
      <p:nvGrpSpPr>
        <p:cNvPr id="1" name=""/>
        <p:cNvGrpSpPr/>
        <p:nvPr/>
      </p:nvGrpSpPr>
      <p:grpSpPr>
        <a:xfrm>
          <a:off x="0" y="0"/>
          <a:ext cx="0" cy="0"/>
          <a:chOff x="0" y="0"/>
          <a:chExt cx="0" cy="0"/>
        </a:xfrm>
      </p:grpSpPr>
      <p:sp>
        <p:nvSpPr>
          <p:cNvPr id="2" name="Text 0"/>
          <p:cNvSpPr/>
          <p:nvPr/>
        </p:nvSpPr>
        <p:spPr>
          <a:xfrm>
            <a:off x="1333500" y="3532733"/>
            <a:ext cx="171831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7FD4CC"/>
                </a:solidFill>
                <a:latin typeface="Arial" pitchFamily="34" charset="0"/>
                <a:ea typeface="Arial" pitchFamily="34" charset="-122"/>
                <a:cs typeface="Arial" pitchFamily="34" charset="-120"/>
              </a:rPr>
              <a:t>UNA DOMANDA CHE ARRIVA SEMPRE</a:t>
            </a:r>
            <a:endParaRPr lang="en-US" sz="1650" dirty="0"/>
          </a:p>
        </p:txBody>
      </p:sp>
      <p:sp>
        <p:nvSpPr>
          <p:cNvPr id="3" name="Text 1"/>
          <p:cNvSpPr/>
          <p:nvPr/>
        </p:nvSpPr>
        <p:spPr>
          <a:xfrm>
            <a:off x="1333500" y="4096494"/>
            <a:ext cx="14716125" cy="1232892"/>
          </a:xfrm>
          <a:prstGeom prst="rect">
            <a:avLst/>
          </a:prstGeom>
          <a:noFill/>
          <a:ln/>
        </p:spPr>
        <p:txBody>
          <a:bodyPr wrap="square" lIns="25400" tIns="25400" rIns="25400" bIns="25400" rtlCol="0" anchor="t">
            <a:normAutofit/>
          </a:bodyPr>
          <a:lstStyle/>
          <a:p>
            <a:pPr algn="l" indent="0" marL="0">
              <a:lnSpc>
                <a:spcPct val="79392"/>
              </a:lnSpc>
              <a:buNone/>
            </a:pPr>
            <a:r>
              <a:rPr lang="en-US" sz="4200" b="1" dirty="0">
                <a:solidFill>
                  <a:srgbClr val="FFFFFF"/>
                </a:solidFill>
                <a:latin typeface="Arial" pitchFamily="34" charset="0"/>
                <a:ea typeface="Arial" pitchFamily="34" charset="-122"/>
                <a:cs typeface="Arial" pitchFamily="34" charset="-120"/>
              </a:rPr>
              <a:t>Le reti neurali esistono da decenni. Perché il salto è avvenuto proprio ora?</a:t>
            </a:r>
            <a:endParaRPr lang="en-US" sz="4200" dirty="0"/>
          </a:p>
        </p:txBody>
      </p:sp>
      <p:sp>
        <p:nvSpPr>
          <p:cNvPr id="4" name="Text 2"/>
          <p:cNvSpPr/>
          <p:nvPr/>
        </p:nvSpPr>
        <p:spPr>
          <a:xfrm>
            <a:off x="1333500" y="5596086"/>
            <a:ext cx="12753975" cy="1196280"/>
          </a:xfrm>
          <a:prstGeom prst="rect">
            <a:avLst/>
          </a:prstGeom>
          <a:noFill/>
          <a:ln/>
        </p:spPr>
        <p:txBody>
          <a:bodyPr wrap="square" lIns="25400" tIns="25400" rIns="25400" bIns="25400" rtlCol="0" anchor="t">
            <a:normAutofit/>
          </a:bodyPr>
          <a:lstStyle/>
          <a:p>
            <a:pPr algn="l" indent="0" marL="0">
              <a:lnSpc>
                <a:spcPct val="141395"/>
              </a:lnSpc>
              <a:buNone/>
            </a:pPr>
            <a:r>
              <a:rPr lang="en-US" sz="2850" dirty="0">
                <a:solidFill>
                  <a:srgbClr val="FFFFFF">
                    <a:alpha val="72000"/>
                  </a:srgbClr>
                </a:solidFill>
                <a:latin typeface="Arial" pitchFamily="34" charset="0"/>
                <a:ea typeface="Arial" pitchFamily="34" charset="-122"/>
                <a:cs typeface="Arial" pitchFamily="34" charset="-120"/>
              </a:rPr>
              <a:t>Non una scoperta improvvisa: quattro condizioni che, verso la fine degli anni Dieci, si sono trovate tutte insieme</a:t>
            </a:r>
            <a:endParaRPr lang="en-US" sz="2850" dirty="0"/>
          </a:p>
        </p:txBody>
      </p:sp>
      <p:sp>
        <p:nvSpPr>
          <p:cNvPr id="5" name="Shape 3"/>
          <p:cNvSpPr/>
          <p:nvPr/>
        </p:nvSpPr>
        <p:spPr>
          <a:xfrm>
            <a:off x="952500" y="9429750"/>
            <a:ext cx="1083915" cy="438150"/>
          </a:xfrm>
          <a:prstGeom prst="roundRect">
            <a:avLst>
              <a:gd name="adj" fmla="val 13043"/>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104900" y="9505950"/>
            <a:ext cx="779115" cy="285750"/>
          </a:xfrm>
          <a:prstGeom prst="rect">
            <a:avLst/>
          </a:prstGeom>
        </p:spPr>
      </p:pic>
      <p:sp>
        <p:nvSpPr>
          <p:cNvPr id="7" name="Text 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FFFFFF">
                    <a:alpha val="50000"/>
                  </a:srgbClr>
                </a:solidFill>
                <a:latin typeface="Arial" pitchFamily="34" charset="0"/>
                <a:ea typeface="Arial" pitchFamily="34" charset="-122"/>
                <a:cs typeface="Arial" pitchFamily="34" charset="-120"/>
              </a:rPr>
              <a:t>08</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LE QUATTRO CONDIZIONI</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Nessuna scoperta improvvisa, quattro condizioni insieme</a:t>
            </a:r>
            <a:endParaRPr lang="en-US" sz="3450" dirty="0"/>
          </a:p>
        </p:txBody>
      </p:sp>
      <p:sp>
        <p:nvSpPr>
          <p:cNvPr id="4" name="Shape 2"/>
          <p:cNvSpPr/>
          <p:nvPr/>
        </p:nvSpPr>
        <p:spPr>
          <a:xfrm>
            <a:off x="952500" y="2458194"/>
            <a:ext cx="3910013" cy="2719239"/>
          </a:xfrm>
          <a:prstGeom prst="roundRect">
            <a:avLst>
              <a:gd name="adj" fmla="val 2802"/>
            </a:avLst>
          </a:prstGeom>
          <a:solidFill>
            <a:srgbClr val="F4F6F9"/>
          </a:solidFill>
          <a:ln/>
        </p:spPr>
      </p:sp>
      <p:sp>
        <p:nvSpPr>
          <p:cNvPr id="5" name="Text 3"/>
          <p:cNvSpPr/>
          <p:nvPr/>
        </p:nvSpPr>
        <p:spPr>
          <a:xfrm>
            <a:off x="1238250" y="2801094"/>
            <a:ext cx="3672364" cy="403771"/>
          </a:xfrm>
          <a:prstGeom prst="rect">
            <a:avLst/>
          </a:prstGeom>
          <a:noFill/>
          <a:ln/>
        </p:spPr>
        <p:txBody>
          <a:bodyPr wrap="square" lIns="25400" tIns="25400" rIns="25400" bIns="25400" rtlCol="0" anchor="t">
            <a:normAutofit/>
          </a:bodyPr>
          <a:lstStyle/>
          <a:p>
            <a:pPr algn="l" indent="0" marL="0">
              <a:lnSpc>
                <a:spcPct val="116364"/>
              </a:lnSpc>
              <a:buNone/>
            </a:pPr>
            <a:r>
              <a:rPr lang="en-US" sz="1800" b="1" dirty="0">
                <a:solidFill>
                  <a:srgbClr val="0E8A82"/>
                </a:solidFill>
                <a:latin typeface="Arial" pitchFamily="34" charset="0"/>
                <a:ea typeface="Arial" pitchFamily="34" charset="-122"/>
                <a:cs typeface="Arial" pitchFamily="34" charset="-120"/>
              </a:rPr>
              <a:t>2017</a:t>
            </a:r>
            <a:endParaRPr lang="en-US" sz="1800" dirty="0"/>
          </a:p>
        </p:txBody>
      </p:sp>
      <p:sp>
        <p:nvSpPr>
          <p:cNvPr id="6" name="Text 4"/>
          <p:cNvSpPr/>
          <p:nvPr/>
        </p:nvSpPr>
        <p:spPr>
          <a:xfrm>
            <a:off x="1238250" y="3319165"/>
            <a:ext cx="3672364" cy="434280"/>
          </a:xfrm>
          <a:prstGeom prst="rect">
            <a:avLst/>
          </a:prstGeom>
          <a:noFill/>
          <a:ln/>
        </p:spPr>
        <p:txBody>
          <a:bodyPr wrap="square" lIns="25400" tIns="25400" rIns="25400" bIns="25400" rtlCol="0" anchor="t">
            <a:normAutofit/>
          </a:bodyPr>
          <a:lstStyle/>
          <a:p>
            <a:pPr algn="l" indent="0" marL="0">
              <a:lnSpc>
                <a:spcPct val="134194"/>
              </a:lnSpc>
              <a:buNone/>
            </a:pPr>
            <a:r>
              <a:rPr lang="en-US" sz="1950" b="1" dirty="0">
                <a:solidFill>
                  <a:srgbClr val="1F569E"/>
                </a:solidFill>
                <a:latin typeface="Arial" pitchFamily="34" charset="0"/>
                <a:ea typeface="Arial" pitchFamily="34" charset="-122"/>
                <a:cs typeface="Arial" pitchFamily="34" charset="-120"/>
              </a:rPr>
              <a:t>Architettura</a:t>
            </a:r>
            <a:endParaRPr lang="en-US" sz="1950" dirty="0"/>
          </a:p>
        </p:txBody>
      </p:sp>
      <p:sp>
        <p:nvSpPr>
          <p:cNvPr id="7" name="Text 5"/>
          <p:cNvSpPr/>
          <p:nvPr/>
        </p:nvSpPr>
        <p:spPr>
          <a:xfrm>
            <a:off x="1238250" y="3848695"/>
            <a:ext cx="3438668" cy="695325"/>
          </a:xfrm>
          <a:prstGeom prst="rect">
            <a:avLst/>
          </a:prstGeom>
          <a:noFill/>
          <a:ln/>
        </p:spPr>
        <p:txBody>
          <a:bodyPr wrap="square" lIns="25400" tIns="25400" rIns="25400" bIns="25400" rtlCol="0" anchor="t">
            <a:normAutofit/>
          </a:bodyPr>
          <a:lstStyle/>
          <a:p>
            <a:pPr algn="l" indent="0" marL="0">
              <a:lnSpc>
                <a:spcPct val="127778"/>
              </a:lnSpc>
              <a:buNone/>
            </a:pPr>
            <a:r>
              <a:rPr lang="en-US" sz="1725" dirty="0">
                <a:solidFill>
                  <a:srgbClr val="1A1A1A"/>
                </a:solidFill>
                <a:latin typeface="Arial" pitchFamily="34" charset="0"/>
                <a:ea typeface="Arial" pitchFamily="34" charset="-122"/>
                <a:cs typeface="Arial" pitchFamily="34" charset="-120"/>
              </a:rPr>
              <a:t>Il transformer: parallelizzabile, non "più intelligente"</a:t>
            </a:r>
            <a:endParaRPr lang="en-US" sz="1725" dirty="0"/>
          </a:p>
        </p:txBody>
      </p:sp>
      <p:sp>
        <p:nvSpPr>
          <p:cNvPr id="8" name="Shape 6"/>
          <p:cNvSpPr/>
          <p:nvPr/>
        </p:nvSpPr>
        <p:spPr>
          <a:xfrm>
            <a:off x="5110163" y="2458194"/>
            <a:ext cx="3910013" cy="2719239"/>
          </a:xfrm>
          <a:prstGeom prst="roundRect">
            <a:avLst>
              <a:gd name="adj" fmla="val 2802"/>
            </a:avLst>
          </a:prstGeom>
          <a:solidFill>
            <a:srgbClr val="F4F6F9"/>
          </a:solidFill>
          <a:ln/>
        </p:spPr>
      </p:sp>
      <p:sp>
        <p:nvSpPr>
          <p:cNvPr id="9" name="Text 7"/>
          <p:cNvSpPr/>
          <p:nvPr/>
        </p:nvSpPr>
        <p:spPr>
          <a:xfrm>
            <a:off x="5395913" y="2801094"/>
            <a:ext cx="3672364" cy="403771"/>
          </a:xfrm>
          <a:prstGeom prst="rect">
            <a:avLst/>
          </a:prstGeom>
          <a:noFill/>
          <a:ln/>
        </p:spPr>
        <p:txBody>
          <a:bodyPr wrap="square" lIns="25400" tIns="25400" rIns="25400" bIns="25400" rtlCol="0" anchor="t">
            <a:normAutofit/>
          </a:bodyPr>
          <a:lstStyle/>
          <a:p>
            <a:pPr algn="l" indent="0" marL="0">
              <a:lnSpc>
                <a:spcPct val="116364"/>
              </a:lnSpc>
              <a:buNone/>
            </a:pPr>
            <a:r>
              <a:rPr lang="en-US" sz="1800" b="1" dirty="0">
                <a:solidFill>
                  <a:srgbClr val="0E8A82"/>
                </a:solidFill>
                <a:latin typeface="Arial" pitchFamily="34" charset="0"/>
                <a:ea typeface="Arial" pitchFamily="34" charset="-122"/>
                <a:cs typeface="Arial" pitchFamily="34" charset="-120"/>
              </a:rPr>
              <a:t>Anni '10</a:t>
            </a:r>
            <a:endParaRPr lang="en-US" sz="1800" dirty="0"/>
          </a:p>
        </p:txBody>
      </p:sp>
      <p:sp>
        <p:nvSpPr>
          <p:cNvPr id="10" name="Text 8"/>
          <p:cNvSpPr/>
          <p:nvPr/>
        </p:nvSpPr>
        <p:spPr>
          <a:xfrm>
            <a:off x="5395913" y="3319165"/>
            <a:ext cx="3672364" cy="434280"/>
          </a:xfrm>
          <a:prstGeom prst="rect">
            <a:avLst/>
          </a:prstGeom>
          <a:noFill/>
          <a:ln/>
        </p:spPr>
        <p:txBody>
          <a:bodyPr wrap="square" lIns="25400" tIns="25400" rIns="25400" bIns="25400" rtlCol="0" anchor="t">
            <a:normAutofit/>
          </a:bodyPr>
          <a:lstStyle/>
          <a:p>
            <a:pPr algn="l" indent="0" marL="0">
              <a:lnSpc>
                <a:spcPct val="134194"/>
              </a:lnSpc>
              <a:buNone/>
            </a:pPr>
            <a:r>
              <a:rPr lang="en-US" sz="1950" b="1" dirty="0">
                <a:solidFill>
                  <a:srgbClr val="1F569E"/>
                </a:solidFill>
                <a:latin typeface="Arial" pitchFamily="34" charset="0"/>
                <a:ea typeface="Arial" pitchFamily="34" charset="-122"/>
                <a:cs typeface="Arial" pitchFamily="34" charset="-120"/>
              </a:rPr>
              <a:t>Calcolo</a:t>
            </a:r>
            <a:endParaRPr lang="en-US" sz="1950" dirty="0"/>
          </a:p>
        </p:txBody>
      </p:sp>
      <p:sp>
        <p:nvSpPr>
          <p:cNvPr id="11" name="Text 9"/>
          <p:cNvSpPr/>
          <p:nvPr/>
        </p:nvSpPr>
        <p:spPr>
          <a:xfrm>
            <a:off x="5395913" y="3848695"/>
            <a:ext cx="3438668" cy="1023938"/>
          </a:xfrm>
          <a:prstGeom prst="rect">
            <a:avLst/>
          </a:prstGeom>
          <a:noFill/>
          <a:ln/>
        </p:spPr>
        <p:txBody>
          <a:bodyPr wrap="square" lIns="25400" tIns="25400" rIns="25400" bIns="25400" rtlCol="0" anchor="t">
            <a:normAutofit/>
          </a:bodyPr>
          <a:lstStyle/>
          <a:p>
            <a:pPr algn="l" indent="0" marL="0">
              <a:lnSpc>
                <a:spcPct val="127778"/>
              </a:lnSpc>
              <a:buNone/>
            </a:pPr>
            <a:r>
              <a:rPr lang="en-US" sz="1725" dirty="0">
                <a:solidFill>
                  <a:srgbClr val="1A1A1A"/>
                </a:solidFill>
                <a:latin typeface="Arial" pitchFamily="34" charset="0"/>
                <a:ea typeface="Arial" pitchFamily="34" charset="-122"/>
                <a:cs typeface="Arial" pitchFamily="34" charset="-120"/>
              </a:rPr>
              <a:t>Le schede grafiche da videogiochi rendono l'addestramento economicamente sostenibile</a:t>
            </a:r>
            <a:endParaRPr lang="en-US" sz="1725" dirty="0"/>
          </a:p>
        </p:txBody>
      </p:sp>
      <p:sp>
        <p:nvSpPr>
          <p:cNvPr id="12" name="Shape 10"/>
          <p:cNvSpPr/>
          <p:nvPr/>
        </p:nvSpPr>
        <p:spPr>
          <a:xfrm>
            <a:off x="9267825" y="2458194"/>
            <a:ext cx="3910013" cy="2719239"/>
          </a:xfrm>
          <a:prstGeom prst="roundRect">
            <a:avLst>
              <a:gd name="adj" fmla="val 2802"/>
            </a:avLst>
          </a:prstGeom>
          <a:solidFill>
            <a:srgbClr val="F4F6F9"/>
          </a:solidFill>
          <a:ln/>
        </p:spPr>
      </p:sp>
      <p:sp>
        <p:nvSpPr>
          <p:cNvPr id="13" name="Text 11"/>
          <p:cNvSpPr/>
          <p:nvPr/>
        </p:nvSpPr>
        <p:spPr>
          <a:xfrm>
            <a:off x="9553575" y="2801094"/>
            <a:ext cx="3672364" cy="403771"/>
          </a:xfrm>
          <a:prstGeom prst="rect">
            <a:avLst/>
          </a:prstGeom>
          <a:noFill/>
          <a:ln/>
        </p:spPr>
        <p:txBody>
          <a:bodyPr wrap="square" lIns="25400" tIns="25400" rIns="25400" bIns="25400" rtlCol="0" anchor="t">
            <a:normAutofit/>
          </a:bodyPr>
          <a:lstStyle/>
          <a:p>
            <a:pPr algn="l" indent="0" marL="0">
              <a:lnSpc>
                <a:spcPct val="116364"/>
              </a:lnSpc>
              <a:buNone/>
            </a:pPr>
            <a:r>
              <a:rPr lang="en-US" sz="1800" b="1" dirty="0">
                <a:solidFill>
                  <a:srgbClr val="0E8A82"/>
                </a:solidFill>
                <a:latin typeface="Arial" pitchFamily="34" charset="0"/>
                <a:ea typeface="Arial" pitchFamily="34" charset="-122"/>
                <a:cs typeface="Arial" pitchFamily="34" charset="-120"/>
              </a:rPr>
              <a:t>Anni '00-'10</a:t>
            </a:r>
            <a:endParaRPr lang="en-US" sz="1800" dirty="0"/>
          </a:p>
        </p:txBody>
      </p:sp>
      <p:sp>
        <p:nvSpPr>
          <p:cNvPr id="14" name="Text 12"/>
          <p:cNvSpPr/>
          <p:nvPr/>
        </p:nvSpPr>
        <p:spPr>
          <a:xfrm>
            <a:off x="9553575" y="3319165"/>
            <a:ext cx="3672364" cy="434280"/>
          </a:xfrm>
          <a:prstGeom prst="rect">
            <a:avLst/>
          </a:prstGeom>
          <a:noFill/>
          <a:ln/>
        </p:spPr>
        <p:txBody>
          <a:bodyPr wrap="square" lIns="25400" tIns="25400" rIns="25400" bIns="25400" rtlCol="0" anchor="t">
            <a:normAutofit/>
          </a:bodyPr>
          <a:lstStyle/>
          <a:p>
            <a:pPr algn="l" indent="0" marL="0">
              <a:lnSpc>
                <a:spcPct val="134194"/>
              </a:lnSpc>
              <a:buNone/>
            </a:pPr>
            <a:r>
              <a:rPr lang="en-US" sz="1950" b="1" dirty="0">
                <a:solidFill>
                  <a:srgbClr val="1F569E"/>
                </a:solidFill>
                <a:latin typeface="Arial" pitchFamily="34" charset="0"/>
                <a:ea typeface="Arial" pitchFamily="34" charset="-122"/>
                <a:cs typeface="Arial" pitchFamily="34" charset="-120"/>
              </a:rPr>
              <a:t>Dati</a:t>
            </a:r>
            <a:endParaRPr lang="en-US" sz="1950" dirty="0"/>
          </a:p>
        </p:txBody>
      </p:sp>
      <p:sp>
        <p:nvSpPr>
          <p:cNvPr id="15" name="Text 13"/>
          <p:cNvSpPr/>
          <p:nvPr/>
        </p:nvSpPr>
        <p:spPr>
          <a:xfrm>
            <a:off x="9553575" y="3848695"/>
            <a:ext cx="3438668" cy="695325"/>
          </a:xfrm>
          <a:prstGeom prst="rect">
            <a:avLst/>
          </a:prstGeom>
          <a:noFill/>
          <a:ln/>
        </p:spPr>
        <p:txBody>
          <a:bodyPr wrap="square" lIns="25400" tIns="25400" rIns="25400" bIns="25400" rtlCol="0" anchor="t">
            <a:normAutofit/>
          </a:bodyPr>
          <a:lstStyle/>
          <a:p>
            <a:pPr algn="l" indent="0" marL="0">
              <a:lnSpc>
                <a:spcPct val="127778"/>
              </a:lnSpc>
              <a:buNone/>
            </a:pPr>
            <a:r>
              <a:rPr lang="en-US" sz="1725" dirty="0">
                <a:solidFill>
                  <a:srgbClr val="1A1A1A"/>
                </a:solidFill>
                <a:latin typeface="Arial" pitchFamily="34" charset="0"/>
                <a:ea typeface="Arial" pitchFamily="34" charset="-122"/>
                <a:cs typeface="Arial" pitchFamily="34" charset="-120"/>
              </a:rPr>
              <a:t>Il web rende disponibili quantità di testo prima inesistenti</a:t>
            </a:r>
            <a:endParaRPr lang="en-US" sz="1725" dirty="0"/>
          </a:p>
        </p:txBody>
      </p:sp>
      <p:sp>
        <p:nvSpPr>
          <p:cNvPr id="16" name="Shape 14"/>
          <p:cNvSpPr/>
          <p:nvPr/>
        </p:nvSpPr>
        <p:spPr>
          <a:xfrm>
            <a:off x="13425488" y="2458194"/>
            <a:ext cx="3910013" cy="2719239"/>
          </a:xfrm>
          <a:prstGeom prst="roundRect">
            <a:avLst>
              <a:gd name="adj" fmla="val 2802"/>
            </a:avLst>
          </a:prstGeom>
          <a:solidFill>
            <a:srgbClr val="F4F6F9"/>
          </a:solidFill>
          <a:ln/>
        </p:spPr>
      </p:sp>
      <p:sp>
        <p:nvSpPr>
          <p:cNvPr id="17" name="Text 15"/>
          <p:cNvSpPr/>
          <p:nvPr/>
        </p:nvSpPr>
        <p:spPr>
          <a:xfrm>
            <a:off x="13711238" y="2801094"/>
            <a:ext cx="3672364" cy="403771"/>
          </a:xfrm>
          <a:prstGeom prst="rect">
            <a:avLst/>
          </a:prstGeom>
          <a:noFill/>
          <a:ln/>
        </p:spPr>
        <p:txBody>
          <a:bodyPr wrap="square" lIns="25400" tIns="25400" rIns="25400" bIns="25400" rtlCol="0" anchor="t">
            <a:normAutofit/>
          </a:bodyPr>
          <a:lstStyle/>
          <a:p>
            <a:pPr algn="l" indent="0" marL="0">
              <a:lnSpc>
                <a:spcPct val="116364"/>
              </a:lnSpc>
              <a:buNone/>
            </a:pPr>
            <a:r>
              <a:rPr lang="en-US" sz="1800" b="1" dirty="0">
                <a:solidFill>
                  <a:srgbClr val="0E8A82"/>
                </a:solidFill>
                <a:latin typeface="Arial" pitchFamily="34" charset="0"/>
                <a:ea typeface="Arial" pitchFamily="34" charset="-122"/>
                <a:cs typeface="Arial" pitchFamily="34" charset="-120"/>
              </a:rPr>
              <a:t>~2020</a:t>
            </a:r>
            <a:endParaRPr lang="en-US" sz="1800" dirty="0"/>
          </a:p>
        </p:txBody>
      </p:sp>
      <p:sp>
        <p:nvSpPr>
          <p:cNvPr id="18" name="Text 16"/>
          <p:cNvSpPr/>
          <p:nvPr/>
        </p:nvSpPr>
        <p:spPr>
          <a:xfrm>
            <a:off x="13711238" y="3319165"/>
            <a:ext cx="3672364" cy="434280"/>
          </a:xfrm>
          <a:prstGeom prst="rect">
            <a:avLst/>
          </a:prstGeom>
          <a:noFill/>
          <a:ln/>
        </p:spPr>
        <p:txBody>
          <a:bodyPr wrap="square" lIns="25400" tIns="25400" rIns="25400" bIns="25400" rtlCol="0" anchor="t">
            <a:normAutofit/>
          </a:bodyPr>
          <a:lstStyle/>
          <a:p>
            <a:pPr algn="l" indent="0" marL="0">
              <a:lnSpc>
                <a:spcPct val="134194"/>
              </a:lnSpc>
              <a:buNone/>
            </a:pPr>
            <a:r>
              <a:rPr lang="en-US" sz="1950" b="1" dirty="0">
                <a:solidFill>
                  <a:srgbClr val="1F569E"/>
                </a:solidFill>
                <a:latin typeface="Arial" pitchFamily="34" charset="0"/>
                <a:ea typeface="Arial" pitchFamily="34" charset="-122"/>
                <a:cs typeface="Arial" pitchFamily="34" charset="-120"/>
              </a:rPr>
              <a:t>Scala</a:t>
            </a:r>
            <a:endParaRPr lang="en-US" sz="1950" dirty="0"/>
          </a:p>
        </p:txBody>
      </p:sp>
      <p:sp>
        <p:nvSpPr>
          <p:cNvPr id="19" name="Text 17"/>
          <p:cNvSpPr/>
          <p:nvPr/>
        </p:nvSpPr>
        <p:spPr>
          <a:xfrm>
            <a:off x="13711238" y="3848695"/>
            <a:ext cx="3438668" cy="1023938"/>
          </a:xfrm>
          <a:prstGeom prst="rect">
            <a:avLst/>
          </a:prstGeom>
          <a:noFill/>
          <a:ln/>
        </p:spPr>
        <p:txBody>
          <a:bodyPr wrap="square" lIns="25400" tIns="25400" rIns="25400" bIns="25400" rtlCol="0" anchor="t">
            <a:normAutofit/>
          </a:bodyPr>
          <a:lstStyle/>
          <a:p>
            <a:pPr algn="l" indent="0" marL="0">
              <a:lnSpc>
                <a:spcPct val="127778"/>
              </a:lnSpc>
              <a:buNone/>
            </a:pPr>
            <a:r>
              <a:rPr lang="en-US" sz="1725" dirty="0">
                <a:solidFill>
                  <a:srgbClr val="1A1A1A"/>
                </a:solidFill>
                <a:latin typeface="Arial" pitchFamily="34" charset="0"/>
                <a:ea typeface="Arial" pitchFamily="34" charset="-122"/>
                <a:cs typeface="Arial" pitchFamily="34" charset="-120"/>
              </a:rPr>
              <a:t>Aumentare modello, dati e calcolo insieme migliora i risultati in modo regolare</a:t>
            </a:r>
            <a:endParaRPr lang="en-US" sz="1725" dirty="0"/>
          </a:p>
        </p:txBody>
      </p:sp>
      <p:pic>
        <p:nvPicPr>
          <p:cNvPr id="20"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21" name="Text 18"/>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09</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IL VERO CAMBIAMENTO DEL 2022</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La barriera caduta è stata di accesso, non di potenza</a:t>
            </a:r>
            <a:endParaRPr lang="en-US" sz="3450" dirty="0"/>
          </a:p>
        </p:txBody>
      </p:sp>
      <p:sp>
        <p:nvSpPr>
          <p:cNvPr id="4" name="Text 2"/>
          <p:cNvSpPr/>
          <p:nvPr/>
        </p:nvSpPr>
        <p:spPr>
          <a:xfrm>
            <a:off x="952500" y="5086648"/>
            <a:ext cx="2457956" cy="1752600"/>
          </a:xfrm>
          <a:prstGeom prst="rect">
            <a:avLst/>
          </a:prstGeom>
          <a:noFill/>
          <a:ln/>
        </p:spPr>
        <p:txBody>
          <a:bodyPr wrap="square" lIns="25400" tIns="25400" rIns="25400" bIns="25400" rtlCol="0" anchor="t">
            <a:normAutofit/>
          </a:bodyPr>
          <a:lstStyle/>
          <a:p>
            <a:pPr algn="l" indent="0" marL="0">
              <a:lnSpc>
                <a:spcPct val="70866"/>
              </a:lnSpc>
              <a:buNone/>
            </a:pPr>
            <a:r>
              <a:rPr lang="en-US" sz="13500" b="1" dirty="0">
                <a:solidFill>
                  <a:srgbClr val="0E8A82"/>
                </a:solidFill>
                <a:latin typeface="Arial" pitchFamily="34" charset="0"/>
                <a:ea typeface="Arial" pitchFamily="34" charset="-122"/>
                <a:cs typeface="Arial" pitchFamily="34" charset="-120"/>
              </a:rPr>
              <a:t>'22</a:t>
            </a:r>
            <a:endParaRPr lang="en-US" sz="13500" dirty="0"/>
          </a:p>
        </p:txBody>
      </p:sp>
      <p:sp>
        <p:nvSpPr>
          <p:cNvPr id="5" name="Text 3"/>
          <p:cNvSpPr/>
          <p:nvPr/>
        </p:nvSpPr>
        <p:spPr>
          <a:xfrm>
            <a:off x="3758505" y="5212556"/>
            <a:ext cx="12753975" cy="1500783"/>
          </a:xfrm>
          <a:prstGeom prst="rect">
            <a:avLst/>
          </a:prstGeom>
          <a:noFill/>
          <a:ln/>
        </p:spPr>
        <p:txBody>
          <a:bodyPr wrap="square" lIns="25400" tIns="25400" rIns="25400" bIns="25400" rtlCol="0" anchor="t">
            <a:normAutofit/>
          </a:bodyPr>
          <a:lstStyle/>
          <a:p>
            <a:pPr algn="l" indent="0" marL="0">
              <a:lnSpc>
                <a:spcPct val="138378"/>
              </a:lnSpc>
              <a:buNone/>
            </a:pPr>
            <a:r>
              <a:rPr lang="en-US" sz="2400" dirty="0">
                <a:solidFill>
                  <a:srgbClr val="1A1A1A"/>
                </a:solidFill>
                <a:latin typeface="Arial" pitchFamily="34" charset="0"/>
                <a:ea typeface="Arial" pitchFamily="34" charset="-122"/>
                <a:cs typeface="Arial" pitchFamily="34" charset="-120"/>
              </a:rPr>
              <a:t>Nel 2020 i grandi modelli linguistici esistevano già, riservati a chi sapeva usarli in modo tecnico. Con ChatGPT non cambia soprattutto la potenza del modello: cambia che diventa accessibile a chiunque sappia descrivere bene un compito, in una conversazione.</a:t>
            </a:r>
            <a:endParaRPr lang="en-US" sz="2400" dirty="0"/>
          </a:p>
        </p:txBody>
      </p:sp>
      <p:pic>
        <p:nvPicPr>
          <p:cNvPr id="6"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7" name="Text 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10</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3C6E"/>
        </a:solidFill>
      </p:bgPr>
    </p:bg>
    <p:spTree>
      <p:nvGrpSpPr>
        <p:cNvPr id="1" name=""/>
        <p:cNvGrpSpPr/>
        <p:nvPr/>
      </p:nvGrpSpPr>
      <p:grpSpPr>
        <a:xfrm>
          <a:off x="0" y="0"/>
          <a:ext cx="0" cy="0"/>
          <a:chOff x="0" y="0"/>
          <a:chExt cx="0" cy="0"/>
        </a:xfrm>
      </p:grpSpPr>
      <p:sp>
        <p:nvSpPr>
          <p:cNvPr id="2" name="Text 0"/>
          <p:cNvSpPr/>
          <p:nvPr/>
        </p:nvSpPr>
        <p:spPr>
          <a:xfrm>
            <a:off x="1333500" y="3076724"/>
            <a:ext cx="171831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7FD4CC"/>
                </a:solidFill>
                <a:latin typeface="Arial" pitchFamily="34" charset="0"/>
                <a:ea typeface="Arial" pitchFamily="34" charset="-122"/>
                <a:cs typeface="Arial" pitchFamily="34" charset="-120"/>
              </a:rPr>
              <a:t>LA FRASE DA RICORDARE</a:t>
            </a:r>
            <a:endParaRPr lang="en-US" sz="1650" dirty="0"/>
          </a:p>
        </p:txBody>
      </p:sp>
      <p:sp>
        <p:nvSpPr>
          <p:cNvPr id="3" name="Text 1"/>
          <p:cNvSpPr/>
          <p:nvPr/>
        </p:nvSpPr>
        <p:spPr>
          <a:xfrm>
            <a:off x="1333500" y="3716685"/>
            <a:ext cx="15206662" cy="2198191"/>
          </a:xfrm>
          <a:prstGeom prst="rect">
            <a:avLst/>
          </a:prstGeom>
          <a:noFill/>
          <a:ln/>
        </p:spPr>
        <p:txBody>
          <a:bodyPr wrap="square" lIns="25400" tIns="25400" rIns="25400" bIns="25400" rtlCol="0" anchor="t">
            <a:normAutofit/>
          </a:bodyPr>
          <a:lstStyle/>
          <a:p>
            <a:pPr algn="l" indent="0" marL="0">
              <a:lnSpc>
                <a:spcPct val="95696"/>
              </a:lnSpc>
              <a:buNone/>
            </a:pPr>
            <a:r>
              <a:rPr lang="en-US" sz="4200" b="1" dirty="0">
                <a:solidFill>
                  <a:srgbClr val="FFFFFF"/>
                </a:solidFill>
                <a:latin typeface="Arial" pitchFamily="34" charset="0"/>
                <a:ea typeface="Arial" pitchFamily="34" charset="-122"/>
                <a:cs typeface="Arial" pitchFamily="34" charset="-120"/>
              </a:rPr>
              <a:t>Un LLM è un sistema che, dato un testo, calcola quale sia la continuazione più plausibile — e la produce un pezzo alla volta.</a:t>
            </a:r>
            <a:endParaRPr lang="en-US" sz="4200" dirty="0"/>
          </a:p>
        </p:txBody>
      </p:sp>
      <p:sp>
        <p:nvSpPr>
          <p:cNvPr id="4" name="Text 2"/>
          <p:cNvSpPr/>
          <p:nvPr/>
        </p:nvSpPr>
        <p:spPr>
          <a:xfrm>
            <a:off x="1333500" y="6295876"/>
            <a:ext cx="12753975" cy="952500"/>
          </a:xfrm>
          <a:prstGeom prst="rect">
            <a:avLst/>
          </a:prstGeom>
          <a:noFill/>
          <a:ln/>
        </p:spPr>
        <p:txBody>
          <a:bodyPr wrap="square" lIns="25400" tIns="25400" rIns="25400" bIns="25400" rtlCol="0" anchor="t">
            <a:normAutofit/>
          </a:bodyPr>
          <a:lstStyle/>
          <a:p>
            <a:pPr algn="l" indent="0" marL="0">
              <a:lnSpc>
                <a:spcPct val="141176"/>
              </a:lnSpc>
              <a:buNone/>
            </a:pPr>
            <a:r>
              <a:rPr lang="en-US" sz="2250" dirty="0">
                <a:solidFill>
                  <a:srgbClr val="FFFFFF">
                    <a:alpha val="65000"/>
                  </a:srgbClr>
                </a:solidFill>
                <a:latin typeface="Arial" pitchFamily="34" charset="0"/>
                <a:ea typeface="Arial" pitchFamily="34" charset="-122"/>
                <a:cs typeface="Arial" pitchFamily="34" charset="-120"/>
              </a:rPr>
              <a:t>Rispondere, riassumere, tradurre, riscrivere: è sempre questa stessa operazione, ripetuta migliaia di volte</a:t>
            </a:r>
            <a:endParaRPr lang="en-US" sz="2250" dirty="0"/>
          </a:p>
        </p:txBody>
      </p:sp>
      <p:sp>
        <p:nvSpPr>
          <p:cNvPr id="5" name="Shape 3"/>
          <p:cNvSpPr/>
          <p:nvPr/>
        </p:nvSpPr>
        <p:spPr>
          <a:xfrm>
            <a:off x="952500" y="9429750"/>
            <a:ext cx="1083915" cy="438150"/>
          </a:xfrm>
          <a:prstGeom prst="roundRect">
            <a:avLst>
              <a:gd name="adj" fmla="val 13043"/>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104900" y="9505950"/>
            <a:ext cx="779115" cy="285750"/>
          </a:xfrm>
          <a:prstGeom prst="rect">
            <a:avLst/>
          </a:prstGeom>
        </p:spPr>
      </p:pic>
      <p:sp>
        <p:nvSpPr>
          <p:cNvPr id="7" name="Text 4"/>
          <p:cNvSpPr/>
          <p:nvPr/>
        </p:nvSpPr>
        <p:spPr>
          <a:xfrm>
            <a:off x="17137707" y="9563100"/>
            <a:ext cx="273993"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FFFFFF">
                    <a:alpha val="50000"/>
                  </a:srgbClr>
                </a:solidFill>
                <a:latin typeface="Arial" pitchFamily="34" charset="0"/>
                <a:ea typeface="Arial" pitchFamily="34" charset="-122"/>
                <a:cs typeface="Arial" pitchFamily="34" charset="-120"/>
              </a:rPr>
              <a:t>11</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COSA C'È DIETRO LE RISPOSTE</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Il modello non sa nulla di voi finché non glielo dite</a:t>
            </a:r>
            <a:endParaRPr lang="en-US" sz="3450" dirty="0"/>
          </a:p>
        </p:txBody>
      </p:sp>
      <p:sp>
        <p:nvSpPr>
          <p:cNvPr id="4" name="Shape 2"/>
          <p:cNvSpPr/>
          <p:nvPr/>
        </p:nvSpPr>
        <p:spPr>
          <a:xfrm>
            <a:off x="952500" y="2458194"/>
            <a:ext cx="5257800" cy="2433042"/>
          </a:xfrm>
          <a:prstGeom prst="roundRect">
            <a:avLst>
              <a:gd name="adj" fmla="val 3132"/>
            </a:avLst>
          </a:prstGeom>
          <a:solidFill>
            <a:srgbClr val="F4F6F9"/>
          </a:solidFill>
          <a:ln/>
        </p:spPr>
      </p:sp>
      <p:sp>
        <p:nvSpPr>
          <p:cNvPr id="5" name="Text 3"/>
          <p:cNvSpPr/>
          <p:nvPr/>
        </p:nvSpPr>
        <p:spPr>
          <a:xfrm>
            <a:off x="1276350" y="2839194"/>
            <a:ext cx="5071110" cy="449461"/>
          </a:xfrm>
          <a:prstGeom prst="rect">
            <a:avLst/>
          </a:prstGeom>
          <a:noFill/>
          <a:ln/>
        </p:spPr>
        <p:txBody>
          <a:bodyPr wrap="square" lIns="25400" tIns="25400" rIns="25400" bIns="25400" rtlCol="0" anchor="t">
            <a:normAutofit/>
          </a:bodyPr>
          <a:lstStyle/>
          <a:p>
            <a:pPr algn="l" indent="0" marL="0">
              <a:lnSpc>
                <a:spcPct val="139355"/>
              </a:lnSpc>
              <a:buNone/>
            </a:pPr>
            <a:r>
              <a:rPr lang="en-US" sz="2025" b="1" dirty="0">
                <a:solidFill>
                  <a:srgbClr val="1F569E"/>
                </a:solidFill>
                <a:latin typeface="Arial" pitchFamily="34" charset="0"/>
                <a:ea typeface="Arial" pitchFamily="34" charset="-122"/>
                <a:cs typeface="Arial" pitchFamily="34" charset="-120"/>
              </a:rPr>
              <a:t>Conosce solo ciò che è pubblico</a:t>
            </a:r>
            <a:endParaRPr lang="en-US" sz="2025" dirty="0"/>
          </a:p>
        </p:txBody>
      </p:sp>
      <p:sp>
        <p:nvSpPr>
          <p:cNvPr id="6" name="Text 4"/>
          <p:cNvSpPr/>
          <p:nvPr/>
        </p:nvSpPr>
        <p:spPr>
          <a:xfrm>
            <a:off x="1276350" y="3402955"/>
            <a:ext cx="4748403" cy="1145381"/>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1A1A1A"/>
                </a:solidFill>
                <a:latin typeface="Arial" pitchFamily="34" charset="0"/>
                <a:ea typeface="Arial" pitchFamily="34" charset="-122"/>
                <a:cs typeface="Arial" pitchFamily="34" charset="-120"/>
              </a:rPr>
              <a:t>Nulla dei vostri listini, fornitori o condizioni negoziate: se non è mai stato pubblicato, il modello lo ignora</a:t>
            </a:r>
            <a:endParaRPr lang="en-US" sz="1875" dirty="0"/>
          </a:p>
        </p:txBody>
      </p:sp>
      <p:sp>
        <p:nvSpPr>
          <p:cNvPr id="7" name="Shape 5"/>
          <p:cNvSpPr/>
          <p:nvPr/>
        </p:nvSpPr>
        <p:spPr>
          <a:xfrm>
            <a:off x="6515100" y="2458194"/>
            <a:ext cx="5257800" cy="2433042"/>
          </a:xfrm>
          <a:prstGeom prst="roundRect">
            <a:avLst>
              <a:gd name="adj" fmla="val 3132"/>
            </a:avLst>
          </a:prstGeom>
          <a:solidFill>
            <a:srgbClr val="F4F6F9"/>
          </a:solidFill>
          <a:ln/>
        </p:spPr>
      </p:sp>
      <p:sp>
        <p:nvSpPr>
          <p:cNvPr id="8" name="Text 6"/>
          <p:cNvSpPr/>
          <p:nvPr/>
        </p:nvSpPr>
        <p:spPr>
          <a:xfrm>
            <a:off x="6838950" y="2839194"/>
            <a:ext cx="5071110" cy="449461"/>
          </a:xfrm>
          <a:prstGeom prst="rect">
            <a:avLst/>
          </a:prstGeom>
          <a:noFill/>
          <a:ln/>
        </p:spPr>
        <p:txBody>
          <a:bodyPr wrap="square" lIns="25400" tIns="25400" rIns="25400" bIns="25400" rtlCol="0" anchor="t">
            <a:normAutofit/>
          </a:bodyPr>
          <a:lstStyle/>
          <a:p>
            <a:pPr algn="l" indent="0" marL="0">
              <a:lnSpc>
                <a:spcPct val="139355"/>
              </a:lnSpc>
              <a:buNone/>
            </a:pPr>
            <a:r>
              <a:rPr lang="en-US" sz="2025" b="1" dirty="0">
                <a:solidFill>
                  <a:srgbClr val="1F569E"/>
                </a:solidFill>
                <a:latin typeface="Arial" pitchFamily="34" charset="0"/>
                <a:ea typeface="Arial" pitchFamily="34" charset="-122"/>
                <a:cs typeface="Arial" pitchFamily="34" charset="-120"/>
              </a:rPr>
              <a:t>Ha una data di aggiornamento</a:t>
            </a:r>
            <a:endParaRPr lang="en-US" sz="2025" dirty="0"/>
          </a:p>
        </p:txBody>
      </p:sp>
      <p:sp>
        <p:nvSpPr>
          <p:cNvPr id="9" name="Text 7"/>
          <p:cNvSpPr/>
          <p:nvPr/>
        </p:nvSpPr>
        <p:spPr>
          <a:xfrm>
            <a:off x="6838950" y="3402955"/>
            <a:ext cx="4748403" cy="1145381"/>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1A1A1A"/>
                </a:solidFill>
                <a:latin typeface="Arial" pitchFamily="34" charset="0"/>
                <a:ea typeface="Arial" pitchFamily="34" charset="-122"/>
                <a:cs typeface="Arial" pitchFamily="34" charset="-120"/>
              </a:rPr>
              <a:t>Dopo quella data non sa più nulla del mondo, ma risponde comunque con la stessa sicurezza</a:t>
            </a:r>
            <a:endParaRPr lang="en-US" sz="1875" dirty="0"/>
          </a:p>
        </p:txBody>
      </p:sp>
      <p:sp>
        <p:nvSpPr>
          <p:cNvPr id="10" name="Shape 8"/>
          <p:cNvSpPr/>
          <p:nvPr/>
        </p:nvSpPr>
        <p:spPr>
          <a:xfrm>
            <a:off x="12077700" y="2458194"/>
            <a:ext cx="5257800" cy="2433042"/>
          </a:xfrm>
          <a:prstGeom prst="roundRect">
            <a:avLst>
              <a:gd name="adj" fmla="val 3132"/>
            </a:avLst>
          </a:prstGeom>
          <a:solidFill>
            <a:srgbClr val="F4F6F9"/>
          </a:solidFill>
          <a:ln/>
        </p:spPr>
      </p:sp>
      <p:sp>
        <p:nvSpPr>
          <p:cNvPr id="11" name="Text 9"/>
          <p:cNvSpPr/>
          <p:nvPr/>
        </p:nvSpPr>
        <p:spPr>
          <a:xfrm>
            <a:off x="12401550" y="2839194"/>
            <a:ext cx="5071110" cy="449461"/>
          </a:xfrm>
          <a:prstGeom prst="rect">
            <a:avLst/>
          </a:prstGeom>
          <a:noFill/>
          <a:ln/>
        </p:spPr>
        <p:txBody>
          <a:bodyPr wrap="square" lIns="25400" tIns="25400" rIns="25400" bIns="25400" rtlCol="0" anchor="t">
            <a:normAutofit/>
          </a:bodyPr>
          <a:lstStyle/>
          <a:p>
            <a:pPr algn="l" indent="0" marL="0">
              <a:lnSpc>
                <a:spcPct val="139355"/>
              </a:lnSpc>
              <a:buNone/>
            </a:pPr>
            <a:r>
              <a:rPr lang="en-US" sz="2025" b="1" dirty="0">
                <a:solidFill>
                  <a:srgbClr val="1F569E"/>
                </a:solidFill>
                <a:latin typeface="Arial" pitchFamily="34" charset="0"/>
                <a:ea typeface="Arial" pitchFamily="34" charset="-122"/>
                <a:cs typeface="Arial" pitchFamily="34" charset="-120"/>
              </a:rPr>
              <a:t>Eredita le distorsioni dei testi</a:t>
            </a:r>
            <a:endParaRPr lang="en-US" sz="2025" dirty="0"/>
          </a:p>
        </p:txBody>
      </p:sp>
      <p:sp>
        <p:nvSpPr>
          <p:cNvPr id="12" name="Text 10"/>
          <p:cNvSpPr/>
          <p:nvPr/>
        </p:nvSpPr>
        <p:spPr>
          <a:xfrm>
            <a:off x="12401550" y="3402955"/>
            <a:ext cx="4748403" cy="1145381"/>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1A1A1A"/>
                </a:solidFill>
                <a:latin typeface="Arial" pitchFamily="34" charset="0"/>
                <a:ea typeface="Arial" pitchFamily="34" charset="-122"/>
                <a:cs typeface="Arial" pitchFamily="34" charset="-120"/>
              </a:rPr>
              <a:t>Le associazioni più frequenti nel materiale di addestramento ricompaiono nelle risposte</a:t>
            </a:r>
            <a:endParaRPr lang="en-US" sz="1875" dirty="0"/>
          </a:p>
        </p:txBody>
      </p:sp>
      <p:pic>
        <p:nvPicPr>
          <p:cNvPr id="13"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4" name="Text 11"/>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12</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COME NASCE UN ASSISTENTE</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Tre passaggi, dal continuare testo al rispondere</a:t>
            </a:r>
            <a:endParaRPr lang="en-US" sz="3450" dirty="0"/>
          </a:p>
        </p:txBody>
      </p:sp>
      <p:sp>
        <p:nvSpPr>
          <p:cNvPr id="4" name="Shape 2"/>
          <p:cNvSpPr/>
          <p:nvPr/>
        </p:nvSpPr>
        <p:spPr>
          <a:xfrm>
            <a:off x="952500" y="2496294"/>
            <a:ext cx="5441900" cy="2507754"/>
          </a:xfrm>
          <a:custGeom>
            <a:avLst/>
            <a:gdLst/>
            <a:ahLst/>
            <a:cxnLst/>
            <a:rect l="l" t="t" r="r" b="b"/>
            <a:pathLst>
              <a:path w="5441900" h="2507754">
                <a:moveTo>
                  <a:pt x="76200" y="0"/>
                </a:moveTo>
                <a:lnTo>
                  <a:pt x="5441900" y="0"/>
                </a:lnTo>
                <a:lnTo>
                  <a:pt x="5441900" y="2507754"/>
                </a:lnTo>
                <a:lnTo>
                  <a:pt x="76200" y="2507754"/>
                </a:lnTo>
                <a:arcTo hR="76200" wR="76200" stAng="5400000" swAng="5400000"/>
                <a:lnTo>
                  <a:pt x="0" y="76200"/>
                </a:lnTo>
                <a:arcTo hR="76200" wR="76200" stAng="10800000" swAng="5400000"/>
                <a:close/>
              </a:path>
            </a:pathLst>
          </a:custGeom>
          <a:solidFill>
            <a:srgbClr val="FFFFFF"/>
          </a:solidFill>
          <a:ln/>
        </p:spPr>
      </p:sp>
      <p:sp>
        <p:nvSpPr>
          <p:cNvPr id="5" name="Text 3"/>
          <p:cNvSpPr/>
          <p:nvPr/>
        </p:nvSpPr>
        <p:spPr>
          <a:xfrm>
            <a:off x="1314450" y="2915394"/>
            <a:ext cx="5189800" cy="403771"/>
          </a:xfrm>
          <a:prstGeom prst="rect">
            <a:avLst/>
          </a:prstGeom>
          <a:noFill/>
          <a:ln/>
        </p:spPr>
        <p:txBody>
          <a:bodyPr wrap="square" lIns="25400" tIns="25400" rIns="25400" bIns="25400" rtlCol="0" anchor="t">
            <a:normAutofit/>
          </a:bodyPr>
          <a:lstStyle/>
          <a:p>
            <a:pPr algn="l" indent="0" marL="0">
              <a:lnSpc>
                <a:spcPct val="116364"/>
              </a:lnSpc>
              <a:buNone/>
            </a:pPr>
            <a:r>
              <a:rPr lang="en-US" sz="1800" b="1" dirty="0">
                <a:solidFill>
                  <a:srgbClr val="0E8A82"/>
                </a:solidFill>
                <a:latin typeface="Arial" pitchFamily="34" charset="0"/>
                <a:ea typeface="Arial" pitchFamily="34" charset="-122"/>
                <a:cs typeface="Arial" pitchFamily="34" charset="-120"/>
              </a:rPr>
              <a:t>1 · Pre-addestramento</a:t>
            </a:r>
            <a:endParaRPr lang="en-US" sz="1800" dirty="0"/>
          </a:p>
        </p:txBody>
      </p:sp>
      <p:sp>
        <p:nvSpPr>
          <p:cNvPr id="6" name="Text 4"/>
          <p:cNvSpPr/>
          <p:nvPr/>
        </p:nvSpPr>
        <p:spPr>
          <a:xfrm>
            <a:off x="1314450" y="3433465"/>
            <a:ext cx="4859540" cy="118958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1A1A1A"/>
                </a:solidFill>
                <a:latin typeface="Arial" pitchFamily="34" charset="0"/>
                <a:ea typeface="Arial" pitchFamily="34" charset="-122"/>
                <a:cs typeface="Arial" pitchFamily="34" charset="-120"/>
              </a:rPr>
              <a:t>Impara a prevedere il token successivo su un'enorme quantità di testo. Sa continuare testo, ma non è ancora un assistente.</a:t>
            </a:r>
            <a:endParaRPr lang="en-US" sz="1950" dirty="0"/>
          </a:p>
        </p:txBody>
      </p:sp>
      <p:sp>
        <p:nvSpPr>
          <p:cNvPr id="7" name="Shape 5"/>
          <p:cNvSpPr/>
          <p:nvPr/>
        </p:nvSpPr>
        <p:spPr>
          <a:xfrm>
            <a:off x="6394400" y="2496294"/>
            <a:ext cx="28575" cy="2507754"/>
          </a:xfrm>
          <a:prstGeom prst="rect">
            <a:avLst/>
          </a:prstGeom>
          <a:solidFill>
            <a:srgbClr val="E5E7EB"/>
          </a:solidFill>
          <a:ln/>
        </p:spPr>
      </p:sp>
      <p:sp>
        <p:nvSpPr>
          <p:cNvPr id="8" name="Shape 6"/>
          <p:cNvSpPr/>
          <p:nvPr/>
        </p:nvSpPr>
        <p:spPr>
          <a:xfrm>
            <a:off x="6422975" y="2496294"/>
            <a:ext cx="5442049" cy="2507754"/>
          </a:xfrm>
          <a:prstGeom prst="rect">
            <a:avLst/>
          </a:prstGeom>
          <a:solidFill>
            <a:srgbClr val="FFFFFF"/>
          </a:solidFill>
          <a:ln/>
        </p:spPr>
      </p:sp>
      <p:sp>
        <p:nvSpPr>
          <p:cNvPr id="9" name="Text 7"/>
          <p:cNvSpPr/>
          <p:nvPr/>
        </p:nvSpPr>
        <p:spPr>
          <a:xfrm>
            <a:off x="6784925" y="2915394"/>
            <a:ext cx="5189964" cy="403771"/>
          </a:xfrm>
          <a:prstGeom prst="rect">
            <a:avLst/>
          </a:prstGeom>
          <a:noFill/>
          <a:ln/>
        </p:spPr>
        <p:txBody>
          <a:bodyPr wrap="square" lIns="25400" tIns="25400" rIns="25400" bIns="25400" rtlCol="0" anchor="t">
            <a:normAutofit/>
          </a:bodyPr>
          <a:lstStyle/>
          <a:p>
            <a:pPr algn="l" indent="0" marL="0">
              <a:lnSpc>
                <a:spcPct val="116364"/>
              </a:lnSpc>
              <a:buNone/>
            </a:pPr>
            <a:r>
              <a:rPr lang="en-US" sz="1800" b="1" dirty="0">
                <a:solidFill>
                  <a:srgbClr val="0E8A82"/>
                </a:solidFill>
                <a:latin typeface="Arial" pitchFamily="34" charset="0"/>
                <a:ea typeface="Arial" pitchFamily="34" charset="-122"/>
                <a:cs typeface="Arial" pitchFamily="34" charset="-120"/>
              </a:rPr>
              <a:t>2 · Istruzioni</a:t>
            </a:r>
            <a:endParaRPr lang="en-US" sz="1800" dirty="0"/>
          </a:p>
        </p:txBody>
      </p:sp>
      <p:sp>
        <p:nvSpPr>
          <p:cNvPr id="10" name="Text 8"/>
          <p:cNvSpPr/>
          <p:nvPr/>
        </p:nvSpPr>
        <p:spPr>
          <a:xfrm>
            <a:off x="6784925" y="3433465"/>
            <a:ext cx="4859694" cy="118958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1A1A1A"/>
                </a:solidFill>
                <a:latin typeface="Arial" pitchFamily="34" charset="0"/>
                <a:ea typeface="Arial" pitchFamily="34" charset="-122"/>
                <a:cs typeface="Arial" pitchFamily="34" charset="-120"/>
              </a:rPr>
              <a:t>Coppie richiesta-risposta gli insegnano il formato: a una domanda deve seguire una risposta.</a:t>
            </a:r>
            <a:endParaRPr lang="en-US" sz="1950" dirty="0"/>
          </a:p>
        </p:txBody>
      </p:sp>
      <p:sp>
        <p:nvSpPr>
          <p:cNvPr id="11" name="Shape 9"/>
          <p:cNvSpPr/>
          <p:nvPr/>
        </p:nvSpPr>
        <p:spPr>
          <a:xfrm>
            <a:off x="11865025" y="2496294"/>
            <a:ext cx="28575" cy="2507754"/>
          </a:xfrm>
          <a:prstGeom prst="rect">
            <a:avLst/>
          </a:prstGeom>
          <a:solidFill>
            <a:srgbClr val="E5E7EB"/>
          </a:solidFill>
          <a:ln/>
        </p:spPr>
      </p:sp>
      <p:sp>
        <p:nvSpPr>
          <p:cNvPr id="12" name="Shape 10"/>
          <p:cNvSpPr/>
          <p:nvPr/>
        </p:nvSpPr>
        <p:spPr>
          <a:xfrm>
            <a:off x="11893600" y="2496294"/>
            <a:ext cx="5441900" cy="2507754"/>
          </a:xfrm>
          <a:custGeom>
            <a:avLst/>
            <a:gdLst/>
            <a:ahLst/>
            <a:cxnLst/>
            <a:rect l="l" t="t" r="r" b="b"/>
            <a:pathLst>
              <a:path w="5441900" h="2507754">
                <a:moveTo>
                  <a:pt x="0" y="0"/>
                </a:moveTo>
                <a:lnTo>
                  <a:pt x="5365700" y="0"/>
                </a:lnTo>
                <a:arcTo hR="76200" wR="76200" stAng="16200000" swAng="5400000"/>
                <a:lnTo>
                  <a:pt x="5441900" y="2431554"/>
                </a:lnTo>
                <a:arcTo hR="76200" wR="76200" stAng="0" swAng="5400000"/>
                <a:lnTo>
                  <a:pt x="0" y="2507754"/>
                </a:lnTo>
                <a:lnTo>
                  <a:pt x="0" y="0"/>
                </a:lnTo>
                <a:close/>
              </a:path>
            </a:pathLst>
          </a:custGeom>
          <a:solidFill>
            <a:srgbClr val="FFFFFF"/>
          </a:solidFill>
          <a:ln/>
        </p:spPr>
      </p:sp>
      <p:sp>
        <p:nvSpPr>
          <p:cNvPr id="13" name="Text 11"/>
          <p:cNvSpPr/>
          <p:nvPr/>
        </p:nvSpPr>
        <p:spPr>
          <a:xfrm>
            <a:off x="12255550" y="2915394"/>
            <a:ext cx="5189800" cy="403771"/>
          </a:xfrm>
          <a:prstGeom prst="rect">
            <a:avLst/>
          </a:prstGeom>
          <a:noFill/>
          <a:ln/>
        </p:spPr>
        <p:txBody>
          <a:bodyPr wrap="square" lIns="25400" tIns="25400" rIns="25400" bIns="25400" rtlCol="0" anchor="t">
            <a:normAutofit/>
          </a:bodyPr>
          <a:lstStyle/>
          <a:p>
            <a:pPr algn="l" indent="0" marL="0">
              <a:lnSpc>
                <a:spcPct val="116364"/>
              </a:lnSpc>
              <a:buNone/>
            </a:pPr>
            <a:r>
              <a:rPr lang="en-US" sz="1800" b="1" dirty="0">
                <a:solidFill>
                  <a:srgbClr val="0E8A82"/>
                </a:solidFill>
                <a:latin typeface="Arial" pitchFamily="34" charset="0"/>
                <a:ea typeface="Arial" pitchFamily="34" charset="-122"/>
                <a:cs typeface="Arial" pitchFamily="34" charset="-120"/>
              </a:rPr>
              <a:t>3 · Allineamento</a:t>
            </a:r>
            <a:endParaRPr lang="en-US" sz="1800" dirty="0"/>
          </a:p>
        </p:txBody>
      </p:sp>
      <p:sp>
        <p:nvSpPr>
          <p:cNvPr id="14" name="Text 12"/>
          <p:cNvSpPr/>
          <p:nvPr/>
        </p:nvSpPr>
        <p:spPr>
          <a:xfrm>
            <a:off x="12255550" y="3433465"/>
            <a:ext cx="4859540" cy="1189583"/>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1A1A1A"/>
                </a:solidFill>
                <a:latin typeface="Arial" pitchFamily="34" charset="0"/>
                <a:ea typeface="Arial" pitchFamily="34" charset="-122"/>
                <a:cs typeface="Arial" pitchFamily="34" charset="-120"/>
              </a:rPr>
              <a:t>Persone confrontano risposte diverse e indicano la migliore: qui si stabilisce tono e cautele.</a:t>
            </a:r>
            <a:endParaRPr lang="en-US" sz="1950" dirty="0"/>
          </a:p>
        </p:txBody>
      </p:sp>
      <p:sp>
        <p:nvSpPr>
          <p:cNvPr id="15" name="Text 13"/>
          <p:cNvSpPr/>
          <p:nvPr/>
        </p:nvSpPr>
        <p:spPr>
          <a:xfrm>
            <a:off x="952500" y="5346948"/>
            <a:ext cx="18021300" cy="403771"/>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6B7280"/>
                </a:solidFill>
                <a:latin typeface="Arial" pitchFamily="34" charset="0"/>
                <a:ea typeface="Arial" pitchFamily="34" charset="-122"/>
                <a:cs typeface="Arial" pitchFamily="34" charset="-120"/>
              </a:rPr>
              <a:t>Non esiste un assistente "neutro": il comportamento riflette scelte fatte da chi lo ha costruito</a:t>
            </a:r>
            <a:endParaRPr lang="en-US" sz="1800" dirty="0"/>
          </a:p>
        </p:txBody>
      </p:sp>
      <p:pic>
        <p:nvPicPr>
          <p:cNvPr id="16"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7"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13</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L'UNITÀ DI MISURA DEL TESTO</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Il modello non legge parole: legge token</a:t>
            </a:r>
            <a:endParaRPr lang="en-US" sz="3450" dirty="0"/>
          </a:p>
        </p:txBody>
      </p:sp>
      <p:sp>
        <p:nvSpPr>
          <p:cNvPr id="4" name="Text 2"/>
          <p:cNvSpPr/>
          <p:nvPr/>
        </p:nvSpPr>
        <p:spPr>
          <a:xfrm>
            <a:off x="952500" y="5322987"/>
            <a:ext cx="7878032" cy="13181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1A1A1A"/>
                </a:solidFill>
                <a:latin typeface="Arial" pitchFamily="34" charset="0"/>
                <a:ea typeface="Arial" pitchFamily="34" charset="-122"/>
                <a:cs typeface="Arial" pitchFamily="34" charset="-120"/>
              </a:rPr>
              <a:t>Un token è un frammento di testo: una parola breve e frequente, un pezzo di parola più lunga o rara, un segno di punteggiatura, uno spazio.</a:t>
            </a:r>
            <a:endParaRPr lang="en-US" sz="2100" dirty="0"/>
          </a:p>
        </p:txBody>
      </p:sp>
      <p:sp>
        <p:nvSpPr>
          <p:cNvPr id="5" name="Shape 3"/>
          <p:cNvSpPr/>
          <p:nvPr/>
        </p:nvSpPr>
        <p:spPr>
          <a:xfrm>
            <a:off x="9134475" y="4534198"/>
            <a:ext cx="19050" cy="2857500"/>
          </a:xfrm>
          <a:prstGeom prst="rect">
            <a:avLst/>
          </a:prstGeom>
          <a:solidFill>
            <a:srgbClr val="E5E7EB"/>
          </a:solidFill>
          <a:ln/>
        </p:spPr>
      </p:sp>
      <p:sp>
        <p:nvSpPr>
          <p:cNvPr id="6" name="Shape 4"/>
          <p:cNvSpPr/>
          <p:nvPr/>
        </p:nvSpPr>
        <p:spPr>
          <a:xfrm>
            <a:off x="2667000" y="8373219"/>
            <a:ext cx="3714750" cy="619125"/>
          </a:xfrm>
          <a:prstGeom prst="roundRect">
            <a:avLst>
              <a:gd name="adj" fmla="val 9231"/>
            </a:avLst>
          </a:prstGeom>
          <a:solidFill>
            <a:srgbClr val="0E8A82"/>
          </a:solidFill>
          <a:ln/>
        </p:spPr>
      </p:sp>
      <p:sp>
        <p:nvSpPr>
          <p:cNvPr id="7" name="Text 5">
            <a:hlinkClick r:id="rId1" tooltip=""/>
          </p:cNvPr>
          <p:cNvSpPr/>
          <p:nvPr/>
        </p:nvSpPr>
        <p:spPr>
          <a:xfrm>
            <a:off x="2897029" y="8525619"/>
            <a:ext cx="3254693" cy="352425"/>
          </a:xfrm>
          <a:prstGeom prst="rect">
            <a:avLst/>
          </a:prstGeom>
          <a:noFill/>
          <a:ln/>
        </p:spPr>
        <p:txBody>
          <a:bodyPr wrap="square" lIns="25400" tIns="25400" rIns="25400" bIns="25400" rtlCol="0" anchor="ctr">
            <a:normAutofit/>
          </a:bodyPr>
          <a:lstStyle/>
          <a:p>
            <a:pPr algn="ctr" indent="0" marL="0">
              <a:lnSpc>
                <a:spcPct val="135385"/>
              </a:lnSpc>
              <a:buNone/>
            </a:pPr>
            <a:r>
              <a:rPr lang="en-US" sz="165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Attention is all you need</a:t>
            </a:r>
            <a:endParaRPr lang="en-US" sz="1650" dirty="0"/>
          </a:p>
        </p:txBody>
      </p:sp>
      <p:sp>
        <p:nvSpPr>
          <p:cNvPr id="8" name="Shape 6"/>
          <p:cNvSpPr/>
          <p:nvPr/>
        </p:nvSpPr>
        <p:spPr>
          <a:xfrm>
            <a:off x="9686925" y="3587800"/>
            <a:ext cx="7648575" cy="1443782"/>
          </a:xfrm>
          <a:prstGeom prst="roundRect">
            <a:avLst>
              <a:gd name="adj" fmla="val 5278"/>
            </a:avLst>
          </a:prstGeom>
          <a:solidFill>
            <a:srgbClr val="F4F6F9"/>
          </a:solidFill>
          <a:ln/>
        </p:spPr>
      </p:sp>
      <p:sp>
        <p:nvSpPr>
          <p:cNvPr id="9" name="Text 7"/>
          <p:cNvSpPr/>
          <p:nvPr/>
        </p:nvSpPr>
        <p:spPr>
          <a:xfrm>
            <a:off x="9991725" y="3854500"/>
            <a:ext cx="7742873"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~1,5</a:t>
            </a:r>
            <a:endParaRPr lang="en-US" sz="2550" dirty="0"/>
          </a:p>
        </p:txBody>
      </p:sp>
      <p:sp>
        <p:nvSpPr>
          <p:cNvPr id="10" name="Text 8"/>
          <p:cNvSpPr/>
          <p:nvPr/>
        </p:nvSpPr>
        <p:spPr>
          <a:xfrm>
            <a:off x="9991725" y="4429720"/>
            <a:ext cx="7742873" cy="373261"/>
          </a:xfrm>
          <a:prstGeom prst="rect">
            <a:avLst/>
          </a:prstGeom>
          <a:noFill/>
          <a:ln/>
        </p:spPr>
        <p:txBody>
          <a:bodyPr wrap="square" lIns="25400" tIns="25400" rIns="25400" bIns="25400" rtlCol="0" anchor="t">
            <a:normAutofit/>
          </a:bodyPr>
          <a:lstStyle/>
          <a:p>
            <a:pPr algn="l" indent="0" marL="0">
              <a:lnSpc>
                <a:spcPct val="135385"/>
              </a:lnSpc>
              <a:buNone/>
            </a:pPr>
            <a:r>
              <a:rPr lang="en-US" sz="1650" dirty="0">
                <a:solidFill>
                  <a:srgbClr val="6B7280"/>
                </a:solidFill>
                <a:latin typeface="Arial" pitchFamily="34" charset="0"/>
                <a:ea typeface="Arial" pitchFamily="34" charset="-122"/>
                <a:cs typeface="Arial" pitchFamily="34" charset="-120"/>
              </a:rPr>
              <a:t>token per parola, in italiano — stima grossolana, non un rapporto fisso</a:t>
            </a:r>
            <a:endParaRPr lang="en-US" sz="1650" dirty="0"/>
          </a:p>
        </p:txBody>
      </p:sp>
      <p:sp>
        <p:nvSpPr>
          <p:cNvPr id="11" name="Shape 9"/>
          <p:cNvSpPr/>
          <p:nvPr/>
        </p:nvSpPr>
        <p:spPr>
          <a:xfrm>
            <a:off x="9686925" y="5241131"/>
            <a:ext cx="7648575" cy="1443782"/>
          </a:xfrm>
          <a:prstGeom prst="roundRect">
            <a:avLst>
              <a:gd name="adj" fmla="val 5278"/>
            </a:avLst>
          </a:prstGeom>
          <a:solidFill>
            <a:srgbClr val="F4F6F9"/>
          </a:solidFill>
          <a:ln/>
        </p:spPr>
      </p:sp>
      <p:sp>
        <p:nvSpPr>
          <p:cNvPr id="12" name="Text 10"/>
          <p:cNvSpPr/>
          <p:nvPr/>
        </p:nvSpPr>
        <p:spPr>
          <a:xfrm>
            <a:off x="9991725" y="5507831"/>
            <a:ext cx="7742873"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~1.000</a:t>
            </a:r>
            <a:endParaRPr lang="en-US" sz="2550" dirty="0"/>
          </a:p>
        </p:txBody>
      </p:sp>
      <p:sp>
        <p:nvSpPr>
          <p:cNvPr id="13" name="Text 11"/>
          <p:cNvSpPr/>
          <p:nvPr/>
        </p:nvSpPr>
        <p:spPr>
          <a:xfrm>
            <a:off x="9991725" y="6083052"/>
            <a:ext cx="7742873" cy="373261"/>
          </a:xfrm>
          <a:prstGeom prst="rect">
            <a:avLst/>
          </a:prstGeom>
          <a:noFill/>
          <a:ln/>
        </p:spPr>
        <p:txBody>
          <a:bodyPr wrap="square" lIns="25400" tIns="25400" rIns="25400" bIns="25400" rtlCol="0" anchor="t">
            <a:normAutofit/>
          </a:bodyPr>
          <a:lstStyle/>
          <a:p>
            <a:pPr algn="l" indent="0" marL="0">
              <a:lnSpc>
                <a:spcPct val="135385"/>
              </a:lnSpc>
              <a:buNone/>
            </a:pPr>
            <a:r>
              <a:rPr lang="en-US" sz="1650" dirty="0">
                <a:solidFill>
                  <a:srgbClr val="6B7280"/>
                </a:solidFill>
                <a:latin typeface="Arial" pitchFamily="34" charset="0"/>
                <a:ea typeface="Arial" pitchFamily="34" charset="-122"/>
                <a:cs typeface="Arial" pitchFamily="34" charset="-120"/>
              </a:rPr>
              <a:t>token per una pagina di testo fitto</a:t>
            </a:r>
            <a:endParaRPr lang="en-US" sz="1650" dirty="0"/>
          </a:p>
        </p:txBody>
      </p:sp>
      <p:sp>
        <p:nvSpPr>
          <p:cNvPr id="14" name="Shape 12"/>
          <p:cNvSpPr/>
          <p:nvPr/>
        </p:nvSpPr>
        <p:spPr>
          <a:xfrm>
            <a:off x="9686925" y="6894463"/>
            <a:ext cx="7648575" cy="1443782"/>
          </a:xfrm>
          <a:prstGeom prst="roundRect">
            <a:avLst>
              <a:gd name="adj" fmla="val 5278"/>
            </a:avLst>
          </a:prstGeom>
          <a:solidFill>
            <a:srgbClr val="F4F6F9"/>
          </a:solidFill>
          <a:ln/>
        </p:spPr>
      </p:sp>
      <p:sp>
        <p:nvSpPr>
          <p:cNvPr id="15" name="Text 13"/>
          <p:cNvSpPr/>
          <p:nvPr/>
        </p:nvSpPr>
        <p:spPr>
          <a:xfrm>
            <a:off x="9991725" y="7161163"/>
            <a:ext cx="7742873"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~20.000</a:t>
            </a:r>
            <a:endParaRPr lang="en-US" sz="2550" dirty="0"/>
          </a:p>
        </p:txBody>
      </p:sp>
      <p:sp>
        <p:nvSpPr>
          <p:cNvPr id="16" name="Text 14"/>
          <p:cNvSpPr/>
          <p:nvPr/>
        </p:nvSpPr>
        <p:spPr>
          <a:xfrm>
            <a:off x="9991725" y="7736384"/>
            <a:ext cx="7742873" cy="373261"/>
          </a:xfrm>
          <a:prstGeom prst="rect">
            <a:avLst/>
          </a:prstGeom>
          <a:noFill/>
          <a:ln/>
        </p:spPr>
        <p:txBody>
          <a:bodyPr wrap="square" lIns="25400" tIns="25400" rIns="25400" bIns="25400" rtlCol="0" anchor="t">
            <a:normAutofit/>
          </a:bodyPr>
          <a:lstStyle/>
          <a:p>
            <a:pPr algn="l" indent="0" marL="0">
              <a:lnSpc>
                <a:spcPct val="135385"/>
              </a:lnSpc>
              <a:buNone/>
            </a:pPr>
            <a:r>
              <a:rPr lang="en-US" sz="1650" dirty="0">
                <a:solidFill>
                  <a:srgbClr val="6B7280"/>
                </a:solidFill>
                <a:latin typeface="Arial" pitchFamily="34" charset="0"/>
                <a:ea typeface="Arial" pitchFamily="34" charset="-122"/>
                <a:cs typeface="Arial" pitchFamily="34" charset="-120"/>
              </a:rPr>
              <a:t>token per un capitolato di venti pagine</a:t>
            </a:r>
            <a:endParaRPr lang="en-US" sz="1650" dirty="0"/>
          </a:p>
        </p:txBody>
      </p:sp>
      <p:sp>
        <p:nvSpPr>
          <p:cNvPr id="17" name="Shape 15"/>
          <p:cNvSpPr/>
          <p:nvPr/>
        </p:nvSpPr>
        <p:spPr>
          <a:xfrm>
            <a:off x="2667000" y="7658844"/>
            <a:ext cx="3714750" cy="639961"/>
          </a:xfrm>
          <a:prstGeom prst="roundRect">
            <a:avLst>
              <a:gd name="adj" fmla="val 8930"/>
            </a:avLst>
          </a:prstGeom>
          <a:solidFill>
            <a:srgbClr val="0E8A82"/>
          </a:solidFill>
          <a:ln/>
        </p:spPr>
      </p:sp>
      <p:sp>
        <p:nvSpPr>
          <p:cNvPr id="18" name="Text 16">
            <a:hlinkClick r:id="rId2" tooltip=""/>
          </p:cNvPr>
          <p:cNvSpPr/>
          <p:nvPr/>
        </p:nvSpPr>
        <p:spPr>
          <a:xfrm>
            <a:off x="2897029" y="7811244"/>
            <a:ext cx="3254693" cy="373261"/>
          </a:xfrm>
          <a:prstGeom prst="rect">
            <a:avLst/>
          </a:prstGeom>
          <a:noFill/>
          <a:ln/>
        </p:spPr>
        <p:txBody>
          <a:bodyPr wrap="square" lIns="25400" tIns="25400" rIns="25400" bIns="25400" rtlCol="0" anchor="ctr">
            <a:normAutofit/>
          </a:bodyPr>
          <a:lstStyle/>
          <a:p>
            <a:pPr algn="ctr" indent="0" marL="0">
              <a:lnSpc>
                <a:spcPct val="135385"/>
              </a:lnSpc>
              <a:buNone/>
            </a:pPr>
            <a:r>
              <a:rPr lang="en-US" sz="1650" b="1" u="sng" dirty="0">
                <a:solidFill>
                  <a:srgbClr val="FFFFF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Tokenizzazione</a:t>
            </a:r>
            <a:endParaRPr lang="en-US" sz="1650" dirty="0"/>
          </a:p>
        </p:txBody>
      </p:sp>
      <p:pic>
        <p:nvPicPr>
          <p:cNvPr id="19" name="Image 0" descr="preencoded.png">    </p:cNvPr>
          <p:cNvPicPr>
            <a:picLocks noChangeAspect="1"/>
          </p:cNvPicPr>
          <p:nvPr/>
        </p:nvPicPr>
        <p:blipFill>
          <a:blip r:embed="rId3"/>
          <a:stretch>
            <a:fillRect/>
          </a:stretch>
        </p:blipFill>
        <p:spPr>
          <a:xfrm>
            <a:off x="952500" y="9544050"/>
            <a:ext cx="882997" cy="323850"/>
          </a:xfrm>
          <a:prstGeom prst="rect">
            <a:avLst/>
          </a:prstGeom>
        </p:spPr>
      </p:pic>
      <p:sp>
        <p:nvSpPr>
          <p:cNvPr id="20" name="Text 17"/>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14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UNA DOMANDA FREQUENTE IN AULA</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Stessa domanda, due volte: perché la risposta cambia</a:t>
            </a:r>
            <a:endParaRPr lang="en-US" sz="3450" dirty="0"/>
          </a:p>
        </p:txBody>
      </p:sp>
      <p:sp>
        <p:nvSpPr>
          <p:cNvPr id="4" name="Text 2"/>
          <p:cNvSpPr/>
          <p:nvPr/>
        </p:nvSpPr>
        <p:spPr>
          <a:xfrm>
            <a:off x="952500" y="4753273"/>
            <a:ext cx="7485602" cy="2324100"/>
          </a:xfrm>
          <a:prstGeom prst="rect">
            <a:avLst/>
          </a:prstGeom>
          <a:noFill/>
          <a:ln/>
        </p:spPr>
        <p:txBody>
          <a:bodyPr wrap="square" lIns="25400" tIns="25400" rIns="25400" bIns="25400" rtlCol="0" anchor="t">
            <a:normAutofit/>
          </a:bodyPr>
          <a:lstStyle/>
          <a:p>
            <a:pPr algn="l" indent="0" marL="0">
              <a:lnSpc>
                <a:spcPct val="141176"/>
              </a:lnSpc>
              <a:buNone/>
            </a:pPr>
            <a:r>
              <a:rPr lang="en-US" sz="2250" dirty="0">
                <a:solidFill>
                  <a:srgbClr val="1A1A1A"/>
                </a:solidFill>
                <a:latin typeface="Arial" pitchFamily="34" charset="0"/>
                <a:ea typeface="Arial" pitchFamily="34" charset="-122"/>
                <a:cs typeface="Arial" pitchFamily="34" charset="-120"/>
              </a:rPr>
              <a:t>La scelta della parola successiva include, di default, un margine di casualità — governato da un parametro chiamato </a:t>
            </a:r>
            <a:pPr algn="l" indent="0" marL="0">
              <a:lnSpc>
                <a:spcPct val="141176"/>
              </a:lnSpc>
              <a:buNone/>
            </a:pPr>
            <a:r>
              <a:rPr lang="en-US" sz="2250" b="1" dirty="0">
                <a:solidFill>
                  <a:srgbClr val="1F569E"/>
                </a:solidFill>
                <a:latin typeface="Arial" pitchFamily="34" charset="0"/>
                <a:ea typeface="Arial" pitchFamily="34" charset="-122"/>
                <a:cs typeface="Arial" pitchFamily="34" charset="-120"/>
              </a:rPr>
              <a:t>temperatura </a:t>
            </a:r>
            <a:pPr algn="l" indent="0" marL="0">
              <a:lnSpc>
                <a:spcPct val="141176"/>
              </a:lnSpc>
              <a:buNone/>
            </a:pPr>
            <a:r>
              <a:rPr lang="en-US" sz="2250" dirty="0">
                <a:solidFill>
                  <a:srgbClr val="1A1A1A"/>
                </a:solidFill>
                <a:latin typeface="Arial" pitchFamily="34" charset="0"/>
                <a:ea typeface="Arial" pitchFamily="34" charset="-122"/>
                <a:cs typeface="Arial" pitchFamily="34" charset="-120"/>
              </a:rPr>
              <a:t>. Non è un difetto: scegliere sempre la parola più probabile produrrebbe testi rigidi e ripetitivi.</a:t>
            </a:r>
            <a:endParaRPr lang="en-US" sz="2250" dirty="0"/>
          </a:p>
        </p:txBody>
      </p:sp>
      <p:sp>
        <p:nvSpPr>
          <p:cNvPr id="5" name="Shape 3"/>
          <p:cNvSpPr/>
          <p:nvPr/>
        </p:nvSpPr>
        <p:spPr>
          <a:xfrm>
            <a:off x="8753475" y="4562773"/>
            <a:ext cx="19050" cy="2667000"/>
          </a:xfrm>
          <a:prstGeom prst="rect">
            <a:avLst/>
          </a:prstGeom>
          <a:solidFill>
            <a:srgbClr val="E5E7EB"/>
          </a:solidFill>
          <a:ln/>
        </p:spPr>
      </p:sp>
      <p:sp>
        <p:nvSpPr>
          <p:cNvPr id="6" name="Shape 4"/>
          <p:cNvSpPr/>
          <p:nvPr/>
        </p:nvSpPr>
        <p:spPr>
          <a:xfrm>
            <a:off x="9305925" y="4796730"/>
            <a:ext cx="8029575" cy="2199084"/>
          </a:xfrm>
          <a:prstGeom prst="roundRect">
            <a:avLst>
              <a:gd name="adj" fmla="val 3465"/>
            </a:avLst>
          </a:prstGeom>
          <a:solidFill>
            <a:srgbClr val="F4F6F9"/>
          </a:solidFill>
          <a:ln/>
        </p:spPr>
      </p:sp>
      <p:sp>
        <p:nvSpPr>
          <p:cNvPr id="7" name="Text 5"/>
          <p:cNvSpPr/>
          <p:nvPr/>
        </p:nvSpPr>
        <p:spPr>
          <a:xfrm>
            <a:off x="9686925" y="5215830"/>
            <a:ext cx="7994333" cy="449461"/>
          </a:xfrm>
          <a:prstGeom prst="rect">
            <a:avLst/>
          </a:prstGeom>
          <a:noFill/>
          <a:ln/>
        </p:spPr>
        <p:txBody>
          <a:bodyPr wrap="square" lIns="25400" tIns="25400" rIns="25400" bIns="25400" rtlCol="0" anchor="t">
            <a:normAutofit/>
          </a:bodyPr>
          <a:lstStyle/>
          <a:p>
            <a:pPr algn="l" indent="0" marL="0">
              <a:lnSpc>
                <a:spcPct val="139355"/>
              </a:lnSpc>
              <a:buNone/>
            </a:pPr>
            <a:r>
              <a:rPr lang="en-US" sz="2025" b="1" dirty="0">
                <a:solidFill>
                  <a:srgbClr val="1F569E"/>
                </a:solidFill>
                <a:latin typeface="Arial" pitchFamily="34" charset="0"/>
                <a:ea typeface="Arial" pitchFamily="34" charset="-122"/>
                <a:cs typeface="Arial" pitchFamily="34" charset="-120"/>
              </a:rPr>
              <a:t>Conseguenza pratica</a:t>
            </a:r>
            <a:endParaRPr lang="en-US" sz="2025" dirty="0"/>
          </a:p>
        </p:txBody>
      </p:sp>
      <p:sp>
        <p:nvSpPr>
          <p:cNvPr id="8" name="Text 6"/>
          <p:cNvSpPr/>
          <p:nvPr/>
        </p:nvSpPr>
        <p:spPr>
          <a:xfrm>
            <a:off x="9686925" y="5779591"/>
            <a:ext cx="7485602" cy="835223"/>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Sulla riproducibilità di un LLM non si può contare. Per calcoli o procedure certificate, serve un controllo che verifichi l'esito.</a:t>
            </a:r>
            <a:endParaRPr lang="en-US" sz="2025" dirty="0"/>
          </a:p>
        </p:txBody>
      </p:sp>
      <p:pic>
        <p:nvPicPr>
          <p:cNvPr id="9"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0" name="Text 7"/>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15</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DA CORREGGERE SUBITO</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Quattro convinzioni che vale la pena smontare</a:t>
            </a:r>
            <a:endParaRPr lang="en-US" sz="3450" dirty="0"/>
          </a:p>
        </p:txBody>
      </p:sp>
      <p:sp>
        <p:nvSpPr>
          <p:cNvPr id="4" name="Shape 2"/>
          <p:cNvSpPr/>
          <p:nvPr/>
        </p:nvSpPr>
        <p:spPr>
          <a:xfrm>
            <a:off x="952500" y="2420094"/>
            <a:ext cx="8058150" cy="2011561"/>
          </a:xfrm>
          <a:prstGeom prst="roundRect">
            <a:avLst>
              <a:gd name="adj" fmla="val 3788"/>
            </a:avLst>
          </a:prstGeom>
          <a:solidFill>
            <a:srgbClr val="FFFFFF"/>
          </a:solidFill>
          <a:ln/>
        </p:spPr>
      </p:sp>
      <p:sp>
        <p:nvSpPr>
          <p:cNvPr id="5" name="Text 3"/>
          <p:cNvSpPr/>
          <p:nvPr/>
        </p:nvSpPr>
        <p:spPr>
          <a:xfrm>
            <a:off x="1295400" y="2782044"/>
            <a:ext cx="8109585" cy="449461"/>
          </a:xfrm>
          <a:prstGeom prst="rect">
            <a:avLst/>
          </a:prstGeom>
          <a:noFill/>
          <a:ln/>
        </p:spPr>
        <p:txBody>
          <a:bodyPr wrap="square" lIns="25400" tIns="25400" rIns="25400" bIns="25400" rtlCol="0" anchor="t">
            <a:normAutofit/>
          </a:bodyPr>
          <a:lstStyle/>
          <a:p>
            <a:pPr algn="l" indent="0" marL="0">
              <a:lnSpc>
                <a:spcPct val="139355"/>
              </a:lnSpc>
              <a:buNone/>
            </a:pPr>
            <a:r>
              <a:rPr lang="en-US" sz="2025" b="1" i="1" dirty="0">
                <a:solidFill>
                  <a:srgbClr val="6B7280"/>
                </a:solidFill>
                <a:latin typeface="Arial" pitchFamily="34" charset="0"/>
                <a:ea typeface="Arial" pitchFamily="34" charset="-122"/>
                <a:cs typeface="Arial" pitchFamily="34" charset="-120"/>
              </a:rPr>
              <a:t>"È arrivata con ChatGPT"</a:t>
            </a:r>
            <a:endParaRPr lang="en-US" sz="2025" dirty="0"/>
          </a:p>
        </p:txBody>
      </p:sp>
      <p:sp>
        <p:nvSpPr>
          <p:cNvPr id="6" name="Text 4"/>
          <p:cNvSpPr/>
          <p:nvPr/>
        </p:nvSpPr>
        <p:spPr>
          <a:xfrm>
            <a:off x="1295400" y="3326755"/>
            <a:ext cx="7593521"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È da decenni, ed è già in azienda. Il cambiamento è nell'accesso, non nell'esistenza.</a:t>
            </a:r>
            <a:endParaRPr lang="en-US" sz="1950" dirty="0"/>
          </a:p>
        </p:txBody>
      </p:sp>
      <p:sp>
        <p:nvSpPr>
          <p:cNvPr id="7" name="Shape 5"/>
          <p:cNvSpPr/>
          <p:nvPr/>
        </p:nvSpPr>
        <p:spPr>
          <a:xfrm>
            <a:off x="9277350" y="2420094"/>
            <a:ext cx="8058150" cy="2011561"/>
          </a:xfrm>
          <a:prstGeom prst="roundRect">
            <a:avLst>
              <a:gd name="adj" fmla="val 3788"/>
            </a:avLst>
          </a:prstGeom>
          <a:solidFill>
            <a:srgbClr val="FFFFFF"/>
          </a:solidFill>
          <a:ln/>
        </p:spPr>
      </p:sp>
      <p:sp>
        <p:nvSpPr>
          <p:cNvPr id="8" name="Text 6"/>
          <p:cNvSpPr/>
          <p:nvPr/>
        </p:nvSpPr>
        <p:spPr>
          <a:xfrm>
            <a:off x="9620250" y="2782044"/>
            <a:ext cx="8109585" cy="449461"/>
          </a:xfrm>
          <a:prstGeom prst="rect">
            <a:avLst/>
          </a:prstGeom>
          <a:noFill/>
          <a:ln/>
        </p:spPr>
        <p:txBody>
          <a:bodyPr wrap="square" lIns="25400" tIns="25400" rIns="25400" bIns="25400" rtlCol="0" anchor="t">
            <a:normAutofit/>
          </a:bodyPr>
          <a:lstStyle/>
          <a:p>
            <a:pPr algn="l" indent="0" marL="0">
              <a:lnSpc>
                <a:spcPct val="139355"/>
              </a:lnSpc>
              <a:buNone/>
            </a:pPr>
            <a:r>
              <a:rPr lang="en-US" sz="2025" b="1" i="1" dirty="0">
                <a:solidFill>
                  <a:srgbClr val="6B7280"/>
                </a:solidFill>
                <a:latin typeface="Arial" pitchFamily="34" charset="0"/>
                <a:ea typeface="Arial" pitchFamily="34" charset="-122"/>
                <a:cs typeface="Arial" pitchFamily="34" charset="-120"/>
              </a:rPr>
              <a:t>"Se sbaglia, è difettoso"</a:t>
            </a:r>
            <a:endParaRPr lang="en-US" sz="2025" dirty="0"/>
          </a:p>
        </p:txBody>
      </p:sp>
      <p:sp>
        <p:nvSpPr>
          <p:cNvPr id="9" name="Text 7"/>
          <p:cNvSpPr/>
          <p:nvPr/>
        </p:nvSpPr>
        <p:spPr>
          <a:xfrm>
            <a:off x="9620250" y="3326755"/>
            <a:ext cx="8109585"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Sbagliare è una proprietà del sistema, non un guasto occasionale.</a:t>
            </a:r>
            <a:endParaRPr lang="en-US" sz="1950" dirty="0"/>
          </a:p>
        </p:txBody>
      </p:sp>
      <p:sp>
        <p:nvSpPr>
          <p:cNvPr id="10" name="Shape 8"/>
          <p:cNvSpPr/>
          <p:nvPr/>
        </p:nvSpPr>
        <p:spPr>
          <a:xfrm>
            <a:off x="952500" y="4698355"/>
            <a:ext cx="8058150" cy="2011561"/>
          </a:xfrm>
          <a:prstGeom prst="roundRect">
            <a:avLst>
              <a:gd name="adj" fmla="val 3788"/>
            </a:avLst>
          </a:prstGeom>
          <a:solidFill>
            <a:srgbClr val="FFFFFF"/>
          </a:solidFill>
          <a:ln/>
        </p:spPr>
      </p:sp>
      <p:sp>
        <p:nvSpPr>
          <p:cNvPr id="11" name="Text 9"/>
          <p:cNvSpPr/>
          <p:nvPr/>
        </p:nvSpPr>
        <p:spPr>
          <a:xfrm>
            <a:off x="1295400" y="5060305"/>
            <a:ext cx="8109585" cy="449461"/>
          </a:xfrm>
          <a:prstGeom prst="rect">
            <a:avLst/>
          </a:prstGeom>
          <a:noFill/>
          <a:ln/>
        </p:spPr>
        <p:txBody>
          <a:bodyPr wrap="square" lIns="25400" tIns="25400" rIns="25400" bIns="25400" rtlCol="0" anchor="t">
            <a:normAutofit/>
          </a:bodyPr>
          <a:lstStyle/>
          <a:p>
            <a:pPr algn="l" indent="0" marL="0">
              <a:lnSpc>
                <a:spcPct val="139355"/>
              </a:lnSpc>
              <a:buNone/>
            </a:pPr>
            <a:r>
              <a:rPr lang="en-US" sz="2025" b="1" i="1" dirty="0">
                <a:solidFill>
                  <a:srgbClr val="6B7280"/>
                </a:solidFill>
                <a:latin typeface="Arial" pitchFamily="34" charset="0"/>
                <a:ea typeface="Arial" pitchFamily="34" charset="-122"/>
                <a:cs typeface="Arial" pitchFamily="34" charset="-120"/>
              </a:rPr>
              <a:t>"Ieri rispondeva diverso, non è affidabile"</a:t>
            </a:r>
            <a:endParaRPr lang="en-US" sz="2025" dirty="0"/>
          </a:p>
        </p:txBody>
      </p:sp>
      <p:sp>
        <p:nvSpPr>
          <p:cNvPr id="12" name="Text 10"/>
          <p:cNvSpPr/>
          <p:nvPr/>
        </p:nvSpPr>
        <p:spPr>
          <a:xfrm>
            <a:off x="1295400" y="5605016"/>
            <a:ext cx="7593521"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La variabilità è progettata: due risposte diverse possono essere entrambe corrette.</a:t>
            </a:r>
            <a:endParaRPr lang="en-US" sz="1950" dirty="0"/>
          </a:p>
        </p:txBody>
      </p:sp>
      <p:sp>
        <p:nvSpPr>
          <p:cNvPr id="13" name="Shape 11"/>
          <p:cNvSpPr/>
          <p:nvPr/>
        </p:nvSpPr>
        <p:spPr>
          <a:xfrm>
            <a:off x="9277350" y="4698355"/>
            <a:ext cx="8058150" cy="2011561"/>
          </a:xfrm>
          <a:prstGeom prst="roundRect">
            <a:avLst>
              <a:gd name="adj" fmla="val 3788"/>
            </a:avLst>
          </a:prstGeom>
          <a:solidFill>
            <a:srgbClr val="FFFFFF"/>
          </a:solidFill>
          <a:ln/>
        </p:spPr>
      </p:sp>
      <p:sp>
        <p:nvSpPr>
          <p:cNvPr id="14" name="Text 12"/>
          <p:cNvSpPr/>
          <p:nvPr/>
        </p:nvSpPr>
        <p:spPr>
          <a:xfrm>
            <a:off x="9620250" y="5060305"/>
            <a:ext cx="8109585" cy="449461"/>
          </a:xfrm>
          <a:prstGeom prst="rect">
            <a:avLst/>
          </a:prstGeom>
          <a:noFill/>
          <a:ln/>
        </p:spPr>
        <p:txBody>
          <a:bodyPr wrap="square" lIns="25400" tIns="25400" rIns="25400" bIns="25400" rtlCol="0" anchor="t">
            <a:normAutofit/>
          </a:bodyPr>
          <a:lstStyle/>
          <a:p>
            <a:pPr algn="l" indent="0" marL="0">
              <a:lnSpc>
                <a:spcPct val="139355"/>
              </a:lnSpc>
              <a:buNone/>
            </a:pPr>
            <a:r>
              <a:rPr lang="en-US" sz="2025" b="1" i="1" dirty="0">
                <a:solidFill>
                  <a:srgbClr val="6B7280"/>
                </a:solidFill>
                <a:latin typeface="Arial" pitchFamily="34" charset="0"/>
                <a:ea typeface="Arial" pitchFamily="34" charset="-122"/>
                <a:cs typeface="Arial" pitchFamily="34" charset="-120"/>
              </a:rPr>
              <a:t>"Cerca su internet e riporta ciò che trova"</a:t>
            </a:r>
            <a:endParaRPr lang="en-US" sz="2025" dirty="0"/>
          </a:p>
        </p:txBody>
      </p:sp>
      <p:sp>
        <p:nvSpPr>
          <p:cNvPr id="15" name="Text 13"/>
          <p:cNvSpPr/>
          <p:nvPr/>
        </p:nvSpPr>
        <p:spPr>
          <a:xfrm>
            <a:off x="9620250" y="5605016"/>
            <a:ext cx="7593521"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Solo se lo strumento ha quella funzione attiva. Altrimenti ricostruisce dalla propria conoscenza.</a:t>
            </a:r>
            <a:endParaRPr lang="en-US" sz="1950" dirty="0"/>
          </a:p>
        </p:txBody>
      </p:sp>
      <p:pic>
        <p:nvPicPr>
          <p:cNvPr id="16"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7"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16</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3C6E"/>
        </a:solidFill>
      </p:bgPr>
    </p:bg>
    <p:spTree>
      <p:nvGrpSpPr>
        <p:cNvPr id="1" name=""/>
        <p:cNvGrpSpPr/>
        <p:nvPr/>
      </p:nvGrpSpPr>
      <p:grpSpPr>
        <a:xfrm>
          <a:off x="0" y="0"/>
          <a:ext cx="0" cy="0"/>
          <a:chOff x="0" y="0"/>
          <a:chExt cx="0" cy="0"/>
        </a:xfrm>
      </p:grpSpPr>
      <p:sp>
        <p:nvSpPr>
          <p:cNvPr id="2" name="Text 0"/>
          <p:cNvSpPr/>
          <p:nvPr/>
        </p:nvSpPr>
        <p:spPr>
          <a:xfrm>
            <a:off x="1333500" y="3241179"/>
            <a:ext cx="171831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7FD4CC"/>
                </a:solidFill>
                <a:latin typeface="Arial" pitchFamily="34" charset="0"/>
                <a:ea typeface="Arial" pitchFamily="34" charset="-122"/>
                <a:cs typeface="Arial" pitchFamily="34" charset="-120"/>
              </a:rPr>
              <a:t>DA QUI IN AVANTI</a:t>
            </a:r>
            <a:endParaRPr lang="en-US" sz="1650" dirty="0"/>
          </a:p>
        </p:txBody>
      </p:sp>
      <p:sp>
        <p:nvSpPr>
          <p:cNvPr id="3" name="Text 1"/>
          <p:cNvSpPr/>
          <p:nvPr/>
        </p:nvSpPr>
        <p:spPr>
          <a:xfrm>
            <a:off x="1333500" y="3804940"/>
            <a:ext cx="15716250" cy="592782"/>
          </a:xfrm>
          <a:prstGeom prst="rect">
            <a:avLst/>
          </a:prstGeom>
          <a:noFill/>
          <a:ln/>
        </p:spPr>
        <p:txBody>
          <a:bodyPr wrap="square" lIns="25400" tIns="25400" rIns="25400" bIns="25400" rtlCol="0" anchor="t">
            <a:normAutofit/>
          </a:bodyPr>
          <a:lstStyle/>
          <a:p>
            <a:pPr algn="l" indent="0" marL="0">
              <a:lnSpc>
                <a:spcPct val="79781"/>
              </a:lnSpc>
              <a:buNone/>
            </a:pPr>
            <a:r>
              <a:rPr lang="en-US" sz="3900" b="1" dirty="0">
                <a:solidFill>
                  <a:srgbClr val="FFFFFF"/>
                </a:solidFill>
                <a:latin typeface="Arial" pitchFamily="34" charset="0"/>
                <a:ea typeface="Arial" pitchFamily="34" charset="-122"/>
                <a:cs typeface="Arial" pitchFamily="34" charset="-120"/>
              </a:rPr>
              <a:t>Quattro conseguenze che il percorso riprenderà</a:t>
            </a:r>
            <a:endParaRPr lang="en-US" sz="3900" dirty="0"/>
          </a:p>
        </p:txBody>
      </p:sp>
      <p:sp>
        <p:nvSpPr>
          <p:cNvPr id="4" name="Text 2"/>
          <p:cNvSpPr/>
          <p:nvPr/>
        </p:nvSpPr>
        <p:spPr>
          <a:xfrm>
            <a:off x="1333500" y="4816822"/>
            <a:ext cx="15716250"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b="1" dirty="0">
                <a:solidFill>
                  <a:srgbClr val="7FD4CC"/>
                </a:solidFill>
                <a:latin typeface="Arial" pitchFamily="34" charset="0"/>
                <a:ea typeface="Arial" pitchFamily="34" charset="-122"/>
                <a:cs typeface="Arial" pitchFamily="34" charset="-120"/>
              </a:rPr>
              <a:t>Il modello può inventare bene </a:t>
            </a:r>
            <a:pPr algn="l" indent="0" marL="0">
              <a:lnSpc>
                <a:spcPct val="131250"/>
              </a:lnSpc>
              <a:buNone/>
            </a:pPr>
            <a:r>
              <a:rPr lang="en-US" sz="2100" dirty="0">
                <a:solidFill>
                  <a:srgbClr val="FFFFFF">
                    <a:alpha val="88000"/>
                  </a:srgbClr>
                </a:solidFill>
                <a:latin typeface="Arial" pitchFamily="34" charset="0"/>
                <a:ea typeface="Arial" pitchFamily="34" charset="-122"/>
                <a:cs typeface="Arial" pitchFamily="34" charset="-120"/>
              </a:rPr>
              <a:t>— le allucinazioni si gestiscono verificando, non delegando</a:t>
            </a:r>
            <a:endParaRPr lang="en-US" sz="2100" dirty="0"/>
          </a:p>
        </p:txBody>
      </p:sp>
      <p:sp>
        <p:nvSpPr>
          <p:cNvPr id="5" name="Text 3"/>
          <p:cNvSpPr/>
          <p:nvPr/>
        </p:nvSpPr>
        <p:spPr>
          <a:xfrm>
            <a:off x="1333500" y="5426422"/>
            <a:ext cx="15716250"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b="1" dirty="0">
                <a:solidFill>
                  <a:srgbClr val="7FD4CC"/>
                </a:solidFill>
                <a:latin typeface="Arial" pitchFamily="34" charset="0"/>
                <a:ea typeface="Arial" pitchFamily="34" charset="-122"/>
                <a:cs typeface="Arial" pitchFamily="34" charset="-120"/>
              </a:rPr>
              <a:t>Il contesto va fornito </a:t>
            </a:r>
            <a:pPr algn="l" indent="0" marL="0">
              <a:lnSpc>
                <a:spcPct val="131250"/>
              </a:lnSpc>
              <a:buNone/>
            </a:pPr>
            <a:r>
              <a:rPr lang="en-US" sz="2100" dirty="0">
                <a:solidFill>
                  <a:srgbClr val="FFFFFF">
                    <a:alpha val="88000"/>
                  </a:srgbClr>
                </a:solidFill>
                <a:latin typeface="Arial" pitchFamily="34" charset="0"/>
                <a:ea typeface="Arial" pitchFamily="34" charset="-122"/>
                <a:cs typeface="Arial" pitchFamily="34" charset="-120"/>
              </a:rPr>
              <a:t>— non conosce l'azienda: da qui la tecnica del prompt</a:t>
            </a:r>
            <a:endParaRPr lang="en-US" sz="2100" dirty="0"/>
          </a:p>
        </p:txBody>
      </p:sp>
      <p:sp>
        <p:nvSpPr>
          <p:cNvPr id="6" name="Text 4"/>
          <p:cNvSpPr/>
          <p:nvPr/>
        </p:nvSpPr>
        <p:spPr>
          <a:xfrm>
            <a:off x="1333500" y="6036022"/>
            <a:ext cx="15716250"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b="1" dirty="0">
                <a:solidFill>
                  <a:srgbClr val="7FD4CC"/>
                </a:solidFill>
                <a:latin typeface="Arial" pitchFamily="34" charset="0"/>
                <a:ea typeface="Arial" pitchFamily="34" charset="-122"/>
                <a:cs typeface="Arial" pitchFamily="34" charset="-120"/>
              </a:rPr>
              <a:t>Ciò che si scrive è una decisione </a:t>
            </a:r>
            <a:pPr algn="l" indent="0" marL="0">
              <a:lnSpc>
                <a:spcPct val="131250"/>
              </a:lnSpc>
              <a:buNone/>
            </a:pPr>
            <a:r>
              <a:rPr lang="en-US" sz="2100" dirty="0">
                <a:solidFill>
                  <a:srgbClr val="FFFFFF">
                    <a:alpha val="88000"/>
                  </a:srgbClr>
                </a:solidFill>
                <a:latin typeface="Arial" pitchFamily="34" charset="0"/>
                <a:ea typeface="Arial" pitchFamily="34" charset="-122"/>
                <a:cs typeface="Arial" pitchFamily="34" charset="-120"/>
              </a:rPr>
              <a:t>— dati riservati compresi</a:t>
            </a:r>
            <a:endParaRPr lang="en-US" sz="2100" dirty="0"/>
          </a:p>
        </p:txBody>
      </p:sp>
      <p:sp>
        <p:nvSpPr>
          <p:cNvPr id="7" name="Text 5"/>
          <p:cNvSpPr/>
          <p:nvPr/>
        </p:nvSpPr>
        <p:spPr>
          <a:xfrm>
            <a:off x="1333500" y="6645622"/>
            <a:ext cx="15716250"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b="1" dirty="0">
                <a:solidFill>
                  <a:srgbClr val="7FD4CC"/>
                </a:solidFill>
                <a:latin typeface="Arial" pitchFamily="34" charset="0"/>
                <a:ea typeface="Arial" pitchFamily="34" charset="-122"/>
                <a:cs typeface="Arial" pitchFamily="34" charset="-120"/>
              </a:rPr>
              <a:t>Non tutti i compiti sono suoi </a:t>
            </a:r>
            <a:pPr algn="l" indent="0" marL="0">
              <a:lnSpc>
                <a:spcPct val="131250"/>
              </a:lnSpc>
              <a:buNone/>
            </a:pPr>
            <a:r>
              <a:rPr lang="en-US" sz="2100" dirty="0">
                <a:solidFill>
                  <a:srgbClr val="FFFFFF">
                    <a:alpha val="88000"/>
                  </a:srgbClr>
                </a:solidFill>
                <a:latin typeface="Arial" pitchFamily="34" charset="0"/>
                <a:ea typeface="Arial" pitchFamily="34" charset="-122"/>
                <a:cs typeface="Arial" pitchFamily="34" charset="-120"/>
              </a:rPr>
              <a:t>— riconoscere dove sì e dove no è parte del percorso</a:t>
            </a:r>
            <a:endParaRPr lang="en-US" sz="2100" dirty="0"/>
          </a:p>
        </p:txBody>
      </p:sp>
      <p:sp>
        <p:nvSpPr>
          <p:cNvPr id="8" name="Shape 6"/>
          <p:cNvSpPr/>
          <p:nvPr/>
        </p:nvSpPr>
        <p:spPr>
          <a:xfrm>
            <a:off x="952500" y="9429750"/>
            <a:ext cx="1083915" cy="438150"/>
          </a:xfrm>
          <a:prstGeom prst="roundRect">
            <a:avLst>
              <a:gd name="adj" fmla="val 13043"/>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1104900" y="9505950"/>
            <a:ext cx="779115" cy="285750"/>
          </a:xfrm>
          <a:prstGeom prst="rect">
            <a:avLst/>
          </a:prstGeom>
        </p:spPr>
      </p:pic>
      <p:sp>
        <p:nvSpPr>
          <p:cNvPr id="10" name="Text 7"/>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FFFFFF">
                    <a:alpha val="50000"/>
                  </a:srgbClr>
                </a:solidFill>
                <a:latin typeface="Arial" pitchFamily="34" charset="0"/>
                <a:ea typeface="Arial" pitchFamily="34" charset="-122"/>
                <a:cs typeface="Arial" pitchFamily="34" charset="-120"/>
              </a:rPr>
              <a:t>17</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3C6E"/>
        </a:solidFill>
      </p:bgPr>
    </p:bg>
    <p:spTree>
      <p:nvGrpSpPr>
        <p:cNvPr id="1" name=""/>
        <p:cNvGrpSpPr/>
        <p:nvPr/>
      </p:nvGrpSpPr>
      <p:grpSpPr>
        <a:xfrm>
          <a:off x="0" y="0"/>
          <a:ext cx="0" cy="0"/>
          <a:chOff x="0" y="0"/>
          <a:chExt cx="0" cy="0"/>
        </a:xfrm>
      </p:grpSpPr>
      <p:sp>
        <p:nvSpPr>
          <p:cNvPr id="2" name="Text 0"/>
          <p:cNvSpPr/>
          <p:nvPr/>
        </p:nvSpPr>
        <p:spPr>
          <a:xfrm>
            <a:off x="1333500" y="4078337"/>
            <a:ext cx="171831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7FD4CC"/>
                </a:solidFill>
                <a:latin typeface="Arial" pitchFamily="34" charset="0"/>
                <a:ea typeface="Arial" pitchFamily="34" charset="-122"/>
                <a:cs typeface="Arial" pitchFamily="34" charset="-120"/>
              </a:rPr>
              <a:t>GIORNATA 1 · FORMAZIONE AI GENERATIVA · AGRITECH</a:t>
            </a:r>
            <a:endParaRPr lang="en-US" sz="1650" dirty="0"/>
          </a:p>
        </p:txBody>
      </p:sp>
      <p:sp>
        <p:nvSpPr>
          <p:cNvPr id="3" name="Text 1"/>
          <p:cNvSpPr/>
          <p:nvPr/>
        </p:nvSpPr>
        <p:spPr>
          <a:xfrm>
            <a:off x="1333500" y="4680198"/>
            <a:ext cx="15716250" cy="720775"/>
          </a:xfrm>
          <a:prstGeom prst="rect">
            <a:avLst/>
          </a:prstGeom>
          <a:noFill/>
          <a:ln/>
        </p:spPr>
        <p:txBody>
          <a:bodyPr wrap="square" lIns="25400" tIns="25400" rIns="25400" bIns="25400" rtlCol="0" anchor="t">
            <a:normAutofit/>
          </a:bodyPr>
          <a:lstStyle/>
          <a:p>
            <a:pPr algn="l" indent="0" marL="0">
              <a:lnSpc>
                <a:spcPct val="79644"/>
              </a:lnSpc>
              <a:buNone/>
            </a:pPr>
            <a:r>
              <a:rPr lang="en-US" sz="4800" b="1" dirty="0">
                <a:solidFill>
                  <a:srgbClr val="FFFFFF"/>
                </a:solidFill>
                <a:latin typeface="Arial" pitchFamily="34" charset="0"/>
                <a:ea typeface="Arial" pitchFamily="34" charset="-122"/>
                <a:cs typeface="Arial" pitchFamily="34" charset="-120"/>
              </a:rPr>
              <a:t>Limiti e allucinazioni</a:t>
            </a:r>
            <a:endParaRPr lang="en-US" sz="4800" dirty="0"/>
          </a:p>
        </p:txBody>
      </p:sp>
      <p:sp>
        <p:nvSpPr>
          <p:cNvPr id="4" name="Text 2"/>
          <p:cNvSpPr/>
          <p:nvPr/>
        </p:nvSpPr>
        <p:spPr>
          <a:xfrm>
            <a:off x="1333500" y="5629573"/>
            <a:ext cx="12573000" cy="617190"/>
          </a:xfrm>
          <a:prstGeom prst="rect">
            <a:avLst/>
          </a:prstGeom>
          <a:noFill/>
          <a:ln/>
        </p:spPr>
        <p:txBody>
          <a:bodyPr wrap="square" lIns="25400" tIns="25400" rIns="25400" bIns="25400" rtlCol="0" anchor="t">
            <a:normAutofit/>
          </a:bodyPr>
          <a:lstStyle/>
          <a:p>
            <a:pPr algn="l" indent="0" marL="0">
              <a:lnSpc>
                <a:spcPct val="141395"/>
              </a:lnSpc>
              <a:buNone/>
            </a:pPr>
            <a:r>
              <a:rPr lang="en-US" sz="2850" dirty="0">
                <a:solidFill>
                  <a:srgbClr val="FFFFFF">
                    <a:alpha val="72000"/>
                  </a:srgbClr>
                </a:solidFill>
                <a:latin typeface="Arial" pitchFamily="34" charset="0"/>
                <a:ea typeface="Arial" pitchFamily="34" charset="-122"/>
                <a:cs typeface="Arial" pitchFamily="34" charset="-120"/>
              </a:rPr>
              <a:t>Perché l'output va sempre verificato</a:t>
            </a:r>
            <a:endParaRPr lang="en-US" sz="2850" dirty="0"/>
          </a:p>
        </p:txBody>
      </p:sp>
      <p:sp>
        <p:nvSpPr>
          <p:cNvPr id="5" name="Shape 3"/>
          <p:cNvSpPr/>
          <p:nvPr/>
        </p:nvSpPr>
        <p:spPr>
          <a:xfrm>
            <a:off x="952500" y="9391650"/>
            <a:ext cx="1187797" cy="476250"/>
          </a:xfrm>
          <a:prstGeom prst="roundRect">
            <a:avLst>
              <a:gd name="adj" fmla="val 12000"/>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104900" y="9467850"/>
            <a:ext cx="882997" cy="323850"/>
          </a:xfrm>
          <a:prstGeom prst="rect">
            <a:avLst/>
          </a:prstGeom>
        </p:spPr>
      </p:pic>
      <p:sp>
        <p:nvSpPr>
          <p:cNvPr id="7" name="Text 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FFFFFF">
                    <a:alpha val="50000"/>
                  </a:srgbClr>
                </a:solidFill>
                <a:latin typeface="Arial" pitchFamily="34" charset="0"/>
                <a:ea typeface="Arial" pitchFamily="34" charset="-122"/>
                <a:cs typeface="Arial" pitchFamily="34" charset="-120"/>
              </a:rPr>
              <a:t>18</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IN QUESTO BLOCCO</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Sei passaggi, in dieci minuti</a:t>
            </a:r>
            <a:endParaRPr lang="en-US" sz="3450" dirty="0"/>
          </a:p>
        </p:txBody>
      </p:sp>
      <p:sp>
        <p:nvSpPr>
          <p:cNvPr id="4" name="Shape 2"/>
          <p:cNvSpPr/>
          <p:nvPr/>
        </p:nvSpPr>
        <p:spPr>
          <a:xfrm>
            <a:off x="952500" y="3223915"/>
            <a:ext cx="7410450" cy="9525"/>
          </a:xfrm>
          <a:prstGeom prst="rect">
            <a:avLst/>
          </a:prstGeom>
          <a:solidFill>
            <a:srgbClr val="E5E7EB"/>
          </a:solidFill>
          <a:ln/>
        </p:spPr>
      </p:sp>
      <p:sp>
        <p:nvSpPr>
          <p:cNvPr id="5" name="Text 3"/>
          <p:cNvSpPr/>
          <p:nvPr/>
        </p:nvSpPr>
        <p:spPr>
          <a:xfrm>
            <a:off x="952500" y="2496294"/>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01</a:t>
            </a:r>
            <a:endParaRPr lang="en-US" sz="2550" dirty="0"/>
          </a:p>
        </p:txBody>
      </p:sp>
      <p:sp>
        <p:nvSpPr>
          <p:cNvPr id="6" name="Text 4"/>
          <p:cNvSpPr/>
          <p:nvPr/>
        </p:nvSpPr>
        <p:spPr>
          <a:xfrm>
            <a:off x="1752600" y="2572494"/>
            <a:ext cx="3991927"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Perché conta per un'azienda</a:t>
            </a:r>
            <a:endParaRPr lang="en-US" sz="2250" dirty="0"/>
          </a:p>
        </p:txBody>
      </p:sp>
      <p:sp>
        <p:nvSpPr>
          <p:cNvPr id="7" name="Shape 5"/>
          <p:cNvSpPr/>
          <p:nvPr/>
        </p:nvSpPr>
        <p:spPr>
          <a:xfrm>
            <a:off x="8972550" y="3223915"/>
            <a:ext cx="7410450" cy="9525"/>
          </a:xfrm>
          <a:prstGeom prst="rect">
            <a:avLst/>
          </a:prstGeom>
          <a:solidFill>
            <a:srgbClr val="E5E7EB"/>
          </a:solidFill>
          <a:ln/>
        </p:spPr>
      </p:sp>
      <p:sp>
        <p:nvSpPr>
          <p:cNvPr id="8" name="Text 6"/>
          <p:cNvSpPr/>
          <p:nvPr/>
        </p:nvSpPr>
        <p:spPr>
          <a:xfrm>
            <a:off x="8972550" y="2496294"/>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02</a:t>
            </a:r>
            <a:endParaRPr lang="en-US" sz="2550" dirty="0"/>
          </a:p>
        </p:txBody>
      </p:sp>
      <p:sp>
        <p:nvSpPr>
          <p:cNvPr id="9" name="Text 7"/>
          <p:cNvSpPr/>
          <p:nvPr/>
        </p:nvSpPr>
        <p:spPr>
          <a:xfrm>
            <a:off x="9772650" y="2572494"/>
            <a:ext cx="3108216"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Cos'è un'allucinazione</a:t>
            </a:r>
            <a:endParaRPr lang="en-US" sz="2250" dirty="0"/>
          </a:p>
        </p:txBody>
      </p:sp>
      <p:sp>
        <p:nvSpPr>
          <p:cNvPr id="10" name="Shape 8"/>
          <p:cNvSpPr/>
          <p:nvPr/>
        </p:nvSpPr>
        <p:spPr>
          <a:xfrm>
            <a:off x="952500" y="4227761"/>
            <a:ext cx="7410450" cy="9525"/>
          </a:xfrm>
          <a:prstGeom prst="rect">
            <a:avLst/>
          </a:prstGeom>
          <a:solidFill>
            <a:srgbClr val="E5E7EB"/>
          </a:solidFill>
          <a:ln/>
        </p:spPr>
      </p:sp>
      <p:sp>
        <p:nvSpPr>
          <p:cNvPr id="11" name="Text 9"/>
          <p:cNvSpPr/>
          <p:nvPr/>
        </p:nvSpPr>
        <p:spPr>
          <a:xfrm>
            <a:off x="952500" y="3500140"/>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03</a:t>
            </a:r>
            <a:endParaRPr lang="en-US" sz="2550" dirty="0"/>
          </a:p>
        </p:txBody>
      </p:sp>
      <p:sp>
        <p:nvSpPr>
          <p:cNvPr id="12" name="Text 10"/>
          <p:cNvSpPr/>
          <p:nvPr/>
        </p:nvSpPr>
        <p:spPr>
          <a:xfrm>
            <a:off x="1752600" y="3576340"/>
            <a:ext cx="2254136"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Perché succede</a:t>
            </a:r>
            <a:endParaRPr lang="en-US" sz="2250" dirty="0"/>
          </a:p>
        </p:txBody>
      </p:sp>
      <p:sp>
        <p:nvSpPr>
          <p:cNvPr id="13" name="Shape 11"/>
          <p:cNvSpPr/>
          <p:nvPr/>
        </p:nvSpPr>
        <p:spPr>
          <a:xfrm>
            <a:off x="8972550" y="4227761"/>
            <a:ext cx="7410450" cy="9525"/>
          </a:xfrm>
          <a:prstGeom prst="rect">
            <a:avLst/>
          </a:prstGeom>
          <a:solidFill>
            <a:srgbClr val="E5E7EB"/>
          </a:solidFill>
          <a:ln/>
        </p:spPr>
      </p:sp>
      <p:sp>
        <p:nvSpPr>
          <p:cNvPr id="14" name="Text 12"/>
          <p:cNvSpPr/>
          <p:nvPr/>
        </p:nvSpPr>
        <p:spPr>
          <a:xfrm>
            <a:off x="8972550" y="3500140"/>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04</a:t>
            </a:r>
            <a:endParaRPr lang="en-US" sz="2550" dirty="0"/>
          </a:p>
        </p:txBody>
      </p:sp>
      <p:sp>
        <p:nvSpPr>
          <p:cNvPr id="15" name="Text 13"/>
          <p:cNvSpPr/>
          <p:nvPr/>
        </p:nvSpPr>
        <p:spPr>
          <a:xfrm>
            <a:off x="9772650" y="3576340"/>
            <a:ext cx="1939483"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Un caso reale</a:t>
            </a:r>
            <a:endParaRPr lang="en-US" sz="2250" dirty="0"/>
          </a:p>
        </p:txBody>
      </p:sp>
      <p:sp>
        <p:nvSpPr>
          <p:cNvPr id="16" name="Shape 14"/>
          <p:cNvSpPr/>
          <p:nvPr/>
        </p:nvSpPr>
        <p:spPr>
          <a:xfrm>
            <a:off x="952500" y="5231606"/>
            <a:ext cx="7410450" cy="9525"/>
          </a:xfrm>
          <a:prstGeom prst="rect">
            <a:avLst/>
          </a:prstGeom>
          <a:solidFill>
            <a:srgbClr val="E5E7EB"/>
          </a:solidFill>
          <a:ln/>
        </p:spPr>
      </p:sp>
      <p:sp>
        <p:nvSpPr>
          <p:cNvPr id="17" name="Text 15"/>
          <p:cNvSpPr/>
          <p:nvPr/>
        </p:nvSpPr>
        <p:spPr>
          <a:xfrm>
            <a:off x="952500" y="4503986"/>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05</a:t>
            </a:r>
            <a:endParaRPr lang="en-US" sz="2550" dirty="0"/>
          </a:p>
        </p:txBody>
      </p:sp>
      <p:sp>
        <p:nvSpPr>
          <p:cNvPr id="18" name="Text 16"/>
          <p:cNvSpPr/>
          <p:nvPr/>
        </p:nvSpPr>
        <p:spPr>
          <a:xfrm>
            <a:off x="1752600" y="4580186"/>
            <a:ext cx="2235800"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Come si verifica</a:t>
            </a:r>
            <a:endParaRPr lang="en-US" sz="2250" dirty="0"/>
          </a:p>
        </p:txBody>
      </p:sp>
      <p:sp>
        <p:nvSpPr>
          <p:cNvPr id="19" name="Shape 17"/>
          <p:cNvSpPr/>
          <p:nvPr/>
        </p:nvSpPr>
        <p:spPr>
          <a:xfrm>
            <a:off x="8972550" y="5231606"/>
            <a:ext cx="7410450" cy="9525"/>
          </a:xfrm>
          <a:prstGeom prst="rect">
            <a:avLst/>
          </a:prstGeom>
          <a:solidFill>
            <a:srgbClr val="E5E7EB"/>
          </a:solidFill>
          <a:ln/>
        </p:spPr>
      </p:sp>
      <p:sp>
        <p:nvSpPr>
          <p:cNvPr id="20" name="Text 18"/>
          <p:cNvSpPr/>
          <p:nvPr/>
        </p:nvSpPr>
        <p:spPr>
          <a:xfrm>
            <a:off x="8972550" y="4503986"/>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06</a:t>
            </a:r>
            <a:endParaRPr lang="en-US" sz="2550" dirty="0"/>
          </a:p>
        </p:txBody>
      </p:sp>
      <p:sp>
        <p:nvSpPr>
          <p:cNvPr id="21" name="Text 19"/>
          <p:cNvSpPr/>
          <p:nvPr/>
        </p:nvSpPr>
        <p:spPr>
          <a:xfrm>
            <a:off x="9772650" y="4580186"/>
            <a:ext cx="1712416"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Punti chiave</a:t>
            </a:r>
            <a:endParaRPr lang="en-US" sz="2250" dirty="0"/>
          </a:p>
        </p:txBody>
      </p:sp>
      <p:pic>
        <p:nvPicPr>
          <p:cNvPr id="22"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23" name="Text 20"/>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19</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PERCHÉ CONTA PER UN'AZIENDA</a:t>
            </a:r>
            <a:endParaRPr lang="en-US" sz="1650" dirty="0"/>
          </a:p>
        </p:txBody>
      </p:sp>
      <p:sp>
        <p:nvSpPr>
          <p:cNvPr id="3" name="Text 1"/>
          <p:cNvSpPr/>
          <p:nvPr/>
        </p:nvSpPr>
        <p:spPr>
          <a:xfrm>
            <a:off x="952500" y="1382911"/>
            <a:ext cx="146685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Un errore non verificato diventa un errore dell'azienda.</a:t>
            </a:r>
            <a:endParaRPr lang="en-US" sz="3450" dirty="0"/>
          </a:p>
        </p:txBody>
      </p:sp>
      <p:sp>
        <p:nvSpPr>
          <p:cNvPr id="4" name="Shape 2"/>
          <p:cNvSpPr/>
          <p:nvPr/>
        </p:nvSpPr>
        <p:spPr>
          <a:xfrm>
            <a:off x="952500" y="2458194"/>
            <a:ext cx="5257800" cy="3176885"/>
          </a:xfrm>
          <a:prstGeom prst="roundRect">
            <a:avLst>
              <a:gd name="adj" fmla="val 2399"/>
            </a:avLst>
          </a:prstGeom>
          <a:solidFill>
            <a:srgbClr val="FFFFFF"/>
          </a:solidFill>
          <a:ln/>
        </p:spPr>
      </p:sp>
      <p:sp>
        <p:nvSpPr>
          <p:cNvPr id="5" name="Text 3"/>
          <p:cNvSpPr/>
          <p:nvPr/>
        </p:nvSpPr>
        <p:spPr>
          <a:xfrm>
            <a:off x="1295400" y="2877294"/>
            <a:ext cx="4709160" cy="495300"/>
          </a:xfrm>
          <a:prstGeom prst="rect">
            <a:avLst/>
          </a:prstGeom>
          <a:noFill/>
          <a:ln/>
        </p:spPr>
        <p:txBody>
          <a:bodyPr wrap="square" lIns="25400" tIns="25400" rIns="25400" bIns="25400" rtlCol="0" anchor="t">
            <a:normAutofit/>
          </a:bodyPr>
          <a:lstStyle/>
          <a:p>
            <a:pPr algn="l" indent="0" marL="0">
              <a:lnSpc>
                <a:spcPct val="114286"/>
              </a:lnSpc>
              <a:buNone/>
            </a:pPr>
            <a:r>
              <a:rPr lang="en-US" sz="2250" b="1" dirty="0">
                <a:solidFill>
                  <a:srgbClr val="0E8A82"/>
                </a:solidFill>
                <a:latin typeface="Arial" pitchFamily="34" charset="0"/>
                <a:ea typeface="Arial" pitchFamily="34" charset="-122"/>
                <a:cs typeface="Arial" pitchFamily="34" charset="-120"/>
              </a:rPr>
              <a:t>01</a:t>
            </a:r>
            <a:endParaRPr lang="en-US" sz="2250" dirty="0"/>
          </a:p>
        </p:txBody>
      </p:sp>
      <p:sp>
        <p:nvSpPr>
          <p:cNvPr id="6" name="Text 4"/>
          <p:cNvSpPr/>
          <p:nvPr/>
        </p:nvSpPr>
        <p:spPr>
          <a:xfrm>
            <a:off x="1295400" y="3486894"/>
            <a:ext cx="502920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1F569E"/>
                </a:solidFill>
                <a:latin typeface="Arial" pitchFamily="34" charset="0"/>
                <a:ea typeface="Arial" pitchFamily="34" charset="-122"/>
                <a:cs typeface="Arial" pitchFamily="34" charset="-120"/>
              </a:rPr>
              <a:t>Un'email al cliente</a:t>
            </a:r>
            <a:endParaRPr lang="en-US" sz="2400" dirty="0"/>
          </a:p>
        </p:txBody>
      </p:sp>
      <p:sp>
        <p:nvSpPr>
          <p:cNvPr id="7" name="Text 5"/>
          <p:cNvSpPr/>
          <p:nvPr/>
        </p:nvSpPr>
        <p:spPr>
          <a:xfrm>
            <a:off x="1295400" y="4020294"/>
            <a:ext cx="4709160" cy="835223"/>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Un dato inventato finisce in una comunicazione che esce dall'azienda.</a:t>
            </a:r>
            <a:endParaRPr lang="en-US" sz="2025" dirty="0"/>
          </a:p>
        </p:txBody>
      </p:sp>
      <p:sp>
        <p:nvSpPr>
          <p:cNvPr id="8" name="Shape 6"/>
          <p:cNvSpPr/>
          <p:nvPr/>
        </p:nvSpPr>
        <p:spPr>
          <a:xfrm>
            <a:off x="6515100" y="2458194"/>
            <a:ext cx="5257800" cy="3176885"/>
          </a:xfrm>
          <a:prstGeom prst="roundRect">
            <a:avLst>
              <a:gd name="adj" fmla="val 2399"/>
            </a:avLst>
          </a:prstGeom>
          <a:solidFill>
            <a:srgbClr val="FFFFFF"/>
          </a:solidFill>
          <a:ln/>
        </p:spPr>
      </p:sp>
      <p:sp>
        <p:nvSpPr>
          <p:cNvPr id="9" name="Text 7"/>
          <p:cNvSpPr/>
          <p:nvPr/>
        </p:nvSpPr>
        <p:spPr>
          <a:xfrm>
            <a:off x="6858000" y="2877294"/>
            <a:ext cx="4709160" cy="495300"/>
          </a:xfrm>
          <a:prstGeom prst="rect">
            <a:avLst/>
          </a:prstGeom>
          <a:noFill/>
          <a:ln/>
        </p:spPr>
        <p:txBody>
          <a:bodyPr wrap="square" lIns="25400" tIns="25400" rIns="25400" bIns="25400" rtlCol="0" anchor="t">
            <a:normAutofit/>
          </a:bodyPr>
          <a:lstStyle/>
          <a:p>
            <a:pPr algn="l" indent="0" marL="0">
              <a:lnSpc>
                <a:spcPct val="114286"/>
              </a:lnSpc>
              <a:buNone/>
            </a:pPr>
            <a:r>
              <a:rPr lang="en-US" sz="2250" b="1" dirty="0">
                <a:solidFill>
                  <a:srgbClr val="0E8A82"/>
                </a:solidFill>
                <a:latin typeface="Arial" pitchFamily="34" charset="0"/>
                <a:ea typeface="Arial" pitchFamily="34" charset="-122"/>
                <a:cs typeface="Arial" pitchFamily="34" charset="-120"/>
              </a:rPr>
              <a:t>02</a:t>
            </a:r>
            <a:endParaRPr lang="en-US" sz="2250" dirty="0"/>
          </a:p>
        </p:txBody>
      </p:sp>
      <p:sp>
        <p:nvSpPr>
          <p:cNvPr id="10" name="Text 8"/>
          <p:cNvSpPr/>
          <p:nvPr/>
        </p:nvSpPr>
        <p:spPr>
          <a:xfrm>
            <a:off x="6858000" y="3486894"/>
            <a:ext cx="502920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1F569E"/>
                </a:solidFill>
                <a:latin typeface="Arial" pitchFamily="34" charset="0"/>
                <a:ea typeface="Arial" pitchFamily="34" charset="-122"/>
                <a:cs typeface="Arial" pitchFamily="34" charset="-120"/>
              </a:rPr>
              <a:t>Un'offerta o un capitolato</a:t>
            </a:r>
            <a:endParaRPr lang="en-US" sz="2400" dirty="0"/>
          </a:p>
        </p:txBody>
      </p:sp>
      <p:sp>
        <p:nvSpPr>
          <p:cNvPr id="11" name="Text 9"/>
          <p:cNvSpPr/>
          <p:nvPr/>
        </p:nvSpPr>
        <p:spPr>
          <a:xfrm>
            <a:off x="6858000" y="4020294"/>
            <a:ext cx="4709160" cy="1233785"/>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Una specifica tecnica plausibile ma sbagliata entra in un documento contrattuale.</a:t>
            </a:r>
            <a:endParaRPr lang="en-US" sz="2025" dirty="0"/>
          </a:p>
        </p:txBody>
      </p:sp>
      <p:sp>
        <p:nvSpPr>
          <p:cNvPr id="12" name="Shape 10"/>
          <p:cNvSpPr/>
          <p:nvPr/>
        </p:nvSpPr>
        <p:spPr>
          <a:xfrm>
            <a:off x="12077700" y="2458194"/>
            <a:ext cx="5257800" cy="3176885"/>
          </a:xfrm>
          <a:prstGeom prst="roundRect">
            <a:avLst>
              <a:gd name="adj" fmla="val 2399"/>
            </a:avLst>
          </a:prstGeom>
          <a:solidFill>
            <a:srgbClr val="FFFFFF"/>
          </a:solidFill>
          <a:ln/>
        </p:spPr>
      </p:sp>
      <p:sp>
        <p:nvSpPr>
          <p:cNvPr id="13" name="Text 11"/>
          <p:cNvSpPr/>
          <p:nvPr/>
        </p:nvSpPr>
        <p:spPr>
          <a:xfrm>
            <a:off x="12420600" y="2877294"/>
            <a:ext cx="4709160" cy="495300"/>
          </a:xfrm>
          <a:prstGeom prst="rect">
            <a:avLst/>
          </a:prstGeom>
          <a:noFill/>
          <a:ln/>
        </p:spPr>
        <p:txBody>
          <a:bodyPr wrap="square" lIns="25400" tIns="25400" rIns="25400" bIns="25400" rtlCol="0" anchor="t">
            <a:normAutofit/>
          </a:bodyPr>
          <a:lstStyle/>
          <a:p>
            <a:pPr algn="l" indent="0" marL="0">
              <a:lnSpc>
                <a:spcPct val="114286"/>
              </a:lnSpc>
              <a:buNone/>
            </a:pPr>
            <a:r>
              <a:rPr lang="en-US" sz="2250" b="1" dirty="0">
                <a:solidFill>
                  <a:srgbClr val="0E8A82"/>
                </a:solidFill>
                <a:latin typeface="Arial" pitchFamily="34" charset="0"/>
                <a:ea typeface="Arial" pitchFamily="34" charset="-122"/>
                <a:cs typeface="Arial" pitchFamily="34" charset="-120"/>
              </a:rPr>
              <a:t>03</a:t>
            </a:r>
            <a:endParaRPr lang="en-US" sz="2250" dirty="0"/>
          </a:p>
        </p:txBody>
      </p:sp>
      <p:sp>
        <p:nvSpPr>
          <p:cNvPr id="14" name="Text 12"/>
          <p:cNvSpPr/>
          <p:nvPr/>
        </p:nvSpPr>
        <p:spPr>
          <a:xfrm>
            <a:off x="12420600" y="3486894"/>
            <a:ext cx="502920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1F569E"/>
                </a:solidFill>
                <a:latin typeface="Arial" pitchFamily="34" charset="0"/>
                <a:ea typeface="Arial" pitchFamily="34" charset="-122"/>
                <a:cs typeface="Arial" pitchFamily="34" charset="-120"/>
              </a:rPr>
              <a:t>Un riferimento normativo</a:t>
            </a:r>
            <a:endParaRPr lang="en-US" sz="2400" dirty="0"/>
          </a:p>
        </p:txBody>
      </p:sp>
      <p:sp>
        <p:nvSpPr>
          <p:cNvPr id="15" name="Text 13"/>
          <p:cNvSpPr/>
          <p:nvPr/>
        </p:nvSpPr>
        <p:spPr>
          <a:xfrm>
            <a:off x="12420600" y="4020294"/>
            <a:ext cx="4709160" cy="835223"/>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Una norma citata male viene ripresa in una comunicazione a un cliente.</a:t>
            </a:r>
            <a:endParaRPr lang="en-US" sz="2025" dirty="0"/>
          </a:p>
        </p:txBody>
      </p:sp>
      <p:pic>
        <p:nvPicPr>
          <p:cNvPr id="16"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7"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20</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DEFINIZIONE</a:t>
            </a:r>
            <a:endParaRPr lang="en-US" sz="1650" dirty="0"/>
          </a:p>
        </p:txBody>
      </p:sp>
      <p:sp>
        <p:nvSpPr>
          <p:cNvPr id="3" name="Text 1"/>
          <p:cNvSpPr/>
          <p:nvPr/>
        </p:nvSpPr>
        <p:spPr>
          <a:xfrm>
            <a:off x="952500" y="1382911"/>
            <a:ext cx="15304770" cy="1045666"/>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Un contenuto presentato come un fatto, con lo stesso tono sicuro del resto — ma inventato.</a:t>
            </a:r>
            <a:endParaRPr lang="en-US" sz="3450" dirty="0"/>
          </a:p>
        </p:txBody>
      </p:sp>
      <p:sp>
        <p:nvSpPr>
          <p:cNvPr id="4" name="Shape 2"/>
          <p:cNvSpPr/>
          <p:nvPr/>
        </p:nvSpPr>
        <p:spPr>
          <a:xfrm>
            <a:off x="952500" y="3000077"/>
            <a:ext cx="5257800" cy="2612975"/>
          </a:xfrm>
          <a:prstGeom prst="roundRect">
            <a:avLst>
              <a:gd name="adj" fmla="val 2916"/>
            </a:avLst>
          </a:prstGeom>
          <a:solidFill>
            <a:srgbClr val="F4F6F9"/>
          </a:solidFill>
          <a:ln/>
        </p:spPr>
      </p:sp>
      <p:sp>
        <p:nvSpPr>
          <p:cNvPr id="5" name="Text 3"/>
          <p:cNvSpPr/>
          <p:nvPr/>
        </p:nvSpPr>
        <p:spPr>
          <a:xfrm>
            <a:off x="1295400" y="3419177"/>
            <a:ext cx="5029200"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1F569E"/>
                </a:solidFill>
                <a:latin typeface="Arial" pitchFamily="34" charset="0"/>
                <a:ea typeface="Arial" pitchFamily="34" charset="-122"/>
                <a:cs typeface="Arial" pitchFamily="34" charset="-120"/>
              </a:rPr>
              <a:t>Non è segnalata</a:t>
            </a:r>
            <a:endParaRPr lang="en-US" sz="2550" dirty="0"/>
          </a:p>
        </p:txBody>
      </p:sp>
      <p:sp>
        <p:nvSpPr>
          <p:cNvPr id="6" name="Text 4"/>
          <p:cNvSpPr/>
          <p:nvPr/>
        </p:nvSpPr>
        <p:spPr>
          <a:xfrm>
            <a:off x="1295400" y="3998268"/>
            <a:ext cx="4709160" cy="1233785"/>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Non esiste, nell'interfaccia, un segnale che distingua ciò che il modello sa con certezza da ciò che ha ricostruito.</a:t>
            </a:r>
            <a:endParaRPr lang="en-US" sz="2025" dirty="0"/>
          </a:p>
        </p:txBody>
      </p:sp>
      <p:sp>
        <p:nvSpPr>
          <p:cNvPr id="7" name="Shape 5"/>
          <p:cNvSpPr/>
          <p:nvPr/>
        </p:nvSpPr>
        <p:spPr>
          <a:xfrm>
            <a:off x="6515100" y="3000077"/>
            <a:ext cx="5257800" cy="2612975"/>
          </a:xfrm>
          <a:prstGeom prst="roundRect">
            <a:avLst>
              <a:gd name="adj" fmla="val 2916"/>
            </a:avLst>
          </a:prstGeom>
          <a:solidFill>
            <a:srgbClr val="F4F6F9"/>
          </a:solidFill>
          <a:ln/>
        </p:spPr>
      </p:sp>
      <p:sp>
        <p:nvSpPr>
          <p:cNvPr id="8" name="Text 6"/>
          <p:cNvSpPr/>
          <p:nvPr/>
        </p:nvSpPr>
        <p:spPr>
          <a:xfrm>
            <a:off x="6858000" y="3419177"/>
            <a:ext cx="5029200"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1F569E"/>
                </a:solidFill>
                <a:latin typeface="Arial" pitchFamily="34" charset="0"/>
                <a:ea typeface="Arial" pitchFamily="34" charset="-122"/>
                <a:cs typeface="Arial" pitchFamily="34" charset="-120"/>
              </a:rPr>
              <a:t>È plausibile, non casuale</a:t>
            </a:r>
            <a:endParaRPr lang="en-US" sz="2550" dirty="0"/>
          </a:p>
        </p:txBody>
      </p:sp>
      <p:sp>
        <p:nvSpPr>
          <p:cNvPr id="9" name="Text 7"/>
          <p:cNvSpPr/>
          <p:nvPr/>
        </p:nvSpPr>
        <p:spPr>
          <a:xfrm>
            <a:off x="6858000" y="3998268"/>
            <a:ext cx="4709160" cy="1233785"/>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Un dato verosimile, coerente con il contesto — non un errore grossolano che salta all'occhio.</a:t>
            </a:r>
            <a:endParaRPr lang="en-US" sz="2025" dirty="0"/>
          </a:p>
        </p:txBody>
      </p:sp>
      <p:sp>
        <p:nvSpPr>
          <p:cNvPr id="10" name="Shape 8"/>
          <p:cNvSpPr/>
          <p:nvPr/>
        </p:nvSpPr>
        <p:spPr>
          <a:xfrm>
            <a:off x="12077700" y="3000077"/>
            <a:ext cx="5257800" cy="2612975"/>
          </a:xfrm>
          <a:prstGeom prst="roundRect">
            <a:avLst>
              <a:gd name="adj" fmla="val 2916"/>
            </a:avLst>
          </a:prstGeom>
          <a:solidFill>
            <a:srgbClr val="F4F6F9"/>
          </a:solidFill>
          <a:ln/>
        </p:spPr>
      </p:sp>
      <p:sp>
        <p:nvSpPr>
          <p:cNvPr id="11" name="Text 9"/>
          <p:cNvSpPr/>
          <p:nvPr/>
        </p:nvSpPr>
        <p:spPr>
          <a:xfrm>
            <a:off x="12420600" y="3419177"/>
            <a:ext cx="5029200"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1F569E"/>
                </a:solidFill>
                <a:latin typeface="Arial" pitchFamily="34" charset="0"/>
                <a:ea typeface="Arial" pitchFamily="34" charset="-122"/>
                <a:cs typeface="Arial" pitchFamily="34" charset="-120"/>
              </a:rPr>
              <a:t>Non si risolve da sola</a:t>
            </a:r>
            <a:endParaRPr lang="en-US" sz="2550" dirty="0"/>
          </a:p>
        </p:txBody>
      </p:sp>
      <p:sp>
        <p:nvSpPr>
          <p:cNvPr id="12" name="Text 10"/>
          <p:cNvSpPr/>
          <p:nvPr/>
        </p:nvSpPr>
        <p:spPr>
          <a:xfrm>
            <a:off x="12420600" y="3998268"/>
            <a:ext cx="4709160" cy="1233785"/>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Si riduce con modelli migliori, ma discende dal modo stesso in cui un LLM genera testo.</a:t>
            </a:r>
            <a:endParaRPr lang="en-US" sz="2025" dirty="0"/>
          </a:p>
        </p:txBody>
      </p:sp>
      <p:pic>
        <p:nvPicPr>
          <p:cNvPr id="13"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4" name="Text 11"/>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21</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IL MECCANISMO</a:t>
            </a:r>
            <a:endParaRPr lang="en-US" sz="1650" dirty="0"/>
          </a:p>
        </p:txBody>
      </p:sp>
      <p:sp>
        <p:nvSpPr>
          <p:cNvPr id="3" name="Text 1"/>
          <p:cNvSpPr/>
          <p:nvPr/>
        </p:nvSpPr>
        <p:spPr>
          <a:xfrm>
            <a:off x="952500" y="1382911"/>
            <a:ext cx="1571625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Il modello scrive la continuazione più plausibile, non quella verificata.</a:t>
            </a:r>
            <a:endParaRPr lang="en-US" sz="3450" dirty="0"/>
          </a:p>
        </p:txBody>
      </p:sp>
      <p:sp>
        <p:nvSpPr>
          <p:cNvPr id="4" name="Text 2"/>
          <p:cNvSpPr/>
          <p:nvPr/>
        </p:nvSpPr>
        <p:spPr>
          <a:xfrm>
            <a:off x="952500" y="2381994"/>
            <a:ext cx="16874490"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spc="90" kern="0" dirty="0">
                <a:solidFill>
                  <a:srgbClr val="6B7280"/>
                </a:solidFill>
                <a:latin typeface="Arial" pitchFamily="34" charset="0"/>
                <a:ea typeface="Arial" pitchFamily="34" charset="-122"/>
                <a:cs typeface="Arial" pitchFamily="34" charset="-120"/>
              </a:rPr>
              <a:t>IL RISCHIO SALE QUANDO LA RICHIESTA RIGUARDA:</a:t>
            </a:r>
            <a:endParaRPr lang="en-US" sz="1500" dirty="0"/>
          </a:p>
        </p:txBody>
      </p:sp>
      <p:sp>
        <p:nvSpPr>
          <p:cNvPr id="5" name="Shape 3"/>
          <p:cNvSpPr/>
          <p:nvPr/>
        </p:nvSpPr>
        <p:spPr>
          <a:xfrm>
            <a:off x="952500" y="2991594"/>
            <a:ext cx="3093690" cy="2793653"/>
          </a:xfrm>
          <a:prstGeom prst="roundRect">
            <a:avLst>
              <a:gd name="adj" fmla="val 2728"/>
            </a:avLst>
          </a:prstGeom>
          <a:solidFill>
            <a:srgbClr val="FFFFFF"/>
          </a:solidFill>
          <a:ln/>
        </p:spPr>
      </p:sp>
      <p:sp>
        <p:nvSpPr>
          <p:cNvPr id="6" name="Text 4"/>
          <p:cNvSpPr/>
          <p:nvPr/>
        </p:nvSpPr>
        <p:spPr>
          <a:xfrm>
            <a:off x="1219200" y="3334494"/>
            <a:ext cx="2816319" cy="464790"/>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0E8A82"/>
                </a:solidFill>
                <a:latin typeface="Arial" pitchFamily="34" charset="0"/>
                <a:ea typeface="Arial" pitchFamily="34" charset="-122"/>
                <a:cs typeface="Arial" pitchFamily="34" charset="-120"/>
              </a:rPr>
              <a:t>01</a:t>
            </a:r>
            <a:endParaRPr lang="en-US" sz="2100" dirty="0"/>
          </a:p>
        </p:txBody>
      </p:sp>
      <p:sp>
        <p:nvSpPr>
          <p:cNvPr id="7" name="Text 5"/>
          <p:cNvSpPr/>
          <p:nvPr/>
        </p:nvSpPr>
        <p:spPr>
          <a:xfrm>
            <a:off x="1219200" y="3894534"/>
            <a:ext cx="2816319" cy="381000"/>
          </a:xfrm>
          <a:prstGeom prst="rect">
            <a:avLst/>
          </a:prstGeom>
          <a:noFill/>
          <a:ln/>
        </p:spPr>
        <p:txBody>
          <a:bodyPr wrap="square" lIns="25400" tIns="25400" rIns="25400" bIns="25400" rtlCol="0" anchor="t">
            <a:normAutofit/>
          </a:bodyPr>
          <a:lstStyle/>
          <a:p>
            <a:pPr algn="l" indent="0" marL="0">
              <a:lnSpc>
                <a:spcPct val="105882"/>
              </a:lnSpc>
              <a:buNone/>
            </a:pPr>
            <a:r>
              <a:rPr lang="en-US" sz="2250" b="1" dirty="0">
                <a:solidFill>
                  <a:srgbClr val="1F569E"/>
                </a:solidFill>
                <a:latin typeface="Arial" pitchFamily="34" charset="0"/>
                <a:ea typeface="Arial" pitchFamily="34" charset="-122"/>
                <a:cs typeface="Arial" pitchFamily="34" charset="-120"/>
              </a:rPr>
              <a:t>Fatti puntuali</a:t>
            </a:r>
            <a:endParaRPr lang="en-US" sz="2250" dirty="0"/>
          </a:p>
        </p:txBody>
      </p:sp>
      <p:sp>
        <p:nvSpPr>
          <p:cNvPr id="8" name="Text 6"/>
          <p:cNvSpPr/>
          <p:nvPr/>
        </p:nvSpPr>
        <p:spPr>
          <a:xfrm>
            <a:off x="1219200" y="4370784"/>
            <a:ext cx="2637099"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6B7280"/>
                </a:solidFill>
                <a:latin typeface="Arial" pitchFamily="34" charset="0"/>
                <a:ea typeface="Arial" pitchFamily="34" charset="-122"/>
                <a:cs typeface="Arial" pitchFamily="34" charset="-120"/>
              </a:rPr>
              <a:t>nomi, date, cifre, articoli di legge</a:t>
            </a:r>
            <a:endParaRPr lang="en-US" sz="1875" dirty="0"/>
          </a:p>
        </p:txBody>
      </p:sp>
      <p:sp>
        <p:nvSpPr>
          <p:cNvPr id="9" name="Shape 7"/>
          <p:cNvSpPr/>
          <p:nvPr/>
        </p:nvSpPr>
        <p:spPr>
          <a:xfrm>
            <a:off x="4274790" y="2991594"/>
            <a:ext cx="3093690" cy="2793653"/>
          </a:xfrm>
          <a:prstGeom prst="roundRect">
            <a:avLst>
              <a:gd name="adj" fmla="val 2728"/>
            </a:avLst>
          </a:prstGeom>
          <a:solidFill>
            <a:srgbClr val="FFFFFF"/>
          </a:solidFill>
          <a:ln/>
        </p:spPr>
      </p:sp>
      <p:sp>
        <p:nvSpPr>
          <p:cNvPr id="10" name="Text 8"/>
          <p:cNvSpPr/>
          <p:nvPr/>
        </p:nvSpPr>
        <p:spPr>
          <a:xfrm>
            <a:off x="4541490" y="3334494"/>
            <a:ext cx="2816319" cy="464790"/>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0E8A82"/>
                </a:solidFill>
                <a:latin typeface="Arial" pitchFamily="34" charset="0"/>
                <a:ea typeface="Arial" pitchFamily="34" charset="-122"/>
                <a:cs typeface="Arial" pitchFamily="34" charset="-120"/>
              </a:rPr>
              <a:t>02</a:t>
            </a:r>
            <a:endParaRPr lang="en-US" sz="2100" dirty="0"/>
          </a:p>
        </p:txBody>
      </p:sp>
      <p:sp>
        <p:nvSpPr>
          <p:cNvPr id="11" name="Text 9"/>
          <p:cNvSpPr/>
          <p:nvPr/>
        </p:nvSpPr>
        <p:spPr>
          <a:xfrm>
            <a:off x="4541490" y="3894534"/>
            <a:ext cx="2637099" cy="723900"/>
          </a:xfrm>
          <a:prstGeom prst="rect">
            <a:avLst/>
          </a:prstGeom>
          <a:noFill/>
          <a:ln/>
        </p:spPr>
        <p:txBody>
          <a:bodyPr wrap="square" lIns="25400" tIns="25400" rIns="25400" bIns="25400" rtlCol="0" anchor="t">
            <a:normAutofit/>
          </a:bodyPr>
          <a:lstStyle/>
          <a:p>
            <a:pPr algn="l" indent="0" marL="0">
              <a:lnSpc>
                <a:spcPct val="105882"/>
              </a:lnSpc>
              <a:buNone/>
            </a:pPr>
            <a:r>
              <a:rPr lang="en-US" sz="2250" b="1" dirty="0">
                <a:solidFill>
                  <a:srgbClr val="1F569E"/>
                </a:solidFill>
                <a:latin typeface="Arial" pitchFamily="34" charset="0"/>
                <a:ea typeface="Arial" pitchFamily="34" charset="-122"/>
                <a:cs typeface="Arial" pitchFamily="34" charset="-120"/>
              </a:rPr>
              <a:t>Argomenti di nicchia</a:t>
            </a:r>
            <a:endParaRPr lang="en-US" sz="2250" dirty="0"/>
          </a:p>
        </p:txBody>
      </p:sp>
      <p:sp>
        <p:nvSpPr>
          <p:cNvPr id="12" name="Text 10"/>
          <p:cNvSpPr/>
          <p:nvPr/>
        </p:nvSpPr>
        <p:spPr>
          <a:xfrm>
            <a:off x="4541490" y="4713684"/>
            <a:ext cx="2637099"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6B7280"/>
                </a:solidFill>
                <a:latin typeface="Arial" pitchFamily="34" charset="0"/>
                <a:ea typeface="Arial" pitchFamily="34" charset="-122"/>
                <a:cs typeface="Arial" pitchFamily="34" charset="-120"/>
              </a:rPr>
              <a:t>poco documentati o poco diffusi</a:t>
            </a:r>
            <a:endParaRPr lang="en-US" sz="1875" dirty="0"/>
          </a:p>
        </p:txBody>
      </p:sp>
      <p:sp>
        <p:nvSpPr>
          <p:cNvPr id="13" name="Shape 11"/>
          <p:cNvSpPr/>
          <p:nvPr/>
        </p:nvSpPr>
        <p:spPr>
          <a:xfrm>
            <a:off x="7597080" y="2991594"/>
            <a:ext cx="3093690" cy="2793653"/>
          </a:xfrm>
          <a:prstGeom prst="roundRect">
            <a:avLst>
              <a:gd name="adj" fmla="val 2728"/>
            </a:avLst>
          </a:prstGeom>
          <a:solidFill>
            <a:srgbClr val="FFFFFF"/>
          </a:solidFill>
          <a:ln/>
        </p:spPr>
      </p:sp>
      <p:sp>
        <p:nvSpPr>
          <p:cNvPr id="14" name="Text 12"/>
          <p:cNvSpPr/>
          <p:nvPr/>
        </p:nvSpPr>
        <p:spPr>
          <a:xfrm>
            <a:off x="7863780" y="3334494"/>
            <a:ext cx="2816319" cy="464790"/>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0E8A82"/>
                </a:solidFill>
                <a:latin typeface="Arial" pitchFamily="34" charset="0"/>
                <a:ea typeface="Arial" pitchFamily="34" charset="-122"/>
                <a:cs typeface="Arial" pitchFamily="34" charset="-120"/>
              </a:rPr>
              <a:t>03</a:t>
            </a:r>
            <a:endParaRPr lang="en-US" sz="2100" dirty="0"/>
          </a:p>
        </p:txBody>
      </p:sp>
      <p:sp>
        <p:nvSpPr>
          <p:cNvPr id="15" name="Text 13"/>
          <p:cNvSpPr/>
          <p:nvPr/>
        </p:nvSpPr>
        <p:spPr>
          <a:xfrm>
            <a:off x="7863780" y="3894534"/>
            <a:ext cx="2816319" cy="381000"/>
          </a:xfrm>
          <a:prstGeom prst="rect">
            <a:avLst/>
          </a:prstGeom>
          <a:noFill/>
          <a:ln/>
        </p:spPr>
        <p:txBody>
          <a:bodyPr wrap="square" lIns="25400" tIns="25400" rIns="25400" bIns="25400" rtlCol="0" anchor="t">
            <a:normAutofit/>
          </a:bodyPr>
          <a:lstStyle/>
          <a:p>
            <a:pPr algn="l" indent="0" marL="0">
              <a:lnSpc>
                <a:spcPct val="105882"/>
              </a:lnSpc>
              <a:buNone/>
            </a:pPr>
            <a:r>
              <a:rPr lang="en-US" sz="2250" b="1" dirty="0">
                <a:solidFill>
                  <a:srgbClr val="1F569E"/>
                </a:solidFill>
                <a:latin typeface="Arial" pitchFamily="34" charset="0"/>
                <a:ea typeface="Arial" pitchFamily="34" charset="-122"/>
                <a:cs typeface="Arial" pitchFamily="34" charset="-120"/>
              </a:rPr>
              <a:t>Informazioni recenti</a:t>
            </a:r>
            <a:endParaRPr lang="en-US" sz="2250" dirty="0"/>
          </a:p>
        </p:txBody>
      </p:sp>
      <p:sp>
        <p:nvSpPr>
          <p:cNvPr id="16" name="Text 14"/>
          <p:cNvSpPr/>
          <p:nvPr/>
        </p:nvSpPr>
        <p:spPr>
          <a:xfrm>
            <a:off x="7863780" y="4370784"/>
            <a:ext cx="2637099"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6B7280"/>
                </a:solidFill>
                <a:latin typeface="Arial" pitchFamily="34" charset="0"/>
                <a:ea typeface="Arial" pitchFamily="34" charset="-122"/>
                <a:cs typeface="Arial" pitchFamily="34" charset="-120"/>
              </a:rPr>
              <a:t>successive all'aggiornamento del modello</a:t>
            </a:r>
            <a:endParaRPr lang="en-US" sz="1875" dirty="0"/>
          </a:p>
        </p:txBody>
      </p:sp>
      <p:sp>
        <p:nvSpPr>
          <p:cNvPr id="17" name="Shape 15"/>
          <p:cNvSpPr/>
          <p:nvPr/>
        </p:nvSpPr>
        <p:spPr>
          <a:xfrm>
            <a:off x="10919371" y="2991594"/>
            <a:ext cx="3093690" cy="2793653"/>
          </a:xfrm>
          <a:prstGeom prst="roundRect">
            <a:avLst>
              <a:gd name="adj" fmla="val 2728"/>
            </a:avLst>
          </a:prstGeom>
          <a:solidFill>
            <a:srgbClr val="FFFFFF"/>
          </a:solidFill>
          <a:ln/>
        </p:spPr>
      </p:sp>
      <p:sp>
        <p:nvSpPr>
          <p:cNvPr id="18" name="Text 16"/>
          <p:cNvSpPr/>
          <p:nvPr/>
        </p:nvSpPr>
        <p:spPr>
          <a:xfrm>
            <a:off x="11186071" y="3334494"/>
            <a:ext cx="2816319" cy="464790"/>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0E8A82"/>
                </a:solidFill>
                <a:latin typeface="Arial" pitchFamily="34" charset="0"/>
                <a:ea typeface="Arial" pitchFamily="34" charset="-122"/>
                <a:cs typeface="Arial" pitchFamily="34" charset="-120"/>
              </a:rPr>
              <a:t>04</a:t>
            </a:r>
            <a:endParaRPr lang="en-US" sz="2100" dirty="0"/>
          </a:p>
        </p:txBody>
      </p:sp>
      <p:sp>
        <p:nvSpPr>
          <p:cNvPr id="19" name="Text 17"/>
          <p:cNvSpPr/>
          <p:nvPr/>
        </p:nvSpPr>
        <p:spPr>
          <a:xfrm>
            <a:off x="11186071" y="3894534"/>
            <a:ext cx="2816319" cy="381000"/>
          </a:xfrm>
          <a:prstGeom prst="rect">
            <a:avLst/>
          </a:prstGeom>
          <a:noFill/>
          <a:ln/>
        </p:spPr>
        <p:txBody>
          <a:bodyPr wrap="square" lIns="25400" tIns="25400" rIns="25400" bIns="25400" rtlCol="0" anchor="t">
            <a:normAutofit/>
          </a:bodyPr>
          <a:lstStyle/>
          <a:p>
            <a:pPr algn="l" indent="0" marL="0">
              <a:lnSpc>
                <a:spcPct val="105882"/>
              </a:lnSpc>
              <a:buNone/>
            </a:pPr>
            <a:r>
              <a:rPr lang="en-US" sz="2250" b="1" dirty="0">
                <a:solidFill>
                  <a:srgbClr val="1F569E"/>
                </a:solidFill>
                <a:latin typeface="Arial" pitchFamily="34" charset="0"/>
                <a:ea typeface="Arial" pitchFamily="34" charset="-122"/>
                <a:cs typeface="Arial" pitchFamily="34" charset="-120"/>
              </a:rPr>
              <a:t>Richieste vaghe</a:t>
            </a:r>
            <a:endParaRPr lang="en-US" sz="2250" dirty="0"/>
          </a:p>
        </p:txBody>
      </p:sp>
      <p:sp>
        <p:nvSpPr>
          <p:cNvPr id="20" name="Text 18"/>
          <p:cNvSpPr/>
          <p:nvPr/>
        </p:nvSpPr>
        <p:spPr>
          <a:xfrm>
            <a:off x="11186071" y="4370784"/>
            <a:ext cx="2637099"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6B7280"/>
                </a:solidFill>
                <a:latin typeface="Arial" pitchFamily="34" charset="0"/>
                <a:ea typeface="Arial" pitchFamily="34" charset="-122"/>
                <a:cs typeface="Arial" pitchFamily="34" charset="-120"/>
              </a:rPr>
              <a:t>il modello riempie da solo i vuoti</a:t>
            </a:r>
            <a:endParaRPr lang="en-US" sz="1875" dirty="0"/>
          </a:p>
        </p:txBody>
      </p:sp>
      <p:sp>
        <p:nvSpPr>
          <p:cNvPr id="21" name="Shape 19"/>
          <p:cNvSpPr/>
          <p:nvPr/>
        </p:nvSpPr>
        <p:spPr>
          <a:xfrm>
            <a:off x="14241661" y="2991594"/>
            <a:ext cx="3093690" cy="2793653"/>
          </a:xfrm>
          <a:prstGeom prst="roundRect">
            <a:avLst>
              <a:gd name="adj" fmla="val 2728"/>
            </a:avLst>
          </a:prstGeom>
          <a:solidFill>
            <a:srgbClr val="FFFFFF"/>
          </a:solidFill>
          <a:ln/>
        </p:spPr>
      </p:sp>
      <p:sp>
        <p:nvSpPr>
          <p:cNvPr id="22" name="Text 20"/>
          <p:cNvSpPr/>
          <p:nvPr/>
        </p:nvSpPr>
        <p:spPr>
          <a:xfrm>
            <a:off x="14508361" y="3334494"/>
            <a:ext cx="2816319" cy="464790"/>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0E8A82"/>
                </a:solidFill>
                <a:latin typeface="Arial" pitchFamily="34" charset="0"/>
                <a:ea typeface="Arial" pitchFamily="34" charset="-122"/>
                <a:cs typeface="Arial" pitchFamily="34" charset="-120"/>
              </a:rPr>
              <a:t>05</a:t>
            </a:r>
            <a:endParaRPr lang="en-US" sz="2100" dirty="0"/>
          </a:p>
        </p:txBody>
      </p:sp>
      <p:sp>
        <p:nvSpPr>
          <p:cNvPr id="23" name="Text 21"/>
          <p:cNvSpPr/>
          <p:nvPr/>
        </p:nvSpPr>
        <p:spPr>
          <a:xfrm>
            <a:off x="14508361" y="3894534"/>
            <a:ext cx="2816319" cy="381000"/>
          </a:xfrm>
          <a:prstGeom prst="rect">
            <a:avLst/>
          </a:prstGeom>
          <a:noFill/>
          <a:ln/>
        </p:spPr>
        <p:txBody>
          <a:bodyPr wrap="square" lIns="25400" tIns="25400" rIns="25400" bIns="25400" rtlCol="0" anchor="t">
            <a:normAutofit/>
          </a:bodyPr>
          <a:lstStyle/>
          <a:p>
            <a:pPr algn="l" indent="0" marL="0">
              <a:lnSpc>
                <a:spcPct val="105882"/>
              </a:lnSpc>
              <a:buNone/>
            </a:pPr>
            <a:r>
              <a:rPr lang="en-US" sz="2250" b="1" dirty="0">
                <a:solidFill>
                  <a:srgbClr val="1F569E"/>
                </a:solidFill>
                <a:latin typeface="Arial" pitchFamily="34" charset="0"/>
                <a:ea typeface="Arial" pitchFamily="34" charset="-122"/>
                <a:cs typeface="Arial" pitchFamily="34" charset="-120"/>
              </a:rPr>
              <a:t>Risposte "gradite"</a:t>
            </a:r>
            <a:endParaRPr lang="en-US" sz="2250" dirty="0"/>
          </a:p>
        </p:txBody>
      </p:sp>
      <p:sp>
        <p:nvSpPr>
          <p:cNvPr id="24" name="Text 22"/>
          <p:cNvSpPr/>
          <p:nvPr/>
        </p:nvSpPr>
        <p:spPr>
          <a:xfrm>
            <a:off x="14508361" y="4370784"/>
            <a:ext cx="2637099"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6B7280"/>
                </a:solidFill>
                <a:latin typeface="Arial" pitchFamily="34" charset="0"/>
                <a:ea typeface="Arial" pitchFamily="34" charset="-122"/>
                <a:cs typeface="Arial" pitchFamily="34" charset="-120"/>
              </a:rPr>
              <a:t>la domanda contiene già l'aspettativa</a:t>
            </a:r>
            <a:endParaRPr lang="en-US" sz="1875" dirty="0"/>
          </a:p>
        </p:txBody>
      </p:sp>
      <p:pic>
        <p:nvPicPr>
          <p:cNvPr id="25"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26" name="Text 23"/>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22</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UN CASO REALE</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Il chatbot di Air Canada</a:t>
            </a:r>
            <a:endParaRPr lang="en-US" sz="3450" dirty="0"/>
          </a:p>
        </p:txBody>
      </p:sp>
      <p:sp>
        <p:nvSpPr>
          <p:cNvPr id="4" name="Shape 2"/>
          <p:cNvSpPr/>
          <p:nvPr/>
        </p:nvSpPr>
        <p:spPr>
          <a:xfrm>
            <a:off x="952500" y="2458194"/>
            <a:ext cx="16383000" cy="9525"/>
          </a:xfrm>
          <a:prstGeom prst="rect">
            <a:avLst/>
          </a:prstGeom>
          <a:solidFill>
            <a:srgbClr val="E5E7EB"/>
          </a:solidFill>
          <a:ln/>
        </p:spPr>
      </p:sp>
      <p:sp>
        <p:nvSpPr>
          <p:cNvPr id="5" name="Shape 3"/>
          <p:cNvSpPr/>
          <p:nvPr/>
        </p:nvSpPr>
        <p:spPr>
          <a:xfrm>
            <a:off x="6403925" y="2467719"/>
            <a:ext cx="9525" cy="2527548"/>
          </a:xfrm>
          <a:prstGeom prst="rect">
            <a:avLst/>
          </a:prstGeom>
          <a:solidFill>
            <a:srgbClr val="E5E7EB"/>
          </a:solidFill>
          <a:ln/>
        </p:spPr>
      </p:sp>
      <p:sp>
        <p:nvSpPr>
          <p:cNvPr id="6" name="Text 4"/>
          <p:cNvSpPr/>
          <p:nvPr/>
        </p:nvSpPr>
        <p:spPr>
          <a:xfrm>
            <a:off x="952500" y="2848719"/>
            <a:ext cx="5577468"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99" kern="0" dirty="0">
                <a:solidFill>
                  <a:srgbClr val="0E8A82"/>
                </a:solidFill>
                <a:latin typeface="Arial" pitchFamily="34" charset="0"/>
                <a:ea typeface="Arial" pitchFamily="34" charset="-122"/>
                <a:cs typeface="Arial" pitchFamily="34" charset="-120"/>
              </a:rPr>
              <a:t>2022</a:t>
            </a:r>
            <a:endParaRPr lang="en-US" sz="1650" dirty="0"/>
          </a:p>
        </p:txBody>
      </p:sp>
      <p:sp>
        <p:nvSpPr>
          <p:cNvPr id="7" name="Text 5"/>
          <p:cNvSpPr/>
          <p:nvPr/>
        </p:nvSpPr>
        <p:spPr>
          <a:xfrm>
            <a:off x="952500" y="3374380"/>
            <a:ext cx="5222538" cy="1277987"/>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1A1A1A"/>
                </a:solidFill>
                <a:latin typeface="Arial" pitchFamily="34" charset="0"/>
                <a:ea typeface="Arial" pitchFamily="34" charset="-122"/>
                <a:cs typeface="Arial" pitchFamily="34" charset="-120"/>
              </a:rPr>
              <a:t>Un cliente chiede al chatbot lo sconto per lutto: gli viene promesso che si può richiedere anche dopo il viaggio.</a:t>
            </a:r>
            <a:endParaRPr lang="en-US" sz="2100" dirty="0"/>
          </a:p>
        </p:txBody>
      </p:sp>
      <p:sp>
        <p:nvSpPr>
          <p:cNvPr id="8" name="Shape 6"/>
          <p:cNvSpPr/>
          <p:nvPr/>
        </p:nvSpPr>
        <p:spPr>
          <a:xfrm>
            <a:off x="11864876" y="2467719"/>
            <a:ext cx="9525" cy="2527548"/>
          </a:xfrm>
          <a:prstGeom prst="rect">
            <a:avLst/>
          </a:prstGeom>
          <a:solidFill>
            <a:srgbClr val="E5E7EB"/>
          </a:solidFill>
          <a:ln/>
        </p:spPr>
      </p:sp>
      <p:sp>
        <p:nvSpPr>
          <p:cNvPr id="9" name="Text 7"/>
          <p:cNvSpPr/>
          <p:nvPr/>
        </p:nvSpPr>
        <p:spPr>
          <a:xfrm>
            <a:off x="6794450" y="2848719"/>
            <a:ext cx="5158368"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99" kern="0" dirty="0">
                <a:solidFill>
                  <a:srgbClr val="0E8A82"/>
                </a:solidFill>
                <a:latin typeface="Arial" pitchFamily="34" charset="0"/>
                <a:ea typeface="Arial" pitchFamily="34" charset="-122"/>
                <a:cs typeface="Arial" pitchFamily="34" charset="-120"/>
              </a:rPr>
              <a:t>Policy reale</a:t>
            </a:r>
            <a:endParaRPr lang="en-US" sz="1650" dirty="0"/>
          </a:p>
        </p:txBody>
      </p:sp>
      <p:sp>
        <p:nvSpPr>
          <p:cNvPr id="10" name="Text 8"/>
          <p:cNvSpPr/>
          <p:nvPr/>
        </p:nvSpPr>
        <p:spPr>
          <a:xfrm>
            <a:off x="6794450" y="3374380"/>
            <a:ext cx="4830108" cy="864691"/>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1A1A1A"/>
                </a:solidFill>
                <a:latin typeface="Arial" pitchFamily="34" charset="0"/>
                <a:ea typeface="Arial" pitchFamily="34" charset="-122"/>
                <a:cs typeface="Arial" pitchFamily="34" charset="-120"/>
              </a:rPr>
              <a:t>Air Canada dice il contrario: lo sconto va richiesto prima della partenza.</a:t>
            </a:r>
            <a:endParaRPr lang="en-US" sz="2100" dirty="0"/>
          </a:p>
        </p:txBody>
      </p:sp>
      <p:sp>
        <p:nvSpPr>
          <p:cNvPr id="11" name="Text 9"/>
          <p:cNvSpPr/>
          <p:nvPr/>
        </p:nvSpPr>
        <p:spPr>
          <a:xfrm>
            <a:off x="12255401" y="2848719"/>
            <a:ext cx="5587945"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99" kern="0" dirty="0">
                <a:solidFill>
                  <a:srgbClr val="0E8A82"/>
                </a:solidFill>
                <a:latin typeface="Arial" pitchFamily="34" charset="0"/>
                <a:ea typeface="Arial" pitchFamily="34" charset="-122"/>
                <a:cs typeface="Arial" pitchFamily="34" charset="-120"/>
              </a:rPr>
              <a:t>Feb. 2024</a:t>
            </a:r>
            <a:endParaRPr lang="en-US" sz="1650" dirty="0"/>
          </a:p>
        </p:txBody>
      </p:sp>
      <p:sp>
        <p:nvSpPr>
          <p:cNvPr id="12" name="Text 10"/>
          <p:cNvSpPr/>
          <p:nvPr/>
        </p:nvSpPr>
        <p:spPr>
          <a:xfrm>
            <a:off x="12255401" y="3374380"/>
            <a:ext cx="5232349" cy="1277987"/>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1A1A1A"/>
                </a:solidFill>
                <a:latin typeface="Arial" pitchFamily="34" charset="0"/>
                <a:ea typeface="Arial" pitchFamily="34" charset="-122"/>
                <a:cs typeface="Arial" pitchFamily="34" charset="-120"/>
              </a:rPr>
              <a:t>Il tribunale della British Columbia: l'azienda risponde comunque delle informazioni del proprio chatbot.</a:t>
            </a:r>
            <a:endParaRPr lang="en-US" sz="2100" dirty="0"/>
          </a:p>
        </p:txBody>
      </p:sp>
      <p:sp>
        <p:nvSpPr>
          <p:cNvPr id="13" name="Shape 11"/>
          <p:cNvSpPr/>
          <p:nvPr/>
        </p:nvSpPr>
        <p:spPr>
          <a:xfrm>
            <a:off x="952500" y="5490567"/>
            <a:ext cx="16383000" cy="1290638"/>
          </a:xfrm>
          <a:prstGeom prst="roundRect">
            <a:avLst>
              <a:gd name="adj" fmla="val 5904"/>
            </a:avLst>
          </a:prstGeom>
          <a:solidFill>
            <a:srgbClr val="F4F6F9"/>
          </a:solidFill>
          <a:ln/>
        </p:spPr>
      </p:sp>
      <p:sp>
        <p:nvSpPr>
          <p:cNvPr id="14" name="Text 12"/>
          <p:cNvSpPr/>
          <p:nvPr/>
        </p:nvSpPr>
        <p:spPr>
          <a:xfrm>
            <a:off x="1409700" y="5909667"/>
            <a:ext cx="17015460" cy="490538"/>
          </a:xfrm>
          <a:prstGeom prst="rect">
            <a:avLst/>
          </a:prstGeom>
          <a:noFill/>
          <a:ln/>
        </p:spPr>
        <p:txBody>
          <a:bodyPr wrap="square" lIns="25400" tIns="25400" rIns="25400" bIns="25400" rtlCol="0" anchor="t">
            <a:normAutofit/>
          </a:bodyPr>
          <a:lstStyle/>
          <a:p>
            <a:pPr algn="l" indent="0" marL="0">
              <a:lnSpc>
                <a:spcPct val="87963"/>
              </a:lnSpc>
              <a:buNone/>
            </a:pPr>
            <a:r>
              <a:rPr lang="en-US" sz="2850" b="1" dirty="0">
                <a:solidFill>
                  <a:srgbClr val="1F569E"/>
                </a:solidFill>
                <a:latin typeface="Arial" pitchFamily="34" charset="0"/>
                <a:ea typeface="Arial" pitchFamily="34" charset="-122"/>
                <a:cs typeface="Arial" pitchFamily="34" charset="-120"/>
              </a:rPr>
              <a:t>L'azienda risponde del contenuto che un suo strumento AI produce.</a:t>
            </a:r>
            <a:endParaRPr lang="en-US" sz="2850" dirty="0"/>
          </a:p>
        </p:txBody>
      </p:sp>
      <p:sp>
        <p:nvSpPr>
          <p:cNvPr id="15" name="Text 13"/>
          <p:cNvSpPr/>
          <p:nvPr/>
        </p:nvSpPr>
        <p:spPr>
          <a:xfrm>
            <a:off x="952500" y="7124105"/>
            <a:ext cx="18021300" cy="327571"/>
          </a:xfrm>
          <a:prstGeom prst="rect">
            <a:avLst/>
          </a:prstGeom>
          <a:noFill/>
          <a:ln/>
        </p:spPr>
        <p:txBody>
          <a:bodyPr wrap="square" lIns="25400" tIns="25400" rIns="25400" bIns="25400" rtlCol="0" anchor="t">
            <a:normAutofit/>
          </a:bodyPr>
          <a:lstStyle/>
          <a:p>
            <a:pPr algn="l" indent="0" marL="0">
              <a:lnSpc>
                <a:spcPct val="138182"/>
              </a:lnSpc>
              <a:buNone/>
            </a:pPr>
            <a:r>
              <a:rPr lang="en-US" sz="1425" b="1" spc="86" kern="0" dirty="0">
                <a:solidFill>
                  <a:srgbClr val="6B7280"/>
                </a:solidFill>
                <a:latin typeface="Arial" pitchFamily="34" charset="0"/>
                <a:ea typeface="Arial" pitchFamily="34" charset="-122"/>
                <a:cs typeface="Arial" pitchFamily="34" charset="-120"/>
              </a:rPr>
              <a:t>FONTE — CIVIL RESOLUTION TRIBUNAL, BRITISH COLUMBIA (CANADA), FEBBRAIO 2024</a:t>
            </a:r>
            <a:endParaRPr lang="en-US" sz="1425" dirty="0"/>
          </a:p>
        </p:txBody>
      </p:sp>
      <p:pic>
        <p:nvPicPr>
          <p:cNvPr id="16"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7"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23</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LA REGOLA PRATICA</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Il livello di verifica dipende dall'uso</a:t>
            </a:r>
            <a:endParaRPr lang="en-US" sz="3450" dirty="0"/>
          </a:p>
        </p:txBody>
      </p:sp>
      <p:sp>
        <p:nvSpPr>
          <p:cNvPr id="4" name="Shape 2"/>
          <p:cNvSpPr/>
          <p:nvPr/>
        </p:nvSpPr>
        <p:spPr>
          <a:xfrm>
            <a:off x="952500" y="2458194"/>
            <a:ext cx="8020050" cy="3278237"/>
          </a:xfrm>
          <a:prstGeom prst="roundRect">
            <a:avLst>
              <a:gd name="adj" fmla="val 2324"/>
            </a:avLst>
          </a:prstGeom>
          <a:solidFill>
            <a:srgbClr val="FFFFFF"/>
          </a:solidFill>
          <a:ln/>
        </p:spPr>
      </p:sp>
      <p:sp>
        <p:nvSpPr>
          <p:cNvPr id="5" name="Text 3"/>
          <p:cNvSpPr/>
          <p:nvPr/>
        </p:nvSpPr>
        <p:spPr>
          <a:xfrm>
            <a:off x="1371600" y="2915394"/>
            <a:ext cx="7397306"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spc="90" kern="0" dirty="0">
                <a:solidFill>
                  <a:srgbClr val="6B7280"/>
                </a:solidFill>
                <a:latin typeface="Arial" pitchFamily="34" charset="0"/>
                <a:ea typeface="Arial" pitchFamily="34" charset="-122"/>
                <a:cs typeface="Arial" pitchFamily="34" charset="-120"/>
              </a:rPr>
              <a:t>USO INTERNO · BASSA POSTA</a:t>
            </a:r>
            <a:endParaRPr lang="en-US" sz="1500" dirty="0"/>
          </a:p>
        </p:txBody>
      </p:sp>
      <p:sp>
        <p:nvSpPr>
          <p:cNvPr id="6" name="Text 4"/>
          <p:cNvSpPr/>
          <p:nvPr/>
        </p:nvSpPr>
        <p:spPr>
          <a:xfrm>
            <a:off x="1371600" y="3391644"/>
            <a:ext cx="7900035" cy="495300"/>
          </a:xfrm>
          <a:prstGeom prst="rect">
            <a:avLst/>
          </a:prstGeom>
          <a:noFill/>
          <a:ln/>
        </p:spPr>
        <p:txBody>
          <a:bodyPr wrap="square" lIns="25400" tIns="25400" rIns="25400" bIns="25400" rtlCol="0" anchor="t">
            <a:normAutofit/>
          </a:bodyPr>
          <a:lstStyle/>
          <a:p>
            <a:pPr algn="l" indent="0" marL="0">
              <a:lnSpc>
                <a:spcPct val="85714"/>
              </a:lnSpc>
              <a:buNone/>
            </a:pPr>
            <a:r>
              <a:rPr lang="en-US" sz="3000" b="1" dirty="0">
                <a:solidFill>
                  <a:srgbClr val="1F569E"/>
                </a:solidFill>
                <a:latin typeface="Arial" pitchFamily="34" charset="0"/>
                <a:ea typeface="Arial" pitchFamily="34" charset="-122"/>
                <a:cs typeface="Arial" pitchFamily="34" charset="-120"/>
              </a:rPr>
              <a:t>Lettura critica</a:t>
            </a:r>
            <a:endParaRPr lang="en-US" sz="3000" dirty="0"/>
          </a:p>
        </p:txBody>
      </p:sp>
      <p:sp>
        <p:nvSpPr>
          <p:cNvPr id="7" name="Text 5"/>
          <p:cNvSpPr/>
          <p:nvPr/>
        </p:nvSpPr>
        <p:spPr>
          <a:xfrm>
            <a:off x="1371600" y="4039344"/>
            <a:ext cx="7397306" cy="864691"/>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1A1A1A"/>
                </a:solidFill>
                <a:latin typeface="Arial" pitchFamily="34" charset="0"/>
                <a:ea typeface="Arial" pitchFamily="34" charset="-122"/>
                <a:cs typeface="Arial" pitchFamily="34" charset="-120"/>
              </a:rPr>
              <a:t>Una bozza da rivedere, un'idea da scartare o tenere, un riassunto per orientarsi: il costo di un errore residuo è basso.</a:t>
            </a:r>
            <a:endParaRPr lang="en-US" sz="2100" dirty="0"/>
          </a:p>
        </p:txBody>
      </p:sp>
      <p:sp>
        <p:nvSpPr>
          <p:cNvPr id="8" name="Shape 6"/>
          <p:cNvSpPr/>
          <p:nvPr/>
        </p:nvSpPr>
        <p:spPr>
          <a:xfrm>
            <a:off x="9315450" y="2458194"/>
            <a:ext cx="8020050" cy="3278237"/>
          </a:xfrm>
          <a:prstGeom prst="roundRect">
            <a:avLst>
              <a:gd name="adj" fmla="val 2324"/>
            </a:avLst>
          </a:prstGeom>
          <a:solidFill>
            <a:srgbClr val="FFFFFF"/>
          </a:solidFill>
          <a:ln/>
        </p:spPr>
      </p:sp>
      <p:sp>
        <p:nvSpPr>
          <p:cNvPr id="9" name="Text 7"/>
          <p:cNvSpPr/>
          <p:nvPr/>
        </p:nvSpPr>
        <p:spPr>
          <a:xfrm>
            <a:off x="9734550" y="2915394"/>
            <a:ext cx="7397306"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spc="90" kern="0" dirty="0">
                <a:solidFill>
                  <a:srgbClr val="0E8A82"/>
                </a:solidFill>
                <a:latin typeface="Arial" pitchFamily="34" charset="0"/>
                <a:ea typeface="Arial" pitchFamily="34" charset="-122"/>
                <a:cs typeface="Arial" pitchFamily="34" charset="-120"/>
              </a:rPr>
              <a:t>ESCE DALL'AZIENDA · CONTA</a:t>
            </a:r>
            <a:endParaRPr lang="en-US" sz="1500" dirty="0"/>
          </a:p>
        </p:txBody>
      </p:sp>
      <p:sp>
        <p:nvSpPr>
          <p:cNvPr id="10" name="Text 8"/>
          <p:cNvSpPr/>
          <p:nvPr/>
        </p:nvSpPr>
        <p:spPr>
          <a:xfrm>
            <a:off x="9734550" y="3391644"/>
            <a:ext cx="7900035" cy="495300"/>
          </a:xfrm>
          <a:prstGeom prst="rect">
            <a:avLst/>
          </a:prstGeom>
          <a:noFill/>
          <a:ln/>
        </p:spPr>
        <p:txBody>
          <a:bodyPr wrap="square" lIns="25400" tIns="25400" rIns="25400" bIns="25400" rtlCol="0" anchor="t">
            <a:normAutofit/>
          </a:bodyPr>
          <a:lstStyle/>
          <a:p>
            <a:pPr algn="l" indent="0" marL="0">
              <a:lnSpc>
                <a:spcPct val="85714"/>
              </a:lnSpc>
              <a:buNone/>
            </a:pPr>
            <a:r>
              <a:rPr lang="en-US" sz="3000" b="1" dirty="0">
                <a:solidFill>
                  <a:srgbClr val="1F569E"/>
                </a:solidFill>
                <a:latin typeface="Arial" pitchFamily="34" charset="0"/>
                <a:ea typeface="Arial" pitchFamily="34" charset="-122"/>
                <a:cs typeface="Arial" pitchFamily="34" charset="-120"/>
              </a:rPr>
              <a:t>Sempre fonte primaria</a:t>
            </a:r>
            <a:endParaRPr lang="en-US" sz="3000" dirty="0"/>
          </a:p>
        </p:txBody>
      </p:sp>
      <p:sp>
        <p:nvSpPr>
          <p:cNvPr id="11" name="Text 9"/>
          <p:cNvSpPr/>
          <p:nvPr/>
        </p:nvSpPr>
        <p:spPr>
          <a:xfrm>
            <a:off x="9734550" y="4039344"/>
            <a:ext cx="7397306" cy="1277987"/>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1A1A1A"/>
                </a:solidFill>
                <a:latin typeface="Arial" pitchFamily="34" charset="0"/>
                <a:ea typeface="Arial" pitchFamily="34" charset="-122"/>
                <a:cs typeface="Arial" pitchFamily="34" charset="-120"/>
              </a:rPr>
              <a:t>Un'email a un cliente, un dato in un'offerta, un riferimento normativo, una cifra in un contratto: si verifica sempre prima di usarla.</a:t>
            </a:r>
            <a:endParaRPr lang="en-US" sz="2100" dirty="0"/>
          </a:p>
        </p:txBody>
      </p:sp>
      <p:sp>
        <p:nvSpPr>
          <p:cNvPr id="12" name="Shape 10"/>
          <p:cNvSpPr/>
          <p:nvPr/>
        </p:nvSpPr>
        <p:spPr>
          <a:xfrm>
            <a:off x="952500" y="6193631"/>
            <a:ext cx="16383000" cy="1119188"/>
          </a:xfrm>
          <a:prstGeom prst="roundRect">
            <a:avLst>
              <a:gd name="adj" fmla="val 6809"/>
            </a:avLst>
          </a:prstGeom>
          <a:solidFill>
            <a:srgbClr val="FFFFFF"/>
          </a:solidFill>
          <a:ln w="9525">
            <a:solidFill>
              <a:srgbClr val="E5E7EB"/>
            </a:solidFill>
            <a:prstDash val="solid"/>
          </a:ln>
        </p:spPr>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43025" y="6584156"/>
            <a:ext cx="323850" cy="323850"/>
          </a:xfrm>
          <a:prstGeom prst="rect">
            <a:avLst/>
          </a:prstGeom>
        </p:spPr>
      </p:pic>
      <p:sp>
        <p:nvSpPr>
          <p:cNvPr id="14" name="Text 11"/>
          <p:cNvSpPr/>
          <p:nvPr/>
        </p:nvSpPr>
        <p:spPr>
          <a:xfrm>
            <a:off x="1876425" y="6546056"/>
            <a:ext cx="15773221" cy="452438"/>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1A1A1A"/>
                </a:solidFill>
                <a:latin typeface="Arial" pitchFamily="34" charset="0"/>
                <a:ea typeface="Arial" pitchFamily="34" charset="-122"/>
                <a:cs typeface="Arial" pitchFamily="34" charset="-120"/>
              </a:rPr>
              <a:t>Chiedere di nuovo all'AI non è una verifica: può confermare un errore con la stessa disinvoltura con cui l'ha inventato.</a:t>
            </a:r>
            <a:endParaRPr lang="en-US" sz="2175" dirty="0"/>
          </a:p>
        </p:txBody>
      </p:sp>
      <p:pic>
        <p:nvPicPr>
          <p:cNvPr id="15" name="Image 1" descr="preencoded.png">    </p:cNvPr>
          <p:cNvPicPr>
            <a:picLocks noChangeAspect="1"/>
          </p:cNvPicPr>
          <p:nvPr/>
        </p:nvPicPr>
        <p:blipFill>
          <a:blip r:embed="rId3"/>
          <a:stretch>
            <a:fillRect/>
          </a:stretch>
        </p:blipFill>
        <p:spPr>
          <a:xfrm>
            <a:off x="952500" y="9544050"/>
            <a:ext cx="882997" cy="323850"/>
          </a:xfrm>
          <a:prstGeom prst="rect">
            <a:avLst/>
          </a:prstGeom>
        </p:spPr>
      </p:pic>
      <p:sp>
        <p:nvSpPr>
          <p:cNvPr id="16" name="Text 12"/>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24</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3C6E"/>
        </a:solidFill>
      </p:bgPr>
    </p:bg>
    <p:spTree>
      <p:nvGrpSpPr>
        <p:cNvPr id="1" name=""/>
        <p:cNvGrpSpPr/>
        <p:nvPr/>
      </p:nvGrpSpPr>
      <p:grpSpPr>
        <a:xfrm>
          <a:off x="0" y="0"/>
          <a:ext cx="0" cy="0"/>
          <a:chOff x="0" y="0"/>
          <a:chExt cx="0" cy="0"/>
        </a:xfrm>
      </p:grpSpPr>
      <p:sp>
        <p:nvSpPr>
          <p:cNvPr id="2" name="Text 0"/>
          <p:cNvSpPr/>
          <p:nvPr/>
        </p:nvSpPr>
        <p:spPr>
          <a:xfrm>
            <a:off x="1333500" y="2511772"/>
            <a:ext cx="171831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7FD4CC"/>
                </a:solidFill>
                <a:latin typeface="Arial" pitchFamily="34" charset="0"/>
                <a:ea typeface="Arial" pitchFamily="34" charset="-122"/>
                <a:cs typeface="Arial" pitchFamily="34" charset="-120"/>
              </a:rPr>
              <a:t>DA PORTARE A CASA</a:t>
            </a:r>
            <a:endParaRPr lang="en-US" sz="1650" dirty="0"/>
          </a:p>
        </p:txBody>
      </p:sp>
      <p:sp>
        <p:nvSpPr>
          <p:cNvPr id="3" name="Text 1"/>
          <p:cNvSpPr/>
          <p:nvPr/>
        </p:nvSpPr>
        <p:spPr>
          <a:xfrm>
            <a:off x="1333500" y="3075533"/>
            <a:ext cx="15716250" cy="592782"/>
          </a:xfrm>
          <a:prstGeom prst="rect">
            <a:avLst/>
          </a:prstGeom>
          <a:noFill/>
          <a:ln/>
        </p:spPr>
        <p:txBody>
          <a:bodyPr wrap="square" lIns="25400" tIns="25400" rIns="25400" bIns="25400" rtlCol="0" anchor="t">
            <a:normAutofit/>
          </a:bodyPr>
          <a:lstStyle/>
          <a:p>
            <a:pPr algn="l" indent="0" marL="0">
              <a:lnSpc>
                <a:spcPct val="79781"/>
              </a:lnSpc>
              <a:buNone/>
            </a:pPr>
            <a:r>
              <a:rPr lang="en-US" sz="3900" b="1" dirty="0">
                <a:solidFill>
                  <a:srgbClr val="FFFFFF"/>
                </a:solidFill>
                <a:latin typeface="Arial" pitchFamily="34" charset="0"/>
                <a:ea typeface="Arial" pitchFamily="34" charset="-122"/>
                <a:cs typeface="Arial" pitchFamily="34" charset="-120"/>
              </a:rPr>
              <a:t>Tre cose da tenere</a:t>
            </a:r>
            <a:endParaRPr lang="en-US" sz="3900" dirty="0"/>
          </a:p>
        </p:txBody>
      </p:sp>
      <p:sp>
        <p:nvSpPr>
          <p:cNvPr id="4" name="Text 2"/>
          <p:cNvSpPr/>
          <p:nvPr/>
        </p:nvSpPr>
        <p:spPr>
          <a:xfrm>
            <a:off x="1333500" y="4125516"/>
            <a:ext cx="6858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7FD4CC"/>
                </a:solidFill>
                <a:latin typeface="Arial" pitchFamily="34" charset="0"/>
                <a:ea typeface="Arial" pitchFamily="34" charset="-122"/>
                <a:cs typeface="Arial" pitchFamily="34" charset="-120"/>
              </a:rPr>
              <a:t>01</a:t>
            </a:r>
            <a:endParaRPr lang="en-US" sz="2550" dirty="0"/>
          </a:p>
        </p:txBody>
      </p:sp>
      <p:sp>
        <p:nvSpPr>
          <p:cNvPr id="5" name="Text 3"/>
          <p:cNvSpPr/>
          <p:nvPr/>
        </p:nvSpPr>
        <p:spPr>
          <a:xfrm>
            <a:off x="2247900" y="4125516"/>
            <a:ext cx="10925249" cy="556171"/>
          </a:xfrm>
          <a:prstGeom prst="rect">
            <a:avLst/>
          </a:prstGeom>
          <a:noFill/>
          <a:ln/>
        </p:spPr>
        <p:txBody>
          <a:bodyPr wrap="square" lIns="25400" tIns="25400" rIns="25400" bIns="25400" rtlCol="0" anchor="t">
            <a:normAutofit/>
          </a:bodyPr>
          <a:lstStyle/>
          <a:p>
            <a:pPr algn="l" indent="0" marL="0">
              <a:lnSpc>
                <a:spcPct val="139487"/>
              </a:lnSpc>
              <a:buNone/>
            </a:pPr>
            <a:r>
              <a:rPr lang="en-US" sz="2550" b="1" dirty="0">
                <a:solidFill>
                  <a:srgbClr val="FFFFFF"/>
                </a:solidFill>
                <a:latin typeface="Arial" pitchFamily="34" charset="0"/>
                <a:ea typeface="Arial" pitchFamily="34" charset="-122"/>
                <a:cs typeface="Arial" pitchFamily="34" charset="-120"/>
              </a:rPr>
              <a:t>Non è segnalata</a:t>
            </a:r>
            <a:endParaRPr lang="en-US" sz="2550" dirty="0"/>
          </a:p>
        </p:txBody>
      </p:sp>
      <p:sp>
        <p:nvSpPr>
          <p:cNvPr id="6" name="Text 4"/>
          <p:cNvSpPr/>
          <p:nvPr/>
        </p:nvSpPr>
        <p:spPr>
          <a:xfrm>
            <a:off x="2247900" y="4738836"/>
            <a:ext cx="10925249"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FFFFFF">
                    <a:alpha val="80000"/>
                  </a:srgbClr>
                </a:solidFill>
                <a:latin typeface="Arial" pitchFamily="34" charset="0"/>
                <a:ea typeface="Arial" pitchFamily="34" charset="-122"/>
                <a:cs typeface="Arial" pitchFamily="34" charset="-120"/>
              </a:rPr>
              <a:t>Il tono sicuro non è mai un indicatore di correttezza: si legge sempre in modo critico.</a:t>
            </a:r>
            <a:endParaRPr lang="en-US" sz="2100" dirty="0"/>
          </a:p>
        </p:txBody>
      </p:sp>
      <p:sp>
        <p:nvSpPr>
          <p:cNvPr id="7" name="Text 5"/>
          <p:cNvSpPr/>
          <p:nvPr/>
        </p:nvSpPr>
        <p:spPr>
          <a:xfrm>
            <a:off x="1333500" y="5443686"/>
            <a:ext cx="6858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7FD4CC"/>
                </a:solidFill>
                <a:latin typeface="Arial" pitchFamily="34" charset="0"/>
                <a:ea typeface="Arial" pitchFamily="34" charset="-122"/>
                <a:cs typeface="Arial" pitchFamily="34" charset="-120"/>
              </a:rPr>
              <a:t>02</a:t>
            </a:r>
            <a:endParaRPr lang="en-US" sz="2550" dirty="0"/>
          </a:p>
        </p:txBody>
      </p:sp>
      <p:sp>
        <p:nvSpPr>
          <p:cNvPr id="8" name="Text 6"/>
          <p:cNvSpPr/>
          <p:nvPr/>
        </p:nvSpPr>
        <p:spPr>
          <a:xfrm>
            <a:off x="2247900" y="5443686"/>
            <a:ext cx="11144622" cy="556171"/>
          </a:xfrm>
          <a:prstGeom prst="rect">
            <a:avLst/>
          </a:prstGeom>
          <a:noFill/>
          <a:ln/>
        </p:spPr>
        <p:txBody>
          <a:bodyPr wrap="square" lIns="25400" tIns="25400" rIns="25400" bIns="25400" rtlCol="0" anchor="t">
            <a:normAutofit/>
          </a:bodyPr>
          <a:lstStyle/>
          <a:p>
            <a:pPr algn="l" indent="0" marL="0">
              <a:lnSpc>
                <a:spcPct val="139487"/>
              </a:lnSpc>
              <a:buNone/>
            </a:pPr>
            <a:r>
              <a:rPr lang="en-US" sz="2550" b="1" dirty="0">
                <a:solidFill>
                  <a:srgbClr val="FFFFFF"/>
                </a:solidFill>
                <a:latin typeface="Arial" pitchFamily="34" charset="0"/>
                <a:ea typeface="Arial" pitchFamily="34" charset="-122"/>
                <a:cs typeface="Arial" pitchFamily="34" charset="-120"/>
              </a:rPr>
              <a:t>Alto rischio → fonte primaria</a:t>
            </a:r>
            <a:endParaRPr lang="en-US" sz="2550" dirty="0"/>
          </a:p>
        </p:txBody>
      </p:sp>
      <p:sp>
        <p:nvSpPr>
          <p:cNvPr id="9" name="Text 7"/>
          <p:cNvSpPr/>
          <p:nvPr/>
        </p:nvSpPr>
        <p:spPr>
          <a:xfrm>
            <a:off x="2247900" y="6057007"/>
            <a:ext cx="11144622"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FFFFFF">
                    <a:alpha val="80000"/>
                  </a:srgbClr>
                </a:solidFill>
                <a:latin typeface="Arial" pitchFamily="34" charset="0"/>
                <a:ea typeface="Arial" pitchFamily="34" charset="-122"/>
                <a:cs typeface="Arial" pitchFamily="34" charset="-120"/>
              </a:rPr>
              <a:t>Ciò che esce dall'azienda o conta in un documento si verifica sempre, prima di usarlo.</a:t>
            </a:r>
            <a:endParaRPr lang="en-US" sz="2100" dirty="0"/>
          </a:p>
        </p:txBody>
      </p:sp>
      <p:sp>
        <p:nvSpPr>
          <p:cNvPr id="10" name="Text 8"/>
          <p:cNvSpPr/>
          <p:nvPr/>
        </p:nvSpPr>
        <p:spPr>
          <a:xfrm>
            <a:off x="1333500" y="6761857"/>
            <a:ext cx="6858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7FD4CC"/>
                </a:solidFill>
                <a:latin typeface="Arial" pitchFamily="34" charset="0"/>
                <a:ea typeface="Arial" pitchFamily="34" charset="-122"/>
                <a:cs typeface="Arial" pitchFamily="34" charset="-120"/>
              </a:rPr>
              <a:t>03</a:t>
            </a:r>
            <a:endParaRPr lang="en-US" sz="2550" dirty="0"/>
          </a:p>
        </p:txBody>
      </p:sp>
      <p:sp>
        <p:nvSpPr>
          <p:cNvPr id="11" name="Text 9"/>
          <p:cNvSpPr/>
          <p:nvPr/>
        </p:nvSpPr>
        <p:spPr>
          <a:xfrm>
            <a:off x="2247900" y="6761857"/>
            <a:ext cx="13164160" cy="556171"/>
          </a:xfrm>
          <a:prstGeom prst="rect">
            <a:avLst/>
          </a:prstGeom>
          <a:noFill/>
          <a:ln/>
        </p:spPr>
        <p:txBody>
          <a:bodyPr wrap="square" lIns="25400" tIns="25400" rIns="25400" bIns="25400" rtlCol="0" anchor="t">
            <a:normAutofit/>
          </a:bodyPr>
          <a:lstStyle/>
          <a:p>
            <a:pPr algn="l" indent="0" marL="0">
              <a:lnSpc>
                <a:spcPct val="139487"/>
              </a:lnSpc>
              <a:buNone/>
            </a:pPr>
            <a:r>
              <a:rPr lang="en-US" sz="2550" b="1" dirty="0">
                <a:solidFill>
                  <a:srgbClr val="FFFFFF"/>
                </a:solidFill>
                <a:latin typeface="Arial" pitchFamily="34" charset="0"/>
                <a:ea typeface="Arial" pitchFamily="34" charset="-122"/>
                <a:cs typeface="Arial" pitchFamily="34" charset="-120"/>
              </a:rPr>
              <a:t>Tra poco, dal vivo</a:t>
            </a:r>
            <a:endParaRPr lang="en-US" sz="2550" dirty="0"/>
          </a:p>
        </p:txBody>
      </p:sp>
      <p:sp>
        <p:nvSpPr>
          <p:cNvPr id="12" name="Text 10"/>
          <p:cNvSpPr/>
          <p:nvPr/>
        </p:nvSpPr>
        <p:spPr>
          <a:xfrm>
            <a:off x="2247900" y="7375178"/>
            <a:ext cx="13164160"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FFFFFF">
                    <a:alpha val="80000"/>
                  </a:srgbClr>
                </a:solidFill>
                <a:latin typeface="Arial" pitchFamily="34" charset="0"/>
                <a:ea typeface="Arial" pitchFamily="34" charset="-122"/>
                <a:cs typeface="Arial" pitchFamily="34" charset="-120"/>
              </a:rPr>
              <a:t>Nell'esercizio di prompting: un prompt vago lascia all'AI gli stessi vuoti da riempire di un'allucinazione.</a:t>
            </a:r>
            <a:endParaRPr lang="en-US" sz="2100" dirty="0"/>
          </a:p>
        </p:txBody>
      </p:sp>
      <p:sp>
        <p:nvSpPr>
          <p:cNvPr id="13" name="Shape 11"/>
          <p:cNvSpPr/>
          <p:nvPr/>
        </p:nvSpPr>
        <p:spPr>
          <a:xfrm>
            <a:off x="952500" y="9429750"/>
            <a:ext cx="1083915" cy="438150"/>
          </a:xfrm>
          <a:prstGeom prst="roundRect">
            <a:avLst>
              <a:gd name="adj" fmla="val 13043"/>
            </a:avLst>
          </a:prstGeom>
          <a:solidFill>
            <a:srgbClr val="FFFFFF"/>
          </a:solidFill>
          <a:ln/>
        </p:spPr>
      </p:sp>
      <p:pic>
        <p:nvPicPr>
          <p:cNvPr id="14" name="Image 0" descr="preencoded.png">    </p:cNvPr>
          <p:cNvPicPr>
            <a:picLocks noChangeAspect="1"/>
          </p:cNvPicPr>
          <p:nvPr/>
        </p:nvPicPr>
        <p:blipFill>
          <a:blip r:embed="rId1"/>
          <a:stretch>
            <a:fillRect/>
          </a:stretch>
        </p:blipFill>
        <p:spPr>
          <a:xfrm>
            <a:off x="1104900" y="9505950"/>
            <a:ext cx="779115" cy="285750"/>
          </a:xfrm>
          <a:prstGeom prst="rect">
            <a:avLst/>
          </a:prstGeom>
        </p:spPr>
      </p:pic>
      <p:sp>
        <p:nvSpPr>
          <p:cNvPr id="15" name="Text 12"/>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FFFFFF">
                    <a:alpha val="50000"/>
                  </a:srgbClr>
                </a:solidFill>
                <a:latin typeface="Arial" pitchFamily="34" charset="0"/>
                <a:ea typeface="Arial" pitchFamily="34" charset="-122"/>
                <a:cs typeface="Arial" pitchFamily="34" charset="-120"/>
              </a:rPr>
              <a:t>25</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3C6E"/>
        </a:solidFill>
      </p:bgPr>
    </p:bg>
    <p:spTree>
      <p:nvGrpSpPr>
        <p:cNvPr id="1" name=""/>
        <p:cNvGrpSpPr/>
        <p:nvPr/>
      </p:nvGrpSpPr>
      <p:grpSpPr>
        <a:xfrm>
          <a:off x="0" y="0"/>
          <a:ext cx="0" cy="0"/>
          <a:chOff x="0" y="0"/>
          <a:chExt cx="0" cy="0"/>
        </a:xfrm>
      </p:grpSpPr>
      <p:sp>
        <p:nvSpPr>
          <p:cNvPr id="2" name="Text 0"/>
          <p:cNvSpPr/>
          <p:nvPr/>
        </p:nvSpPr>
        <p:spPr>
          <a:xfrm>
            <a:off x="1333500" y="4078337"/>
            <a:ext cx="171831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7FD4CC"/>
                </a:solidFill>
                <a:latin typeface="Arial" pitchFamily="34" charset="0"/>
                <a:ea typeface="Arial" pitchFamily="34" charset="-122"/>
                <a:cs typeface="Arial" pitchFamily="34" charset="-120"/>
              </a:rPr>
              <a:t>GIORNATA 1 · FORMAZIONE AI GENERATIVA · AGRITECH</a:t>
            </a:r>
            <a:endParaRPr lang="en-US" sz="1650" dirty="0"/>
          </a:p>
        </p:txBody>
      </p:sp>
      <p:sp>
        <p:nvSpPr>
          <p:cNvPr id="3" name="Text 1"/>
          <p:cNvSpPr/>
          <p:nvPr/>
        </p:nvSpPr>
        <p:spPr>
          <a:xfrm>
            <a:off x="1333500" y="4680198"/>
            <a:ext cx="15716250" cy="720775"/>
          </a:xfrm>
          <a:prstGeom prst="rect">
            <a:avLst/>
          </a:prstGeom>
          <a:noFill/>
          <a:ln/>
        </p:spPr>
        <p:txBody>
          <a:bodyPr wrap="square" lIns="25400" tIns="25400" rIns="25400" bIns="25400" rtlCol="0" anchor="t">
            <a:normAutofit/>
          </a:bodyPr>
          <a:lstStyle/>
          <a:p>
            <a:pPr algn="l" indent="0" marL="0">
              <a:lnSpc>
                <a:spcPct val="79644"/>
              </a:lnSpc>
              <a:buNone/>
            </a:pPr>
            <a:r>
              <a:rPr lang="en-US" sz="4800" b="1" dirty="0">
                <a:solidFill>
                  <a:srgbClr val="FFFFFF"/>
                </a:solidFill>
                <a:latin typeface="Arial" pitchFamily="34" charset="0"/>
                <a:ea typeface="Arial" pitchFamily="34" charset="-122"/>
                <a:cs typeface="Arial" pitchFamily="34" charset="-120"/>
              </a:rPr>
              <a:t>Panoramica del mercato</a:t>
            </a:r>
            <a:endParaRPr lang="en-US" sz="4800" dirty="0"/>
          </a:p>
        </p:txBody>
      </p:sp>
      <p:sp>
        <p:nvSpPr>
          <p:cNvPr id="4" name="Text 2"/>
          <p:cNvSpPr/>
          <p:nvPr/>
        </p:nvSpPr>
        <p:spPr>
          <a:xfrm>
            <a:off x="1333500" y="5629573"/>
            <a:ext cx="12573000" cy="617190"/>
          </a:xfrm>
          <a:prstGeom prst="rect">
            <a:avLst/>
          </a:prstGeom>
          <a:noFill/>
          <a:ln/>
        </p:spPr>
        <p:txBody>
          <a:bodyPr wrap="square" lIns="25400" tIns="25400" rIns="25400" bIns="25400" rtlCol="0" anchor="t">
            <a:normAutofit/>
          </a:bodyPr>
          <a:lstStyle/>
          <a:p>
            <a:pPr algn="l" indent="0" marL="0">
              <a:lnSpc>
                <a:spcPct val="141395"/>
              </a:lnSpc>
              <a:buNone/>
            </a:pPr>
            <a:r>
              <a:rPr lang="en-US" sz="2850" dirty="0">
                <a:solidFill>
                  <a:srgbClr val="FFFFFF">
                    <a:alpha val="72000"/>
                  </a:srgbClr>
                </a:solidFill>
                <a:latin typeface="Arial" pitchFamily="34" charset="0"/>
                <a:ea typeface="Arial" pitchFamily="34" charset="-122"/>
                <a:cs typeface="Arial" pitchFamily="34" charset="-120"/>
              </a:rPr>
              <a:t>Le famiglie di strumenti, senza vincitori</a:t>
            </a:r>
            <a:endParaRPr lang="en-US" sz="2850" dirty="0"/>
          </a:p>
        </p:txBody>
      </p:sp>
      <p:sp>
        <p:nvSpPr>
          <p:cNvPr id="5" name="Shape 3"/>
          <p:cNvSpPr/>
          <p:nvPr/>
        </p:nvSpPr>
        <p:spPr>
          <a:xfrm>
            <a:off x="952500" y="9391650"/>
            <a:ext cx="1187797" cy="476250"/>
          </a:xfrm>
          <a:prstGeom prst="roundRect">
            <a:avLst>
              <a:gd name="adj" fmla="val 12000"/>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104900" y="9467850"/>
            <a:ext cx="882997" cy="323850"/>
          </a:xfrm>
          <a:prstGeom prst="rect">
            <a:avLst/>
          </a:prstGeom>
        </p:spPr>
      </p:pic>
      <p:sp>
        <p:nvSpPr>
          <p:cNvPr id="7" name="Text 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FFFFFF">
                    <a:alpha val="50000"/>
                  </a:srgbClr>
                </a:solidFill>
                <a:latin typeface="Arial" pitchFamily="34" charset="0"/>
                <a:ea typeface="Arial" pitchFamily="34" charset="-122"/>
                <a:cs typeface="Arial" pitchFamily="34" charset="-120"/>
              </a:rPr>
              <a:t>26</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IN QUESTO BLOCCO</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Quattro passaggi per orientarsi</a:t>
            </a:r>
            <a:endParaRPr lang="en-US" sz="3450" dirty="0"/>
          </a:p>
        </p:txBody>
      </p:sp>
      <p:sp>
        <p:nvSpPr>
          <p:cNvPr id="4" name="Shape 2"/>
          <p:cNvSpPr/>
          <p:nvPr/>
        </p:nvSpPr>
        <p:spPr>
          <a:xfrm>
            <a:off x="952500" y="3223915"/>
            <a:ext cx="7410450" cy="9525"/>
          </a:xfrm>
          <a:prstGeom prst="rect">
            <a:avLst/>
          </a:prstGeom>
          <a:solidFill>
            <a:srgbClr val="E5E7EB"/>
          </a:solidFill>
          <a:ln/>
        </p:spPr>
      </p:sp>
      <p:sp>
        <p:nvSpPr>
          <p:cNvPr id="5" name="Text 3"/>
          <p:cNvSpPr/>
          <p:nvPr/>
        </p:nvSpPr>
        <p:spPr>
          <a:xfrm>
            <a:off x="952500" y="2496294"/>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01</a:t>
            </a:r>
            <a:endParaRPr lang="en-US" sz="2550" dirty="0"/>
          </a:p>
        </p:txBody>
      </p:sp>
      <p:sp>
        <p:nvSpPr>
          <p:cNvPr id="6" name="Text 4"/>
          <p:cNvSpPr/>
          <p:nvPr/>
        </p:nvSpPr>
        <p:spPr>
          <a:xfrm>
            <a:off x="1752600" y="2572494"/>
            <a:ext cx="3991927"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Perché conta per un'azienda</a:t>
            </a:r>
            <a:endParaRPr lang="en-US" sz="2250" dirty="0"/>
          </a:p>
        </p:txBody>
      </p:sp>
      <p:sp>
        <p:nvSpPr>
          <p:cNvPr id="7" name="Shape 5"/>
          <p:cNvSpPr/>
          <p:nvPr/>
        </p:nvSpPr>
        <p:spPr>
          <a:xfrm>
            <a:off x="8972550" y="3223915"/>
            <a:ext cx="7410450" cy="9525"/>
          </a:xfrm>
          <a:prstGeom prst="rect">
            <a:avLst/>
          </a:prstGeom>
          <a:solidFill>
            <a:srgbClr val="E5E7EB"/>
          </a:solidFill>
          <a:ln/>
        </p:spPr>
      </p:sp>
      <p:sp>
        <p:nvSpPr>
          <p:cNvPr id="8" name="Text 6"/>
          <p:cNvSpPr/>
          <p:nvPr/>
        </p:nvSpPr>
        <p:spPr>
          <a:xfrm>
            <a:off x="8972550" y="2496294"/>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02</a:t>
            </a:r>
            <a:endParaRPr lang="en-US" sz="2550" dirty="0"/>
          </a:p>
        </p:txBody>
      </p:sp>
      <p:sp>
        <p:nvSpPr>
          <p:cNvPr id="9" name="Text 7"/>
          <p:cNvSpPr/>
          <p:nvPr/>
        </p:nvSpPr>
        <p:spPr>
          <a:xfrm>
            <a:off x="9772650" y="2572494"/>
            <a:ext cx="3512254"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La mappa in due famiglie</a:t>
            </a:r>
            <a:endParaRPr lang="en-US" sz="2250" dirty="0"/>
          </a:p>
        </p:txBody>
      </p:sp>
      <p:sp>
        <p:nvSpPr>
          <p:cNvPr id="10" name="Shape 8"/>
          <p:cNvSpPr/>
          <p:nvPr/>
        </p:nvSpPr>
        <p:spPr>
          <a:xfrm>
            <a:off x="952500" y="4227761"/>
            <a:ext cx="7410450" cy="9525"/>
          </a:xfrm>
          <a:prstGeom prst="rect">
            <a:avLst/>
          </a:prstGeom>
          <a:solidFill>
            <a:srgbClr val="E5E7EB"/>
          </a:solidFill>
          <a:ln/>
        </p:spPr>
      </p:sp>
      <p:sp>
        <p:nvSpPr>
          <p:cNvPr id="11" name="Text 9"/>
          <p:cNvSpPr/>
          <p:nvPr/>
        </p:nvSpPr>
        <p:spPr>
          <a:xfrm>
            <a:off x="952500" y="3500140"/>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03</a:t>
            </a:r>
            <a:endParaRPr lang="en-US" sz="2550" dirty="0"/>
          </a:p>
        </p:txBody>
      </p:sp>
      <p:sp>
        <p:nvSpPr>
          <p:cNvPr id="12" name="Text 10"/>
          <p:cNvSpPr/>
          <p:nvPr/>
        </p:nvSpPr>
        <p:spPr>
          <a:xfrm>
            <a:off x="1752600" y="3576340"/>
            <a:ext cx="2917984"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Pro e contro generali</a:t>
            </a:r>
            <a:endParaRPr lang="en-US" sz="2250" dirty="0"/>
          </a:p>
        </p:txBody>
      </p:sp>
      <p:sp>
        <p:nvSpPr>
          <p:cNvPr id="13" name="Shape 11"/>
          <p:cNvSpPr/>
          <p:nvPr/>
        </p:nvSpPr>
        <p:spPr>
          <a:xfrm>
            <a:off x="8972550" y="4227761"/>
            <a:ext cx="7410450" cy="9525"/>
          </a:xfrm>
          <a:prstGeom prst="rect">
            <a:avLst/>
          </a:prstGeom>
          <a:solidFill>
            <a:srgbClr val="E5E7EB"/>
          </a:solidFill>
          <a:ln/>
        </p:spPr>
      </p:sp>
      <p:sp>
        <p:nvSpPr>
          <p:cNvPr id="14" name="Text 12"/>
          <p:cNvSpPr/>
          <p:nvPr/>
        </p:nvSpPr>
        <p:spPr>
          <a:xfrm>
            <a:off x="8972550" y="3500140"/>
            <a:ext cx="609600" cy="556171"/>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0E8A82"/>
                </a:solidFill>
                <a:latin typeface="Arial" pitchFamily="34" charset="0"/>
                <a:ea typeface="Arial" pitchFamily="34" charset="-122"/>
                <a:cs typeface="Arial" pitchFamily="34" charset="-120"/>
              </a:rPr>
              <a:t>04</a:t>
            </a:r>
            <a:endParaRPr lang="en-US" sz="2550" dirty="0"/>
          </a:p>
        </p:txBody>
      </p:sp>
      <p:sp>
        <p:nvSpPr>
          <p:cNvPr id="15" name="Text 13"/>
          <p:cNvSpPr/>
          <p:nvPr/>
        </p:nvSpPr>
        <p:spPr>
          <a:xfrm>
            <a:off x="9772650" y="3576340"/>
            <a:ext cx="3005078"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1A1A1A"/>
                </a:solidFill>
                <a:latin typeface="Arial" pitchFamily="34" charset="0"/>
                <a:ea typeface="Arial" pitchFamily="34" charset="-122"/>
                <a:cs typeface="Arial" pitchFamily="34" charset="-120"/>
              </a:rPr>
              <a:t>I tre prodotti principali</a:t>
            </a:r>
            <a:endParaRPr lang="en-US" sz="2250" dirty="0"/>
          </a:p>
        </p:txBody>
      </p:sp>
      <p:pic>
        <p:nvPicPr>
          <p:cNvPr id="16"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7"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27</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PERCHÉ CONTA PER UN'AZIENDA</a:t>
            </a:r>
            <a:endParaRPr lang="en-US" sz="1650" dirty="0"/>
          </a:p>
        </p:txBody>
      </p:sp>
      <p:sp>
        <p:nvSpPr>
          <p:cNvPr id="3" name="Text 1"/>
          <p:cNvSpPr/>
          <p:nvPr/>
        </p:nvSpPr>
        <p:spPr>
          <a:xfrm>
            <a:off x="952500" y="1382911"/>
            <a:ext cx="14716125" cy="1045666"/>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La domanda utile non è "qual è la migliore AI", ma quale si adatta a questo compito.</a:t>
            </a:r>
            <a:endParaRPr lang="en-US" sz="3450" dirty="0"/>
          </a:p>
        </p:txBody>
      </p:sp>
      <p:sp>
        <p:nvSpPr>
          <p:cNvPr id="4" name="Shape 2"/>
          <p:cNvSpPr/>
          <p:nvPr/>
        </p:nvSpPr>
        <p:spPr>
          <a:xfrm>
            <a:off x="952500" y="2961977"/>
            <a:ext cx="5257800" cy="3557885"/>
          </a:xfrm>
          <a:prstGeom prst="roundRect">
            <a:avLst>
              <a:gd name="adj" fmla="val 2142"/>
            </a:avLst>
          </a:prstGeom>
          <a:solidFill>
            <a:srgbClr val="FFFFFF"/>
          </a:solidFill>
          <a:ln/>
        </p:spPr>
      </p:sp>
      <p:sp>
        <p:nvSpPr>
          <p:cNvPr id="5" name="Text 3"/>
          <p:cNvSpPr/>
          <p:nvPr/>
        </p:nvSpPr>
        <p:spPr>
          <a:xfrm>
            <a:off x="1295400" y="3381077"/>
            <a:ext cx="4709160" cy="495300"/>
          </a:xfrm>
          <a:prstGeom prst="rect">
            <a:avLst/>
          </a:prstGeom>
          <a:noFill/>
          <a:ln/>
        </p:spPr>
        <p:txBody>
          <a:bodyPr wrap="square" lIns="25400" tIns="25400" rIns="25400" bIns="25400" rtlCol="0" anchor="t">
            <a:normAutofit/>
          </a:bodyPr>
          <a:lstStyle/>
          <a:p>
            <a:pPr algn="l" indent="0" marL="0">
              <a:lnSpc>
                <a:spcPct val="114286"/>
              </a:lnSpc>
              <a:buNone/>
            </a:pPr>
            <a:r>
              <a:rPr lang="en-US" sz="2250" b="1" dirty="0">
                <a:solidFill>
                  <a:srgbClr val="0E8A82"/>
                </a:solidFill>
                <a:latin typeface="Arial" pitchFamily="34" charset="0"/>
                <a:ea typeface="Arial" pitchFamily="34" charset="-122"/>
                <a:cs typeface="Arial" pitchFamily="34" charset="-120"/>
              </a:rPr>
              <a:t>01</a:t>
            </a:r>
            <a:endParaRPr lang="en-US" sz="2250" dirty="0"/>
          </a:p>
        </p:txBody>
      </p:sp>
      <p:sp>
        <p:nvSpPr>
          <p:cNvPr id="6" name="Text 4"/>
          <p:cNvSpPr/>
          <p:nvPr/>
        </p:nvSpPr>
        <p:spPr>
          <a:xfrm>
            <a:off x="1295400" y="3990677"/>
            <a:ext cx="4709160"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1F569E"/>
                </a:solidFill>
                <a:latin typeface="Arial" pitchFamily="34" charset="0"/>
                <a:ea typeface="Arial" pitchFamily="34" charset="-122"/>
                <a:cs typeface="Arial" pitchFamily="34" charset="-120"/>
              </a:rPr>
              <a:t>Non esiste un solo strumento giusto</a:t>
            </a:r>
            <a:endParaRPr lang="en-US" sz="2400" dirty="0"/>
          </a:p>
        </p:txBody>
      </p:sp>
      <p:sp>
        <p:nvSpPr>
          <p:cNvPr id="7" name="Text 5"/>
          <p:cNvSpPr/>
          <p:nvPr/>
        </p:nvSpPr>
        <p:spPr>
          <a:xfrm>
            <a:off x="1295400" y="4905077"/>
            <a:ext cx="4709160" cy="1233785"/>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Strumenti diversi hanno equilibri diversi tra capacità, costo, integrazione e gestione dei dati.</a:t>
            </a:r>
            <a:endParaRPr lang="en-US" sz="2025" dirty="0"/>
          </a:p>
        </p:txBody>
      </p:sp>
      <p:sp>
        <p:nvSpPr>
          <p:cNvPr id="8" name="Shape 6"/>
          <p:cNvSpPr/>
          <p:nvPr/>
        </p:nvSpPr>
        <p:spPr>
          <a:xfrm>
            <a:off x="6515100" y="2961977"/>
            <a:ext cx="5257800" cy="3557885"/>
          </a:xfrm>
          <a:prstGeom prst="roundRect">
            <a:avLst>
              <a:gd name="adj" fmla="val 2142"/>
            </a:avLst>
          </a:prstGeom>
          <a:solidFill>
            <a:srgbClr val="FFFFFF"/>
          </a:solidFill>
          <a:ln/>
        </p:spPr>
      </p:sp>
      <p:sp>
        <p:nvSpPr>
          <p:cNvPr id="9" name="Text 7"/>
          <p:cNvSpPr/>
          <p:nvPr/>
        </p:nvSpPr>
        <p:spPr>
          <a:xfrm>
            <a:off x="6858000" y="3381077"/>
            <a:ext cx="4709160" cy="495300"/>
          </a:xfrm>
          <a:prstGeom prst="rect">
            <a:avLst/>
          </a:prstGeom>
          <a:noFill/>
          <a:ln/>
        </p:spPr>
        <p:txBody>
          <a:bodyPr wrap="square" lIns="25400" tIns="25400" rIns="25400" bIns="25400" rtlCol="0" anchor="t">
            <a:normAutofit/>
          </a:bodyPr>
          <a:lstStyle/>
          <a:p>
            <a:pPr algn="l" indent="0" marL="0">
              <a:lnSpc>
                <a:spcPct val="114286"/>
              </a:lnSpc>
              <a:buNone/>
            </a:pPr>
            <a:r>
              <a:rPr lang="en-US" sz="2250" b="1" dirty="0">
                <a:solidFill>
                  <a:srgbClr val="0E8A82"/>
                </a:solidFill>
                <a:latin typeface="Arial" pitchFamily="34" charset="0"/>
                <a:ea typeface="Arial" pitchFamily="34" charset="-122"/>
                <a:cs typeface="Arial" pitchFamily="34" charset="-120"/>
              </a:rPr>
              <a:t>02</a:t>
            </a:r>
            <a:endParaRPr lang="en-US" sz="2250" dirty="0"/>
          </a:p>
        </p:txBody>
      </p:sp>
      <p:sp>
        <p:nvSpPr>
          <p:cNvPr id="10" name="Text 8"/>
          <p:cNvSpPr/>
          <p:nvPr/>
        </p:nvSpPr>
        <p:spPr>
          <a:xfrm>
            <a:off x="6858000" y="3990677"/>
            <a:ext cx="502920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1F569E"/>
                </a:solidFill>
                <a:latin typeface="Arial" pitchFamily="34" charset="0"/>
                <a:ea typeface="Arial" pitchFamily="34" charset="-122"/>
                <a:cs typeface="Arial" pitchFamily="34" charset="-120"/>
              </a:rPr>
              <a:t>Non serve scegliere subito</a:t>
            </a:r>
            <a:endParaRPr lang="en-US" sz="2400" dirty="0"/>
          </a:p>
        </p:txBody>
      </p:sp>
      <p:sp>
        <p:nvSpPr>
          <p:cNvPr id="11" name="Text 9"/>
          <p:cNvSpPr/>
          <p:nvPr/>
        </p:nvSpPr>
        <p:spPr>
          <a:xfrm>
            <a:off x="6858000" y="4524077"/>
            <a:ext cx="4709160" cy="1233785"/>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Il mercato si muove in fretta: la scelta si tratta come revisionabile, mai come definitiva.</a:t>
            </a:r>
            <a:endParaRPr lang="en-US" sz="2025" dirty="0"/>
          </a:p>
        </p:txBody>
      </p:sp>
      <p:sp>
        <p:nvSpPr>
          <p:cNvPr id="12" name="Shape 10"/>
          <p:cNvSpPr/>
          <p:nvPr/>
        </p:nvSpPr>
        <p:spPr>
          <a:xfrm>
            <a:off x="12077700" y="2961977"/>
            <a:ext cx="5257800" cy="3557885"/>
          </a:xfrm>
          <a:prstGeom prst="roundRect">
            <a:avLst>
              <a:gd name="adj" fmla="val 2142"/>
            </a:avLst>
          </a:prstGeom>
          <a:solidFill>
            <a:srgbClr val="FFFFFF"/>
          </a:solidFill>
          <a:ln/>
        </p:spPr>
      </p:sp>
      <p:sp>
        <p:nvSpPr>
          <p:cNvPr id="13" name="Text 11"/>
          <p:cNvSpPr/>
          <p:nvPr/>
        </p:nvSpPr>
        <p:spPr>
          <a:xfrm>
            <a:off x="12420600" y="3381077"/>
            <a:ext cx="4709160" cy="495300"/>
          </a:xfrm>
          <a:prstGeom prst="rect">
            <a:avLst/>
          </a:prstGeom>
          <a:noFill/>
          <a:ln/>
        </p:spPr>
        <p:txBody>
          <a:bodyPr wrap="square" lIns="25400" tIns="25400" rIns="25400" bIns="25400" rtlCol="0" anchor="t">
            <a:normAutofit/>
          </a:bodyPr>
          <a:lstStyle/>
          <a:p>
            <a:pPr algn="l" indent="0" marL="0">
              <a:lnSpc>
                <a:spcPct val="114286"/>
              </a:lnSpc>
              <a:buNone/>
            </a:pPr>
            <a:r>
              <a:rPr lang="en-US" sz="2250" b="1" dirty="0">
                <a:solidFill>
                  <a:srgbClr val="0E8A82"/>
                </a:solidFill>
                <a:latin typeface="Arial" pitchFamily="34" charset="0"/>
                <a:ea typeface="Arial" pitchFamily="34" charset="-122"/>
                <a:cs typeface="Arial" pitchFamily="34" charset="-120"/>
              </a:rPr>
              <a:t>03</a:t>
            </a:r>
            <a:endParaRPr lang="en-US" sz="2250" dirty="0"/>
          </a:p>
        </p:txBody>
      </p:sp>
      <p:sp>
        <p:nvSpPr>
          <p:cNvPr id="14" name="Text 12"/>
          <p:cNvSpPr/>
          <p:nvPr/>
        </p:nvSpPr>
        <p:spPr>
          <a:xfrm>
            <a:off x="12420600" y="3990677"/>
            <a:ext cx="502920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1F569E"/>
                </a:solidFill>
                <a:latin typeface="Arial" pitchFamily="34" charset="0"/>
                <a:ea typeface="Arial" pitchFamily="34" charset="-122"/>
                <a:cs typeface="Arial" pitchFamily="34" charset="-120"/>
              </a:rPr>
              <a:t>La mappa conta più del nome</a:t>
            </a:r>
            <a:endParaRPr lang="en-US" sz="2400" dirty="0"/>
          </a:p>
        </p:txBody>
      </p:sp>
      <p:sp>
        <p:nvSpPr>
          <p:cNvPr id="15" name="Text 13"/>
          <p:cNvSpPr/>
          <p:nvPr/>
        </p:nvSpPr>
        <p:spPr>
          <a:xfrm>
            <a:off x="12420600" y="4524077"/>
            <a:ext cx="4709160" cy="1233785"/>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A1A1A"/>
                </a:solidFill>
                <a:latin typeface="Arial" pitchFamily="34" charset="0"/>
                <a:ea typeface="Arial" pitchFamily="34" charset="-122"/>
                <a:cs typeface="Arial" pitchFamily="34" charset="-120"/>
              </a:rPr>
              <a:t>Orientarsi in poche categorie aiuta più che rincorrere ogni prodotto nuovo che esce.</a:t>
            </a:r>
            <a:endParaRPr lang="en-US" sz="2025" dirty="0"/>
          </a:p>
        </p:txBody>
      </p:sp>
      <p:pic>
        <p:nvPicPr>
          <p:cNvPr id="16"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7"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28</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LA MAPPA</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Da dove parte l'utente?</a:t>
            </a:r>
            <a:endParaRPr lang="en-US" sz="3450" dirty="0"/>
          </a:p>
        </p:txBody>
      </p:sp>
      <p:sp>
        <p:nvSpPr>
          <p:cNvPr id="4" name="Shape 2"/>
          <p:cNvSpPr/>
          <p:nvPr/>
        </p:nvSpPr>
        <p:spPr>
          <a:xfrm>
            <a:off x="952500" y="2496294"/>
            <a:ext cx="8001000" cy="4128195"/>
          </a:xfrm>
          <a:prstGeom prst="roundRect">
            <a:avLst>
              <a:gd name="adj" fmla="val 1846"/>
            </a:avLst>
          </a:prstGeom>
          <a:solidFill>
            <a:srgbClr val="F4F6F9"/>
          </a:solidFill>
          <a:ln/>
        </p:spPr>
      </p:sp>
      <p:sp>
        <p:nvSpPr>
          <p:cNvPr id="5" name="Text 3"/>
          <p:cNvSpPr/>
          <p:nvPr/>
        </p:nvSpPr>
        <p:spPr>
          <a:xfrm>
            <a:off x="1390650" y="2991594"/>
            <a:ext cx="733844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spc="120" kern="0" dirty="0">
                <a:solidFill>
                  <a:srgbClr val="6B7280"/>
                </a:solidFill>
                <a:latin typeface="Arial" pitchFamily="34" charset="0"/>
                <a:ea typeface="Arial" pitchFamily="34" charset="-122"/>
                <a:cs typeface="Arial" pitchFamily="34" charset="-120"/>
              </a:rPr>
              <a:t>FAMIGLIA 1</a:t>
            </a:r>
            <a:endParaRPr lang="en-US" sz="1500" dirty="0"/>
          </a:p>
        </p:txBody>
      </p:sp>
      <p:sp>
        <p:nvSpPr>
          <p:cNvPr id="6" name="Text 4"/>
          <p:cNvSpPr/>
          <p:nvPr/>
        </p:nvSpPr>
        <p:spPr>
          <a:xfrm>
            <a:off x="1390650" y="3467844"/>
            <a:ext cx="7837170" cy="520005"/>
          </a:xfrm>
          <a:prstGeom prst="rect">
            <a:avLst/>
          </a:prstGeom>
          <a:noFill/>
          <a:ln/>
        </p:spPr>
        <p:txBody>
          <a:bodyPr wrap="square" lIns="25400" tIns="25400" rIns="25400" bIns="25400" rtlCol="0" anchor="t">
            <a:normAutofit/>
          </a:bodyPr>
          <a:lstStyle/>
          <a:p>
            <a:pPr algn="l" indent="0" marL="0">
              <a:lnSpc>
                <a:spcPct val="81613"/>
              </a:lnSpc>
              <a:buNone/>
            </a:pPr>
            <a:r>
              <a:rPr lang="en-US" sz="3300" b="1" dirty="0">
                <a:solidFill>
                  <a:srgbClr val="1F569E"/>
                </a:solidFill>
                <a:latin typeface="Arial" pitchFamily="34" charset="0"/>
                <a:ea typeface="Arial" pitchFamily="34" charset="-122"/>
                <a:cs typeface="Arial" pitchFamily="34" charset="-120"/>
              </a:rPr>
              <a:t>Chatbot generalisti</a:t>
            </a:r>
            <a:endParaRPr lang="en-US" sz="3300" dirty="0"/>
          </a:p>
        </p:txBody>
      </p:sp>
      <p:sp>
        <p:nvSpPr>
          <p:cNvPr id="7" name="Text 5"/>
          <p:cNvSpPr/>
          <p:nvPr/>
        </p:nvSpPr>
        <p:spPr>
          <a:xfrm>
            <a:off x="1390650" y="4159300"/>
            <a:ext cx="7338441" cy="894159"/>
          </a:xfrm>
          <a:prstGeom prst="rect">
            <a:avLst/>
          </a:prstGeom>
          <a:noFill/>
          <a:ln/>
        </p:spPr>
        <p:txBody>
          <a:bodyPr wrap="square" lIns="25400" tIns="25400" rIns="25400" bIns="25400" rtlCol="0" anchor="t">
            <a:normAutofit/>
          </a:bodyPr>
          <a:lstStyle/>
          <a:p>
            <a:pPr algn="l" indent="0" marL="0">
              <a:lnSpc>
                <a:spcPct val="136212"/>
              </a:lnSpc>
              <a:buNone/>
            </a:pPr>
            <a:r>
              <a:rPr lang="en-US" sz="2175" dirty="0">
                <a:solidFill>
                  <a:srgbClr val="1A1A1A"/>
                </a:solidFill>
                <a:latin typeface="Arial" pitchFamily="34" charset="0"/>
                <a:ea typeface="Arial" pitchFamily="34" charset="-122"/>
                <a:cs typeface="Arial" pitchFamily="34" charset="-120"/>
              </a:rPr>
              <a:t>Una conversazione a sé, tramite sito o app dedicata. Nessuna dipendenza da altri strumenti aziendali.</a:t>
            </a:r>
            <a:endParaRPr lang="en-US" sz="2175" dirty="0"/>
          </a:p>
        </p:txBody>
      </p:sp>
      <p:sp>
        <p:nvSpPr>
          <p:cNvPr id="8" name="Text 6"/>
          <p:cNvSpPr/>
          <p:nvPr/>
        </p:nvSpPr>
        <p:spPr>
          <a:xfrm>
            <a:off x="1390650" y="5320159"/>
            <a:ext cx="7338441" cy="419100"/>
          </a:xfrm>
          <a:prstGeom prst="rect">
            <a:avLst/>
          </a:prstGeom>
          <a:noFill/>
          <a:ln/>
        </p:spPr>
        <p:txBody>
          <a:bodyPr wrap="square" lIns="25400" tIns="25400" rIns="25400" bIns="25400" rtlCol="0" anchor="t">
            <a:normAutofit/>
          </a:bodyPr>
          <a:lstStyle/>
          <a:p>
            <a:pPr algn="l" indent="0" marL="0">
              <a:lnSpc>
                <a:spcPct val="137931"/>
              </a:lnSpc>
              <a:buNone/>
            </a:pPr>
            <a:r>
              <a:rPr lang="en-US" sz="1875" b="1" dirty="0">
                <a:solidFill>
                  <a:srgbClr val="0E8A82"/>
                </a:solidFill>
                <a:latin typeface="Arial" pitchFamily="34" charset="0"/>
                <a:ea typeface="Arial" pitchFamily="34" charset="-122"/>
                <a:cs typeface="Arial" pitchFamily="34" charset="-120"/>
              </a:rPr>
              <a:t>Claude · ChatGPT · Gemini · Copilot</a:t>
            </a:r>
            <a:endParaRPr lang="en-US" sz="1875" dirty="0"/>
          </a:p>
        </p:txBody>
      </p:sp>
      <p:sp>
        <p:nvSpPr>
          <p:cNvPr id="9" name="Shape 7"/>
          <p:cNvSpPr/>
          <p:nvPr/>
        </p:nvSpPr>
        <p:spPr>
          <a:xfrm>
            <a:off x="9334500" y="2496294"/>
            <a:ext cx="8001000" cy="4128195"/>
          </a:xfrm>
          <a:prstGeom prst="roundRect">
            <a:avLst>
              <a:gd name="adj" fmla="val 1846"/>
            </a:avLst>
          </a:prstGeom>
          <a:solidFill>
            <a:srgbClr val="F4F6F9"/>
          </a:solidFill>
          <a:ln/>
        </p:spPr>
      </p:sp>
      <p:sp>
        <p:nvSpPr>
          <p:cNvPr id="10" name="Text 8"/>
          <p:cNvSpPr/>
          <p:nvPr/>
        </p:nvSpPr>
        <p:spPr>
          <a:xfrm>
            <a:off x="9772650" y="2991594"/>
            <a:ext cx="733844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spc="120" kern="0" dirty="0">
                <a:solidFill>
                  <a:srgbClr val="6B7280"/>
                </a:solidFill>
                <a:latin typeface="Arial" pitchFamily="34" charset="0"/>
                <a:ea typeface="Arial" pitchFamily="34" charset="-122"/>
                <a:cs typeface="Arial" pitchFamily="34" charset="-120"/>
              </a:rPr>
              <a:t>FAMIGLIA 2</a:t>
            </a:r>
            <a:endParaRPr lang="en-US" sz="1500" dirty="0"/>
          </a:p>
        </p:txBody>
      </p:sp>
      <p:sp>
        <p:nvSpPr>
          <p:cNvPr id="11" name="Text 9"/>
          <p:cNvSpPr/>
          <p:nvPr/>
        </p:nvSpPr>
        <p:spPr>
          <a:xfrm>
            <a:off x="9772650" y="3467844"/>
            <a:ext cx="7837170" cy="520005"/>
          </a:xfrm>
          <a:prstGeom prst="rect">
            <a:avLst/>
          </a:prstGeom>
          <a:noFill/>
          <a:ln/>
        </p:spPr>
        <p:txBody>
          <a:bodyPr wrap="square" lIns="25400" tIns="25400" rIns="25400" bIns="25400" rtlCol="0" anchor="t">
            <a:normAutofit/>
          </a:bodyPr>
          <a:lstStyle/>
          <a:p>
            <a:pPr algn="l" indent="0" marL="0">
              <a:lnSpc>
                <a:spcPct val="81613"/>
              </a:lnSpc>
              <a:buNone/>
            </a:pPr>
            <a:r>
              <a:rPr lang="en-US" sz="3300" b="1" dirty="0">
                <a:solidFill>
                  <a:srgbClr val="1F569E"/>
                </a:solidFill>
                <a:latin typeface="Arial" pitchFamily="34" charset="0"/>
                <a:ea typeface="Arial" pitchFamily="34" charset="-122"/>
                <a:cs typeface="Arial" pitchFamily="34" charset="-120"/>
              </a:rPr>
              <a:t>AI integrata nella suite</a:t>
            </a:r>
            <a:endParaRPr lang="en-US" sz="3300" dirty="0"/>
          </a:p>
        </p:txBody>
      </p:sp>
      <p:sp>
        <p:nvSpPr>
          <p:cNvPr id="12" name="Text 10"/>
          <p:cNvSpPr/>
          <p:nvPr/>
        </p:nvSpPr>
        <p:spPr>
          <a:xfrm>
            <a:off x="9772650" y="4159300"/>
            <a:ext cx="7338441" cy="1322189"/>
          </a:xfrm>
          <a:prstGeom prst="rect">
            <a:avLst/>
          </a:prstGeom>
          <a:noFill/>
          <a:ln/>
        </p:spPr>
        <p:txBody>
          <a:bodyPr wrap="square" lIns="25400" tIns="25400" rIns="25400" bIns="25400" rtlCol="0" anchor="t">
            <a:normAutofit/>
          </a:bodyPr>
          <a:lstStyle/>
          <a:p>
            <a:pPr algn="l" indent="0" marL="0">
              <a:lnSpc>
                <a:spcPct val="136212"/>
              </a:lnSpc>
              <a:buNone/>
            </a:pPr>
            <a:r>
              <a:rPr lang="en-US" sz="2175" dirty="0">
                <a:solidFill>
                  <a:srgbClr val="1A1A1A"/>
                </a:solidFill>
                <a:latin typeface="Arial" pitchFamily="34" charset="0"/>
                <a:ea typeface="Arial" pitchFamily="34" charset="-122"/>
                <a:cs typeface="Arial" pitchFamily="34" charset="-120"/>
              </a:rPr>
              <a:t>Dentro i programmi che l'ufficio già usa — posta, documenti, fogli — con accesso, se autorizzato, ai propri contenuti.</a:t>
            </a:r>
            <a:endParaRPr lang="en-US" sz="2175" dirty="0"/>
          </a:p>
        </p:txBody>
      </p:sp>
      <p:sp>
        <p:nvSpPr>
          <p:cNvPr id="13" name="Text 11"/>
          <p:cNvSpPr/>
          <p:nvPr/>
        </p:nvSpPr>
        <p:spPr>
          <a:xfrm>
            <a:off x="9772650" y="5748189"/>
            <a:ext cx="7338441" cy="419100"/>
          </a:xfrm>
          <a:prstGeom prst="rect">
            <a:avLst/>
          </a:prstGeom>
          <a:noFill/>
          <a:ln/>
        </p:spPr>
        <p:txBody>
          <a:bodyPr wrap="square" lIns="25400" tIns="25400" rIns="25400" bIns="25400" rtlCol="0" anchor="t">
            <a:normAutofit/>
          </a:bodyPr>
          <a:lstStyle/>
          <a:p>
            <a:pPr algn="l" indent="0" marL="0">
              <a:lnSpc>
                <a:spcPct val="137931"/>
              </a:lnSpc>
              <a:buNone/>
            </a:pPr>
            <a:r>
              <a:rPr lang="en-US" sz="1875" b="1" dirty="0">
                <a:solidFill>
                  <a:srgbClr val="0E8A82"/>
                </a:solidFill>
                <a:latin typeface="Arial" pitchFamily="34" charset="0"/>
                <a:ea typeface="Arial" pitchFamily="34" charset="-122"/>
                <a:cs typeface="Arial" pitchFamily="34" charset="-120"/>
              </a:rPr>
              <a:t>Microsoft 365 Copilot · Google Workspace + Gemini</a:t>
            </a:r>
            <a:endParaRPr lang="en-US" sz="1875" dirty="0"/>
          </a:p>
        </p:txBody>
      </p:sp>
      <p:pic>
        <p:nvPicPr>
          <p:cNvPr id="14"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15" name="Text 12"/>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29</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PRO E CONTRO GENERALI</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Due famiglie, quattro criteri</a:t>
            </a:r>
            <a:endParaRPr lang="en-US" sz="3450" dirty="0"/>
          </a:p>
        </p:txBody>
      </p:sp>
      <p:sp>
        <p:nvSpPr>
          <p:cNvPr id="4" name="Shape 2"/>
          <p:cNvSpPr/>
          <p:nvPr/>
        </p:nvSpPr>
        <p:spPr>
          <a:xfrm>
            <a:off x="952500" y="2420094"/>
            <a:ext cx="16383000" cy="5520630"/>
          </a:xfrm>
          <a:prstGeom prst="roundRect">
            <a:avLst>
              <a:gd name="adj" fmla="val 1380"/>
            </a:avLst>
          </a:prstGeom>
          <a:solidFill>
            <a:srgbClr val="FFFFFF"/>
          </a:solidFill>
          <a:ln/>
        </p:spPr>
      </p:sp>
      <p:sp>
        <p:nvSpPr>
          <p:cNvPr id="5" name="Shape 3"/>
          <p:cNvSpPr/>
          <p:nvPr/>
        </p:nvSpPr>
        <p:spPr>
          <a:xfrm>
            <a:off x="2952750" y="3387775"/>
            <a:ext cx="7191375" cy="9525"/>
          </a:xfrm>
          <a:prstGeom prst="rect">
            <a:avLst/>
          </a:prstGeom>
          <a:solidFill>
            <a:srgbClr val="E5E7EB"/>
          </a:solidFill>
          <a:ln/>
        </p:spPr>
      </p:sp>
      <p:sp>
        <p:nvSpPr>
          <p:cNvPr id="6" name="Text 4"/>
          <p:cNvSpPr/>
          <p:nvPr/>
        </p:nvSpPr>
        <p:spPr>
          <a:xfrm>
            <a:off x="3276600" y="2705844"/>
            <a:ext cx="6759416" cy="434280"/>
          </a:xfrm>
          <a:prstGeom prst="rect">
            <a:avLst/>
          </a:prstGeom>
          <a:noFill/>
          <a:ln/>
        </p:spPr>
        <p:txBody>
          <a:bodyPr wrap="square" lIns="25400" tIns="25400" rIns="25400" bIns="25400" rtlCol="0" anchor="t">
            <a:normAutofit/>
          </a:bodyPr>
          <a:lstStyle/>
          <a:p>
            <a:pPr algn="l" indent="0" marL="0">
              <a:lnSpc>
                <a:spcPct val="112432"/>
              </a:lnSpc>
              <a:buNone/>
            </a:pPr>
            <a:r>
              <a:rPr lang="en-US" sz="1950" b="1" spc="98" kern="0" dirty="0">
                <a:solidFill>
                  <a:srgbClr val="1F569E"/>
                </a:solidFill>
                <a:latin typeface="Arial" pitchFamily="34" charset="0"/>
                <a:ea typeface="Arial" pitchFamily="34" charset="-122"/>
                <a:cs typeface="Arial" pitchFamily="34" charset="-120"/>
              </a:rPr>
              <a:t>CHATBOT GENERALISTI</a:t>
            </a:r>
            <a:endParaRPr lang="en-US" sz="1950" dirty="0"/>
          </a:p>
        </p:txBody>
      </p:sp>
      <p:sp>
        <p:nvSpPr>
          <p:cNvPr id="7" name="Shape 5"/>
          <p:cNvSpPr/>
          <p:nvPr/>
        </p:nvSpPr>
        <p:spPr>
          <a:xfrm>
            <a:off x="10144125" y="3387775"/>
            <a:ext cx="7191375" cy="9525"/>
          </a:xfrm>
          <a:prstGeom prst="rect">
            <a:avLst/>
          </a:prstGeom>
          <a:solidFill>
            <a:srgbClr val="E5E7EB"/>
          </a:solidFill>
          <a:ln/>
        </p:spPr>
      </p:sp>
      <p:sp>
        <p:nvSpPr>
          <p:cNvPr id="8" name="Text 6"/>
          <p:cNvSpPr/>
          <p:nvPr/>
        </p:nvSpPr>
        <p:spPr>
          <a:xfrm>
            <a:off x="10467975" y="2705844"/>
            <a:ext cx="6759416" cy="434280"/>
          </a:xfrm>
          <a:prstGeom prst="rect">
            <a:avLst/>
          </a:prstGeom>
          <a:noFill/>
          <a:ln/>
        </p:spPr>
        <p:txBody>
          <a:bodyPr wrap="square" lIns="25400" tIns="25400" rIns="25400" bIns="25400" rtlCol="0" anchor="t">
            <a:normAutofit/>
          </a:bodyPr>
          <a:lstStyle/>
          <a:p>
            <a:pPr algn="l" indent="0" marL="0">
              <a:lnSpc>
                <a:spcPct val="112432"/>
              </a:lnSpc>
              <a:buNone/>
            </a:pPr>
            <a:r>
              <a:rPr lang="en-US" sz="1950" b="1" spc="98" kern="0" dirty="0">
                <a:solidFill>
                  <a:srgbClr val="1F569E"/>
                </a:solidFill>
                <a:latin typeface="Arial" pitchFamily="34" charset="0"/>
                <a:ea typeface="Arial" pitchFamily="34" charset="-122"/>
                <a:cs typeface="Arial" pitchFamily="34" charset="-120"/>
              </a:rPr>
              <a:t>AI INTEGRATA NELLA SUITE</a:t>
            </a:r>
            <a:endParaRPr lang="en-US" sz="1950" dirty="0"/>
          </a:p>
        </p:txBody>
      </p:sp>
      <p:sp>
        <p:nvSpPr>
          <p:cNvPr id="9" name="Shape 7"/>
          <p:cNvSpPr/>
          <p:nvPr/>
        </p:nvSpPr>
        <p:spPr>
          <a:xfrm>
            <a:off x="952500" y="4340275"/>
            <a:ext cx="2000250" cy="9525"/>
          </a:xfrm>
          <a:prstGeom prst="rect">
            <a:avLst/>
          </a:prstGeom>
          <a:solidFill>
            <a:srgbClr val="E5E7EB"/>
          </a:solidFill>
          <a:ln/>
        </p:spPr>
      </p:sp>
      <p:sp>
        <p:nvSpPr>
          <p:cNvPr id="10" name="Text 8"/>
          <p:cNvSpPr/>
          <p:nvPr/>
        </p:nvSpPr>
        <p:spPr>
          <a:xfrm>
            <a:off x="1276350" y="3683050"/>
            <a:ext cx="1428750" cy="409575"/>
          </a:xfrm>
          <a:prstGeom prst="rect">
            <a:avLst/>
          </a:prstGeom>
          <a:noFill/>
          <a:ln/>
        </p:spPr>
        <p:txBody>
          <a:bodyPr wrap="square" lIns="25400" tIns="25400" rIns="25400" bIns="25400" rtlCol="0" anchor="t">
            <a:normAutofit/>
          </a:bodyPr>
          <a:lstStyle/>
          <a:p>
            <a:pPr algn="l" indent="0" marL="0">
              <a:lnSpc>
                <a:spcPct val="135385"/>
              </a:lnSpc>
              <a:buNone/>
            </a:pPr>
            <a:r>
              <a:rPr lang="en-US" sz="1650" b="1" spc="99" kern="0" dirty="0">
                <a:solidFill>
                  <a:srgbClr val="0E8A82"/>
                </a:solidFill>
                <a:latin typeface="Arial" pitchFamily="34" charset="0"/>
                <a:ea typeface="Arial" pitchFamily="34" charset="-122"/>
                <a:cs typeface="Arial" pitchFamily="34" charset="-120"/>
              </a:rPr>
              <a:t>AVVIO</a:t>
            </a:r>
            <a:endParaRPr lang="en-US" sz="1650" dirty="0"/>
          </a:p>
        </p:txBody>
      </p:sp>
      <p:sp>
        <p:nvSpPr>
          <p:cNvPr id="11" name="Shape 9"/>
          <p:cNvSpPr/>
          <p:nvPr/>
        </p:nvSpPr>
        <p:spPr>
          <a:xfrm>
            <a:off x="2952750" y="4340275"/>
            <a:ext cx="7191375" cy="9525"/>
          </a:xfrm>
          <a:prstGeom prst="rect">
            <a:avLst/>
          </a:prstGeom>
          <a:solidFill>
            <a:srgbClr val="E5E7EB"/>
          </a:solidFill>
          <a:ln/>
        </p:spPr>
      </p:sp>
      <p:sp>
        <p:nvSpPr>
          <p:cNvPr id="12" name="Text 10"/>
          <p:cNvSpPr/>
          <p:nvPr/>
        </p:nvSpPr>
        <p:spPr>
          <a:xfrm>
            <a:off x="3276600" y="3683050"/>
            <a:ext cx="6759416"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Immediato, spesso gratuito, nessuna suite richiesta</a:t>
            </a:r>
            <a:endParaRPr lang="en-US" sz="1950" dirty="0"/>
          </a:p>
        </p:txBody>
      </p:sp>
      <p:sp>
        <p:nvSpPr>
          <p:cNvPr id="13" name="Shape 11"/>
          <p:cNvSpPr/>
          <p:nvPr/>
        </p:nvSpPr>
        <p:spPr>
          <a:xfrm>
            <a:off x="10144125" y="4340275"/>
            <a:ext cx="7191375" cy="9525"/>
          </a:xfrm>
          <a:prstGeom prst="rect">
            <a:avLst/>
          </a:prstGeom>
          <a:solidFill>
            <a:srgbClr val="E5E7EB"/>
          </a:solidFill>
          <a:ln/>
        </p:spPr>
      </p:sp>
      <p:sp>
        <p:nvSpPr>
          <p:cNvPr id="14" name="Text 12"/>
          <p:cNvSpPr/>
          <p:nvPr/>
        </p:nvSpPr>
        <p:spPr>
          <a:xfrm>
            <a:off x="10467975" y="3683050"/>
            <a:ext cx="6759416"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Serve la suite già attiva, più un costo aggiuntivo</a:t>
            </a:r>
            <a:endParaRPr lang="en-US" sz="1950" dirty="0"/>
          </a:p>
        </p:txBody>
      </p:sp>
      <p:sp>
        <p:nvSpPr>
          <p:cNvPr id="15" name="Shape 13"/>
          <p:cNvSpPr/>
          <p:nvPr/>
        </p:nvSpPr>
        <p:spPr>
          <a:xfrm>
            <a:off x="952500" y="5664250"/>
            <a:ext cx="2000250" cy="9525"/>
          </a:xfrm>
          <a:prstGeom prst="rect">
            <a:avLst/>
          </a:prstGeom>
          <a:solidFill>
            <a:srgbClr val="E5E7EB"/>
          </a:solidFill>
          <a:ln/>
        </p:spPr>
      </p:sp>
      <p:sp>
        <p:nvSpPr>
          <p:cNvPr id="16" name="Text 14"/>
          <p:cNvSpPr/>
          <p:nvPr/>
        </p:nvSpPr>
        <p:spPr>
          <a:xfrm>
            <a:off x="1276350" y="4635550"/>
            <a:ext cx="1428750" cy="781050"/>
          </a:xfrm>
          <a:prstGeom prst="rect">
            <a:avLst/>
          </a:prstGeom>
          <a:noFill/>
          <a:ln/>
        </p:spPr>
        <p:txBody>
          <a:bodyPr wrap="square" lIns="25400" tIns="25400" rIns="25400" bIns="25400" rtlCol="0" anchor="t">
            <a:normAutofit/>
          </a:bodyPr>
          <a:lstStyle/>
          <a:p>
            <a:pPr algn="l" indent="0" marL="0">
              <a:lnSpc>
                <a:spcPct val="135385"/>
              </a:lnSpc>
              <a:buNone/>
            </a:pPr>
            <a:r>
              <a:rPr lang="en-US" sz="1650" b="1" spc="99" kern="0" dirty="0">
                <a:solidFill>
                  <a:srgbClr val="0E8A82"/>
                </a:solidFill>
                <a:latin typeface="Arial" pitchFamily="34" charset="0"/>
                <a:ea typeface="Arial" pitchFamily="34" charset="-122"/>
                <a:cs typeface="Arial" pitchFamily="34" charset="-120"/>
              </a:rPr>
              <a:t>CONTESTO</a:t>
            </a:r>
            <a:endParaRPr lang="en-US" sz="1650" dirty="0"/>
          </a:p>
        </p:txBody>
      </p:sp>
      <p:sp>
        <p:nvSpPr>
          <p:cNvPr id="17" name="Shape 15"/>
          <p:cNvSpPr/>
          <p:nvPr/>
        </p:nvSpPr>
        <p:spPr>
          <a:xfrm>
            <a:off x="2952750" y="5664250"/>
            <a:ext cx="7191375" cy="9525"/>
          </a:xfrm>
          <a:prstGeom prst="rect">
            <a:avLst/>
          </a:prstGeom>
          <a:solidFill>
            <a:srgbClr val="E5E7EB"/>
          </a:solidFill>
          <a:ln/>
        </p:spPr>
      </p:sp>
      <p:sp>
        <p:nvSpPr>
          <p:cNvPr id="18" name="Text 16"/>
          <p:cNvSpPr/>
          <p:nvPr/>
        </p:nvSpPr>
        <p:spPr>
          <a:xfrm>
            <a:off x="3276600" y="4635550"/>
            <a:ext cx="6759416"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Di base solo ciò che si incolla o carica — estendibile con connettori (Workspace, repository)</a:t>
            </a:r>
            <a:endParaRPr lang="en-US" sz="1950" dirty="0"/>
          </a:p>
        </p:txBody>
      </p:sp>
      <p:sp>
        <p:nvSpPr>
          <p:cNvPr id="19" name="Shape 17"/>
          <p:cNvSpPr/>
          <p:nvPr/>
        </p:nvSpPr>
        <p:spPr>
          <a:xfrm>
            <a:off x="10144125" y="5664250"/>
            <a:ext cx="7191375" cy="9525"/>
          </a:xfrm>
          <a:prstGeom prst="rect">
            <a:avLst/>
          </a:prstGeom>
          <a:solidFill>
            <a:srgbClr val="E5E7EB"/>
          </a:solidFill>
          <a:ln/>
        </p:spPr>
      </p:sp>
      <p:sp>
        <p:nvSpPr>
          <p:cNvPr id="20" name="Text 18"/>
          <p:cNvSpPr/>
          <p:nvPr/>
        </p:nvSpPr>
        <p:spPr>
          <a:xfrm>
            <a:off x="10467975" y="4635550"/>
            <a:ext cx="6759416"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Accesso nativo, già dentro lo strumento, a email, documenti, calendario</a:t>
            </a:r>
            <a:endParaRPr lang="en-US" sz="1950" dirty="0"/>
          </a:p>
        </p:txBody>
      </p:sp>
      <p:sp>
        <p:nvSpPr>
          <p:cNvPr id="21" name="Shape 19"/>
          <p:cNvSpPr/>
          <p:nvPr/>
        </p:nvSpPr>
        <p:spPr>
          <a:xfrm>
            <a:off x="952500" y="6988225"/>
            <a:ext cx="2000250" cy="9525"/>
          </a:xfrm>
          <a:prstGeom prst="rect">
            <a:avLst/>
          </a:prstGeom>
          <a:solidFill>
            <a:srgbClr val="E5E7EB"/>
          </a:solidFill>
          <a:ln/>
        </p:spPr>
      </p:sp>
      <p:sp>
        <p:nvSpPr>
          <p:cNvPr id="22" name="Text 20"/>
          <p:cNvSpPr/>
          <p:nvPr/>
        </p:nvSpPr>
        <p:spPr>
          <a:xfrm>
            <a:off x="1276350" y="5959525"/>
            <a:ext cx="1428750" cy="781050"/>
          </a:xfrm>
          <a:prstGeom prst="rect">
            <a:avLst/>
          </a:prstGeom>
          <a:noFill/>
          <a:ln/>
        </p:spPr>
        <p:txBody>
          <a:bodyPr wrap="square" lIns="25400" tIns="25400" rIns="25400" bIns="25400" rtlCol="0" anchor="t">
            <a:normAutofit/>
          </a:bodyPr>
          <a:lstStyle/>
          <a:p>
            <a:pPr algn="l" indent="0" marL="0">
              <a:lnSpc>
                <a:spcPct val="135385"/>
              </a:lnSpc>
              <a:buNone/>
            </a:pPr>
            <a:r>
              <a:rPr lang="en-US" sz="1650" b="1" spc="99" kern="0" dirty="0">
                <a:solidFill>
                  <a:srgbClr val="0E8A82"/>
                </a:solidFill>
                <a:latin typeface="Arial" pitchFamily="34" charset="0"/>
                <a:ea typeface="Arial" pitchFamily="34" charset="-122"/>
                <a:cs typeface="Arial" pitchFamily="34" charset="-120"/>
              </a:rPr>
              <a:t>ADOZIONE</a:t>
            </a:r>
            <a:endParaRPr lang="en-US" sz="1650" dirty="0"/>
          </a:p>
        </p:txBody>
      </p:sp>
      <p:sp>
        <p:nvSpPr>
          <p:cNvPr id="23" name="Shape 21"/>
          <p:cNvSpPr/>
          <p:nvPr/>
        </p:nvSpPr>
        <p:spPr>
          <a:xfrm>
            <a:off x="2952750" y="6988225"/>
            <a:ext cx="7191375" cy="9525"/>
          </a:xfrm>
          <a:prstGeom prst="rect">
            <a:avLst/>
          </a:prstGeom>
          <a:solidFill>
            <a:srgbClr val="E5E7EB"/>
          </a:solidFill>
          <a:ln/>
        </p:spPr>
      </p:sp>
      <p:sp>
        <p:nvSpPr>
          <p:cNvPr id="24" name="Text 22"/>
          <p:cNvSpPr/>
          <p:nvPr/>
        </p:nvSpPr>
        <p:spPr>
          <a:xfrm>
            <a:off x="3276600" y="5959525"/>
            <a:ext cx="6759416"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Molte funzionalità in più, ma tutte da imparare: la curva di apprendimento è più lunga</a:t>
            </a:r>
            <a:endParaRPr lang="en-US" sz="1950" dirty="0"/>
          </a:p>
        </p:txBody>
      </p:sp>
      <p:sp>
        <p:nvSpPr>
          <p:cNvPr id="25" name="Shape 23"/>
          <p:cNvSpPr/>
          <p:nvPr/>
        </p:nvSpPr>
        <p:spPr>
          <a:xfrm>
            <a:off x="10144125" y="6988225"/>
            <a:ext cx="7191375" cy="9525"/>
          </a:xfrm>
          <a:prstGeom prst="rect">
            <a:avLst/>
          </a:prstGeom>
          <a:solidFill>
            <a:srgbClr val="E5E7EB"/>
          </a:solidFill>
          <a:ln/>
        </p:spPr>
      </p:sp>
      <p:sp>
        <p:nvSpPr>
          <p:cNvPr id="26" name="Text 24"/>
          <p:cNvSpPr/>
          <p:nvPr/>
        </p:nvSpPr>
        <p:spPr>
          <a:xfrm>
            <a:off x="10467975" y="5959525"/>
            <a:ext cx="6759416"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Dentro strumenti già noti, meno attrito iniziale</a:t>
            </a:r>
            <a:endParaRPr lang="en-US" sz="1950" dirty="0"/>
          </a:p>
        </p:txBody>
      </p:sp>
      <p:sp>
        <p:nvSpPr>
          <p:cNvPr id="27" name="Text 25"/>
          <p:cNvSpPr/>
          <p:nvPr/>
        </p:nvSpPr>
        <p:spPr>
          <a:xfrm>
            <a:off x="1276350" y="7283500"/>
            <a:ext cx="1428750" cy="409575"/>
          </a:xfrm>
          <a:prstGeom prst="rect">
            <a:avLst/>
          </a:prstGeom>
          <a:noFill/>
          <a:ln/>
        </p:spPr>
        <p:txBody>
          <a:bodyPr wrap="square" lIns="25400" tIns="25400" rIns="25400" bIns="25400" rtlCol="0" anchor="t">
            <a:normAutofit/>
          </a:bodyPr>
          <a:lstStyle/>
          <a:p>
            <a:pPr algn="l" indent="0" marL="0">
              <a:lnSpc>
                <a:spcPct val="135385"/>
              </a:lnSpc>
              <a:buNone/>
            </a:pPr>
            <a:r>
              <a:rPr lang="en-US" sz="1650" b="1" spc="99" kern="0" dirty="0">
                <a:solidFill>
                  <a:srgbClr val="0E8A82"/>
                </a:solidFill>
                <a:latin typeface="Arial" pitchFamily="34" charset="0"/>
                <a:ea typeface="Arial" pitchFamily="34" charset="-122"/>
                <a:cs typeface="Arial" pitchFamily="34" charset="-120"/>
              </a:rPr>
              <a:t>COSTO</a:t>
            </a:r>
            <a:endParaRPr lang="en-US" sz="1650" dirty="0"/>
          </a:p>
        </p:txBody>
      </p:sp>
      <p:sp>
        <p:nvSpPr>
          <p:cNvPr id="28" name="Text 26"/>
          <p:cNvSpPr/>
          <p:nvPr/>
        </p:nvSpPr>
        <p:spPr>
          <a:xfrm>
            <a:off x="3276600" y="7283500"/>
            <a:ext cx="6759416"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Scalabile per singola persona o piccoli team</a:t>
            </a:r>
            <a:endParaRPr lang="en-US" sz="1950" dirty="0"/>
          </a:p>
        </p:txBody>
      </p:sp>
      <p:sp>
        <p:nvSpPr>
          <p:cNvPr id="29" name="Text 27"/>
          <p:cNvSpPr/>
          <p:nvPr/>
        </p:nvSpPr>
        <p:spPr>
          <a:xfrm>
            <a:off x="10467975" y="7283500"/>
            <a:ext cx="6759416"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Costo per utente sopra un abbonamento già attivo</a:t>
            </a:r>
            <a:endParaRPr lang="en-US" sz="1950" dirty="0"/>
          </a:p>
        </p:txBody>
      </p:sp>
      <p:pic>
        <p:nvPicPr>
          <p:cNvPr id="30" name="Image 0" descr="preencoded.png">    </p:cNvPr>
          <p:cNvPicPr>
            <a:picLocks noChangeAspect="1"/>
          </p:cNvPicPr>
          <p:nvPr/>
        </p:nvPicPr>
        <p:blipFill>
          <a:blip r:embed="rId1"/>
          <a:stretch>
            <a:fillRect/>
          </a:stretch>
        </p:blipFill>
        <p:spPr>
          <a:xfrm>
            <a:off x="952500" y="9544050"/>
            <a:ext cx="882997" cy="323850"/>
          </a:xfrm>
          <a:prstGeom prst="rect">
            <a:avLst/>
          </a:prstGeom>
        </p:spPr>
      </p:pic>
      <p:sp>
        <p:nvSpPr>
          <p:cNvPr id="31" name="Text 28"/>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30</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I TRE PRODOTTI PRINCIPALI</a:t>
            </a:r>
            <a:endParaRPr lang="en-US" sz="1650" dirty="0"/>
          </a:p>
        </p:txBody>
      </p:sp>
      <p:pic>
        <p:nvPicPr>
          <p:cNvPr id="3" name="Image 0" descr="preencoded.png">    </p:cNvPr>
          <p:cNvPicPr>
            <a:picLocks noChangeAspect="1"/>
          </p:cNvPicPr>
          <p:nvPr/>
        </p:nvPicPr>
        <p:blipFill>
          <a:blip r:embed="rId1"/>
          <a:stretch>
            <a:fillRect/>
          </a:stretch>
        </p:blipFill>
        <p:spPr>
          <a:xfrm>
            <a:off x="952500" y="1472803"/>
            <a:ext cx="819150" cy="819150"/>
          </a:xfrm>
          <a:prstGeom prst="rect">
            <a:avLst/>
          </a:prstGeom>
        </p:spPr>
      </p:pic>
      <p:sp>
        <p:nvSpPr>
          <p:cNvPr id="4" name="Text 1"/>
          <p:cNvSpPr/>
          <p:nvPr/>
        </p:nvSpPr>
        <p:spPr>
          <a:xfrm>
            <a:off x="2114550" y="1440061"/>
            <a:ext cx="1464766"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spc="120" kern="0" dirty="0">
                <a:solidFill>
                  <a:srgbClr val="6B7280"/>
                </a:solidFill>
                <a:latin typeface="Arial" pitchFamily="34" charset="0"/>
                <a:ea typeface="Arial" pitchFamily="34" charset="-122"/>
                <a:cs typeface="Arial" pitchFamily="34" charset="-120"/>
              </a:rPr>
              <a:t>ANTHROPIC</a:t>
            </a:r>
            <a:endParaRPr lang="en-US" sz="1500" dirty="0"/>
          </a:p>
        </p:txBody>
      </p:sp>
      <p:sp>
        <p:nvSpPr>
          <p:cNvPr id="5" name="Text 2"/>
          <p:cNvSpPr/>
          <p:nvPr/>
        </p:nvSpPr>
        <p:spPr>
          <a:xfrm>
            <a:off x="2114550" y="1821061"/>
            <a:ext cx="1527423"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Claude</a:t>
            </a:r>
            <a:endParaRPr lang="en-US" sz="3450" dirty="0"/>
          </a:p>
        </p:txBody>
      </p:sp>
      <p:sp>
        <p:nvSpPr>
          <p:cNvPr id="6" name="Text 3"/>
          <p:cNvSpPr/>
          <p:nvPr/>
        </p:nvSpPr>
        <p:spPr>
          <a:xfrm>
            <a:off x="952500" y="2648694"/>
            <a:ext cx="18021300" cy="556171"/>
          </a:xfrm>
          <a:prstGeom prst="rect">
            <a:avLst/>
          </a:prstGeom>
          <a:noFill/>
          <a:ln/>
        </p:spPr>
        <p:txBody>
          <a:bodyPr wrap="square" lIns="25400" tIns="25400" rIns="25400" bIns="25400" rtlCol="0" anchor="t">
            <a:normAutofit/>
          </a:bodyPr>
          <a:lstStyle/>
          <a:p>
            <a:pPr algn="l" indent="0" marL="0">
              <a:lnSpc>
                <a:spcPct val="139487"/>
              </a:lnSpc>
              <a:buNone/>
            </a:pPr>
            <a:r>
              <a:rPr lang="en-US" sz="2550" b="1" dirty="0">
                <a:solidFill>
                  <a:srgbClr val="1F569E"/>
                </a:solidFill>
                <a:latin typeface="Arial" pitchFamily="34" charset="0"/>
                <a:ea typeface="Arial" pitchFamily="34" charset="-122"/>
                <a:cs typeface="Arial" pitchFamily="34" charset="-120"/>
              </a:rPr>
              <a:t>Scrittura, documenti lunghi, programmazione</a:t>
            </a:r>
            <a:endParaRPr lang="en-US" sz="2550" dirty="0"/>
          </a:p>
        </p:txBody>
      </p:sp>
      <p:sp>
        <p:nvSpPr>
          <p:cNvPr id="7" name="Text 4"/>
          <p:cNvSpPr/>
          <p:nvPr/>
        </p:nvSpPr>
        <p:spPr>
          <a:xfrm>
            <a:off x="952500" y="3357265"/>
            <a:ext cx="15304770" cy="1277987"/>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1A1A1A"/>
                </a:solidFill>
                <a:latin typeface="Arial" pitchFamily="34" charset="0"/>
                <a:ea typeface="Arial" pitchFamily="34" charset="-122"/>
                <a:cs typeface="Arial" pitchFamily="34" charset="-120"/>
              </a:rPr>
              <a:t>Punto di forza riconosciuto su compiti di scrittura, analisi di documenti lunghi e programmazione, con attenzione dichiarata alla sicurezza. È la famiglia verso cui è orientato, in generale, il percorso Agritech — ma resta comunque dentro il confronto comparativo.</a:t>
            </a:r>
            <a:endParaRPr lang="en-US" sz="2100" dirty="0"/>
          </a:p>
        </p:txBody>
      </p:sp>
      <p:sp>
        <p:nvSpPr>
          <p:cNvPr id="8" name="Shape 5"/>
          <p:cNvSpPr/>
          <p:nvPr/>
        </p:nvSpPr>
        <p:spPr>
          <a:xfrm>
            <a:off x="952500" y="5092452"/>
            <a:ext cx="5257800" cy="3072705"/>
          </a:xfrm>
          <a:prstGeom prst="roundRect">
            <a:avLst>
              <a:gd name="adj" fmla="val 2480"/>
            </a:avLst>
          </a:prstGeom>
          <a:solidFill>
            <a:srgbClr val="F4F6F9"/>
          </a:solidFill>
          <a:ln/>
        </p:spPr>
      </p:sp>
      <p:sp>
        <p:nvSpPr>
          <p:cNvPr id="9" name="Text 6"/>
          <p:cNvSpPr/>
          <p:nvPr/>
        </p:nvSpPr>
        <p:spPr>
          <a:xfrm>
            <a:off x="1276350" y="5454402"/>
            <a:ext cx="5071110" cy="358080"/>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FUNZIONI CREATIVE E RICERCA</a:t>
            </a:r>
            <a:endParaRPr lang="en-US" sz="1575" dirty="0"/>
          </a:p>
        </p:txBody>
      </p:sp>
      <p:sp>
        <p:nvSpPr>
          <p:cNvPr id="10" name="Text 7"/>
          <p:cNvSpPr/>
          <p:nvPr/>
        </p:nvSpPr>
        <p:spPr>
          <a:xfrm>
            <a:off x="1276350" y="5945832"/>
            <a:ext cx="4748403" cy="18954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Ricerca web integrata. Esecuzione di codice tramite strumento dedicato. Non genera immagini nativamente — differenza da segnalare rispetto agli altri due.</a:t>
            </a:r>
            <a:endParaRPr lang="en-US" sz="1950" dirty="0"/>
          </a:p>
        </p:txBody>
      </p:sp>
      <p:sp>
        <p:nvSpPr>
          <p:cNvPr id="11" name="Shape 8"/>
          <p:cNvSpPr/>
          <p:nvPr/>
        </p:nvSpPr>
        <p:spPr>
          <a:xfrm>
            <a:off x="6515100" y="5092452"/>
            <a:ext cx="5257800" cy="3072705"/>
          </a:xfrm>
          <a:prstGeom prst="roundRect">
            <a:avLst>
              <a:gd name="adj" fmla="val 2480"/>
            </a:avLst>
          </a:prstGeom>
          <a:solidFill>
            <a:srgbClr val="F4F6F9"/>
          </a:solidFill>
          <a:ln/>
        </p:spPr>
      </p:sp>
      <p:sp>
        <p:nvSpPr>
          <p:cNvPr id="12" name="Text 9"/>
          <p:cNvSpPr/>
          <p:nvPr/>
        </p:nvSpPr>
        <p:spPr>
          <a:xfrm>
            <a:off x="6838950" y="5454402"/>
            <a:ext cx="5071110" cy="358080"/>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DOCUMENTI E CONTESTO</a:t>
            </a:r>
            <a:endParaRPr lang="en-US" sz="1575" dirty="0"/>
          </a:p>
        </p:txBody>
      </p:sp>
      <p:sp>
        <p:nvSpPr>
          <p:cNvPr id="13" name="Text 10"/>
          <p:cNvSpPr/>
          <p:nvPr/>
        </p:nvSpPr>
        <p:spPr>
          <a:xfrm>
            <a:off x="6838950" y="5945832"/>
            <a:ext cx="4748403" cy="152400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Caricamento e analisi di file nella conversazione. "Projects" per raccogliere materiale di riferimento riusabile tra conversazioni.</a:t>
            </a:r>
            <a:endParaRPr lang="en-US" sz="1950" dirty="0"/>
          </a:p>
        </p:txBody>
      </p:sp>
      <p:sp>
        <p:nvSpPr>
          <p:cNvPr id="14" name="Shape 11"/>
          <p:cNvSpPr/>
          <p:nvPr/>
        </p:nvSpPr>
        <p:spPr>
          <a:xfrm>
            <a:off x="12077700" y="5092452"/>
            <a:ext cx="5257800" cy="3072705"/>
          </a:xfrm>
          <a:prstGeom prst="roundRect">
            <a:avLst>
              <a:gd name="adj" fmla="val 2480"/>
            </a:avLst>
          </a:prstGeom>
          <a:solidFill>
            <a:srgbClr val="F4F6F9"/>
          </a:solidFill>
          <a:ln/>
        </p:spPr>
      </p:sp>
      <p:sp>
        <p:nvSpPr>
          <p:cNvPr id="15" name="Text 12"/>
          <p:cNvSpPr/>
          <p:nvPr/>
        </p:nvSpPr>
        <p:spPr>
          <a:xfrm>
            <a:off x="12401550" y="5454402"/>
            <a:ext cx="5071110" cy="358080"/>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USO QUOTIDIANO</a:t>
            </a:r>
            <a:endParaRPr lang="en-US" sz="1575" dirty="0"/>
          </a:p>
        </p:txBody>
      </p:sp>
      <p:sp>
        <p:nvSpPr>
          <p:cNvPr id="16" name="Text 13"/>
          <p:cNvSpPr/>
          <p:nvPr/>
        </p:nvSpPr>
        <p:spPr>
          <a:xfrm>
            <a:off x="12401550" y="5945832"/>
            <a:ext cx="4748403"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Web, desktop, mobile. Piano gratuito disponibile.</a:t>
            </a:r>
            <a:endParaRPr lang="en-US" sz="1950" dirty="0"/>
          </a:p>
        </p:txBody>
      </p:sp>
      <p:pic>
        <p:nvPicPr>
          <p:cNvPr id="17" name="Image 1" descr="preencoded.png">    </p:cNvPr>
          <p:cNvPicPr>
            <a:picLocks noChangeAspect="1"/>
          </p:cNvPicPr>
          <p:nvPr/>
        </p:nvPicPr>
        <p:blipFill>
          <a:blip r:embed="rId2"/>
          <a:stretch>
            <a:fillRect/>
          </a:stretch>
        </p:blipFill>
        <p:spPr>
          <a:xfrm>
            <a:off x="952500" y="9544050"/>
            <a:ext cx="882997" cy="323850"/>
          </a:xfrm>
          <a:prstGeom prst="rect">
            <a:avLst/>
          </a:prstGeom>
        </p:spPr>
      </p:pic>
      <p:sp>
        <p:nvSpPr>
          <p:cNvPr id="18"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31</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I TRE PRODOTTI PRINCIPALI</a:t>
            </a:r>
            <a:endParaRPr lang="en-US" sz="1650" dirty="0"/>
          </a:p>
        </p:txBody>
      </p:sp>
      <p:pic>
        <p:nvPicPr>
          <p:cNvPr id="3" name="Image 0" descr="preencoded.png">    </p:cNvPr>
          <p:cNvPicPr>
            <a:picLocks noChangeAspect="1"/>
          </p:cNvPicPr>
          <p:nvPr/>
        </p:nvPicPr>
        <p:blipFill>
          <a:blip r:embed="rId1"/>
          <a:stretch>
            <a:fillRect/>
          </a:stretch>
        </p:blipFill>
        <p:spPr>
          <a:xfrm>
            <a:off x="952500" y="1472803"/>
            <a:ext cx="819150" cy="819150"/>
          </a:xfrm>
          <a:prstGeom prst="rect">
            <a:avLst/>
          </a:prstGeom>
        </p:spPr>
      </p:pic>
      <p:sp>
        <p:nvSpPr>
          <p:cNvPr id="4" name="Text 1"/>
          <p:cNvSpPr/>
          <p:nvPr/>
        </p:nvSpPr>
        <p:spPr>
          <a:xfrm>
            <a:off x="2114550" y="1440061"/>
            <a:ext cx="1902470"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spc="120" kern="0" dirty="0">
                <a:solidFill>
                  <a:srgbClr val="6B7280"/>
                </a:solidFill>
                <a:latin typeface="Arial" pitchFamily="34" charset="0"/>
                <a:ea typeface="Arial" pitchFamily="34" charset="-122"/>
                <a:cs typeface="Arial" pitchFamily="34" charset="-120"/>
              </a:rPr>
              <a:t>OPENAI</a:t>
            </a:r>
            <a:endParaRPr lang="en-US" sz="1500" dirty="0"/>
          </a:p>
        </p:txBody>
      </p:sp>
      <p:sp>
        <p:nvSpPr>
          <p:cNvPr id="5" name="Text 2"/>
          <p:cNvSpPr/>
          <p:nvPr/>
        </p:nvSpPr>
        <p:spPr>
          <a:xfrm>
            <a:off x="2114550" y="1821061"/>
            <a:ext cx="2008897"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ChatGPT</a:t>
            </a:r>
            <a:endParaRPr lang="en-US" sz="3450" dirty="0"/>
          </a:p>
        </p:txBody>
      </p:sp>
      <p:sp>
        <p:nvSpPr>
          <p:cNvPr id="6" name="Text 3"/>
          <p:cNvSpPr/>
          <p:nvPr/>
        </p:nvSpPr>
        <p:spPr>
          <a:xfrm>
            <a:off x="952500" y="2648694"/>
            <a:ext cx="18021300" cy="556171"/>
          </a:xfrm>
          <a:prstGeom prst="rect">
            <a:avLst/>
          </a:prstGeom>
          <a:noFill/>
          <a:ln/>
        </p:spPr>
        <p:txBody>
          <a:bodyPr wrap="square" lIns="25400" tIns="25400" rIns="25400" bIns="25400" rtlCol="0" anchor="t">
            <a:normAutofit/>
          </a:bodyPr>
          <a:lstStyle/>
          <a:p>
            <a:pPr algn="l" indent="0" marL="0">
              <a:lnSpc>
                <a:spcPct val="139487"/>
              </a:lnSpc>
              <a:buNone/>
            </a:pPr>
            <a:r>
              <a:rPr lang="en-US" sz="2550" b="1" dirty="0">
                <a:solidFill>
                  <a:srgbClr val="1F569E"/>
                </a:solidFill>
                <a:latin typeface="Arial" pitchFamily="34" charset="0"/>
                <a:ea typeface="Arial" pitchFamily="34" charset="-122"/>
                <a:cs typeface="Arial" pitchFamily="34" charset="-120"/>
              </a:rPr>
              <a:t>L'ecosistema più ampio, il nome più conosciuto</a:t>
            </a:r>
            <a:endParaRPr lang="en-US" sz="2550" dirty="0"/>
          </a:p>
        </p:txBody>
      </p:sp>
      <p:sp>
        <p:nvSpPr>
          <p:cNvPr id="7" name="Text 4"/>
          <p:cNvSpPr/>
          <p:nvPr/>
        </p:nvSpPr>
        <p:spPr>
          <a:xfrm>
            <a:off x="952500" y="3357265"/>
            <a:ext cx="15304770" cy="864691"/>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1A1A1A"/>
                </a:solidFill>
                <a:latin typeface="Arial" pitchFamily="34" charset="0"/>
                <a:ea typeface="Arial" pitchFamily="34" charset="-122"/>
                <a:cs typeface="Arial" pitchFamily="34" charset="-120"/>
              </a:rPr>
              <a:t>Probabilmente il nome più riconosciuto dal pubblico non tecnico: spesso è il primo strumento con cui una persona incontra l'AI generativa. Offre l'ecosistema più ampio di funzioni accessorie tra i tre.</a:t>
            </a:r>
            <a:endParaRPr lang="en-US" sz="2100" dirty="0"/>
          </a:p>
        </p:txBody>
      </p:sp>
      <p:sp>
        <p:nvSpPr>
          <p:cNvPr id="8" name="Shape 5"/>
          <p:cNvSpPr/>
          <p:nvPr/>
        </p:nvSpPr>
        <p:spPr>
          <a:xfrm>
            <a:off x="952500" y="4679156"/>
            <a:ext cx="5257800" cy="2701230"/>
          </a:xfrm>
          <a:prstGeom prst="roundRect">
            <a:avLst>
              <a:gd name="adj" fmla="val 2821"/>
            </a:avLst>
          </a:prstGeom>
          <a:solidFill>
            <a:srgbClr val="FFFFFF"/>
          </a:solidFill>
          <a:ln/>
        </p:spPr>
      </p:sp>
      <p:sp>
        <p:nvSpPr>
          <p:cNvPr id="9" name="Text 6"/>
          <p:cNvSpPr/>
          <p:nvPr/>
        </p:nvSpPr>
        <p:spPr>
          <a:xfrm>
            <a:off x="1276350" y="5041106"/>
            <a:ext cx="5071110" cy="358080"/>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FUNZIONI CREATIVE E RICERCA</a:t>
            </a:r>
            <a:endParaRPr lang="en-US" sz="1575" dirty="0"/>
          </a:p>
        </p:txBody>
      </p:sp>
      <p:sp>
        <p:nvSpPr>
          <p:cNvPr id="10" name="Text 7"/>
          <p:cNvSpPr/>
          <p:nvPr/>
        </p:nvSpPr>
        <p:spPr>
          <a:xfrm>
            <a:off x="1276350" y="5532537"/>
            <a:ext cx="4748403" cy="152400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Ricerca web integrata. Generazione di immagini nativa, e funzioni video sui piani superiori. Esecuzione di codice e analisi dati.</a:t>
            </a:r>
            <a:endParaRPr lang="en-US" sz="1950" dirty="0"/>
          </a:p>
        </p:txBody>
      </p:sp>
      <p:sp>
        <p:nvSpPr>
          <p:cNvPr id="11" name="Shape 8"/>
          <p:cNvSpPr/>
          <p:nvPr/>
        </p:nvSpPr>
        <p:spPr>
          <a:xfrm>
            <a:off x="6515100" y="4679156"/>
            <a:ext cx="5257800" cy="2701230"/>
          </a:xfrm>
          <a:prstGeom prst="roundRect">
            <a:avLst>
              <a:gd name="adj" fmla="val 2821"/>
            </a:avLst>
          </a:prstGeom>
          <a:solidFill>
            <a:srgbClr val="FFFFFF"/>
          </a:solidFill>
          <a:ln/>
        </p:spPr>
      </p:sp>
      <p:sp>
        <p:nvSpPr>
          <p:cNvPr id="12" name="Text 9"/>
          <p:cNvSpPr/>
          <p:nvPr/>
        </p:nvSpPr>
        <p:spPr>
          <a:xfrm>
            <a:off x="6838950" y="5041106"/>
            <a:ext cx="5071110" cy="358080"/>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DOCUMENTI E CONTESTO</a:t>
            </a:r>
            <a:endParaRPr lang="en-US" sz="1575" dirty="0"/>
          </a:p>
        </p:txBody>
      </p:sp>
      <p:sp>
        <p:nvSpPr>
          <p:cNvPr id="13" name="Text 10"/>
          <p:cNvSpPr/>
          <p:nvPr/>
        </p:nvSpPr>
        <p:spPr>
          <a:xfrm>
            <a:off x="6838950" y="5532537"/>
            <a:ext cx="4748403" cy="115252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Caricamento file nella conversazione. "Projects" e assistenti personalizzati ("GPT") configurabili.</a:t>
            </a:r>
            <a:endParaRPr lang="en-US" sz="1950" dirty="0"/>
          </a:p>
        </p:txBody>
      </p:sp>
      <p:sp>
        <p:nvSpPr>
          <p:cNvPr id="14" name="Shape 11"/>
          <p:cNvSpPr/>
          <p:nvPr/>
        </p:nvSpPr>
        <p:spPr>
          <a:xfrm>
            <a:off x="12077700" y="4679156"/>
            <a:ext cx="5257800" cy="2701230"/>
          </a:xfrm>
          <a:prstGeom prst="roundRect">
            <a:avLst>
              <a:gd name="adj" fmla="val 2821"/>
            </a:avLst>
          </a:prstGeom>
          <a:solidFill>
            <a:srgbClr val="FFFFFF"/>
          </a:solidFill>
          <a:ln/>
        </p:spPr>
      </p:sp>
      <p:sp>
        <p:nvSpPr>
          <p:cNvPr id="15" name="Text 12"/>
          <p:cNvSpPr/>
          <p:nvPr/>
        </p:nvSpPr>
        <p:spPr>
          <a:xfrm>
            <a:off x="12401550" y="5041106"/>
            <a:ext cx="5071110" cy="358080"/>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USO QUOTIDIANO</a:t>
            </a:r>
            <a:endParaRPr lang="en-US" sz="1575" dirty="0"/>
          </a:p>
        </p:txBody>
      </p:sp>
      <p:sp>
        <p:nvSpPr>
          <p:cNvPr id="16" name="Text 13"/>
          <p:cNvSpPr/>
          <p:nvPr/>
        </p:nvSpPr>
        <p:spPr>
          <a:xfrm>
            <a:off x="12401550" y="5532537"/>
            <a:ext cx="4748403" cy="115252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Web, desktop, mobile. Piano gratuito con funzioni ridotte rispetto ai piani a pagamento.</a:t>
            </a:r>
            <a:endParaRPr lang="en-US" sz="1950" dirty="0"/>
          </a:p>
        </p:txBody>
      </p:sp>
      <p:pic>
        <p:nvPicPr>
          <p:cNvPr id="17" name="Image 1" descr="preencoded.png">    </p:cNvPr>
          <p:cNvPicPr>
            <a:picLocks noChangeAspect="1"/>
          </p:cNvPicPr>
          <p:nvPr/>
        </p:nvPicPr>
        <p:blipFill>
          <a:blip r:embed="rId2"/>
          <a:stretch>
            <a:fillRect/>
          </a:stretch>
        </p:blipFill>
        <p:spPr>
          <a:xfrm>
            <a:off x="952500" y="9544050"/>
            <a:ext cx="882997" cy="323850"/>
          </a:xfrm>
          <a:prstGeom prst="rect">
            <a:avLst/>
          </a:prstGeom>
        </p:spPr>
      </p:pic>
      <p:sp>
        <p:nvSpPr>
          <p:cNvPr id="18"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32</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I TRE PRODOTTI PRINCIPALI</a:t>
            </a:r>
            <a:endParaRPr lang="en-US" sz="1650" dirty="0"/>
          </a:p>
        </p:txBody>
      </p:sp>
      <p:pic>
        <p:nvPicPr>
          <p:cNvPr id="3" name="Image 0" descr="preencoded.png">    </p:cNvPr>
          <p:cNvPicPr>
            <a:picLocks noChangeAspect="1"/>
          </p:cNvPicPr>
          <p:nvPr/>
        </p:nvPicPr>
        <p:blipFill>
          <a:blip r:embed="rId1"/>
          <a:stretch>
            <a:fillRect/>
          </a:stretch>
        </p:blipFill>
        <p:spPr>
          <a:xfrm>
            <a:off x="952500" y="1472803"/>
            <a:ext cx="819150" cy="819150"/>
          </a:xfrm>
          <a:prstGeom prst="rect">
            <a:avLst/>
          </a:prstGeom>
        </p:spPr>
      </p:pic>
      <p:sp>
        <p:nvSpPr>
          <p:cNvPr id="4" name="Text 1"/>
          <p:cNvSpPr/>
          <p:nvPr/>
        </p:nvSpPr>
        <p:spPr>
          <a:xfrm>
            <a:off x="2114550" y="1440061"/>
            <a:ext cx="146417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spc="120" kern="0" dirty="0">
                <a:solidFill>
                  <a:srgbClr val="6B7280"/>
                </a:solidFill>
                <a:latin typeface="Arial" pitchFamily="34" charset="0"/>
                <a:ea typeface="Arial" pitchFamily="34" charset="-122"/>
                <a:cs typeface="Arial" pitchFamily="34" charset="-120"/>
              </a:rPr>
              <a:t>GOOGLE</a:t>
            </a:r>
            <a:endParaRPr lang="en-US" sz="1500" dirty="0"/>
          </a:p>
        </p:txBody>
      </p:sp>
      <p:sp>
        <p:nvSpPr>
          <p:cNvPr id="5" name="Text 2"/>
          <p:cNvSpPr/>
          <p:nvPr/>
        </p:nvSpPr>
        <p:spPr>
          <a:xfrm>
            <a:off x="2114550" y="1821061"/>
            <a:ext cx="1526768"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Gemini</a:t>
            </a:r>
            <a:endParaRPr lang="en-US" sz="3450" dirty="0"/>
          </a:p>
        </p:txBody>
      </p:sp>
      <p:sp>
        <p:nvSpPr>
          <p:cNvPr id="6" name="Text 3"/>
          <p:cNvSpPr/>
          <p:nvPr/>
        </p:nvSpPr>
        <p:spPr>
          <a:xfrm>
            <a:off x="952500" y="2648694"/>
            <a:ext cx="18021300" cy="556171"/>
          </a:xfrm>
          <a:prstGeom prst="rect">
            <a:avLst/>
          </a:prstGeom>
          <a:noFill/>
          <a:ln/>
        </p:spPr>
        <p:txBody>
          <a:bodyPr wrap="square" lIns="25400" tIns="25400" rIns="25400" bIns="25400" rtlCol="0" anchor="t">
            <a:normAutofit/>
          </a:bodyPr>
          <a:lstStyle/>
          <a:p>
            <a:pPr algn="l" indent="0" marL="0">
              <a:lnSpc>
                <a:spcPct val="139487"/>
              </a:lnSpc>
              <a:buNone/>
            </a:pPr>
            <a:r>
              <a:rPr lang="en-US" sz="2550" b="1" dirty="0">
                <a:solidFill>
                  <a:srgbClr val="1F569E"/>
                </a:solidFill>
                <a:latin typeface="Arial" pitchFamily="34" charset="0"/>
                <a:ea typeface="Arial" pitchFamily="34" charset="-122"/>
                <a:cs typeface="Arial" pitchFamily="34" charset="-120"/>
              </a:rPr>
              <a:t>Il più integrato con Google Workspace</a:t>
            </a:r>
            <a:endParaRPr lang="en-US" sz="2550" dirty="0"/>
          </a:p>
        </p:txBody>
      </p:sp>
      <p:sp>
        <p:nvSpPr>
          <p:cNvPr id="7" name="Text 4"/>
          <p:cNvSpPr/>
          <p:nvPr/>
        </p:nvSpPr>
        <p:spPr>
          <a:xfrm>
            <a:off x="952500" y="3357265"/>
            <a:ext cx="15304770" cy="864691"/>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1A1A1A"/>
                </a:solidFill>
                <a:latin typeface="Arial" pitchFamily="34" charset="0"/>
                <a:ea typeface="Arial" pitchFamily="34" charset="-122"/>
                <a:cs typeface="Arial" pitchFamily="34" charset="-120"/>
              </a:rPr>
              <a:t>Stessa logica di fondo degli altri due, con un vantaggio in più per chi già usa Google Workspace: oltre a esistere come chatbot a sé stante, è integrato direttamente dentro Gmail, Documenti, Fogli e Meet.</a:t>
            </a:r>
            <a:endParaRPr lang="en-US" sz="2100" dirty="0"/>
          </a:p>
        </p:txBody>
      </p:sp>
      <p:sp>
        <p:nvSpPr>
          <p:cNvPr id="8" name="Shape 5"/>
          <p:cNvSpPr/>
          <p:nvPr/>
        </p:nvSpPr>
        <p:spPr>
          <a:xfrm>
            <a:off x="952500" y="4679156"/>
            <a:ext cx="5257800" cy="2329755"/>
          </a:xfrm>
          <a:prstGeom prst="roundRect">
            <a:avLst>
              <a:gd name="adj" fmla="val 3271"/>
            </a:avLst>
          </a:prstGeom>
          <a:solidFill>
            <a:srgbClr val="F4F6F9"/>
          </a:solidFill>
          <a:ln/>
        </p:spPr>
      </p:sp>
      <p:sp>
        <p:nvSpPr>
          <p:cNvPr id="9" name="Text 6"/>
          <p:cNvSpPr/>
          <p:nvPr/>
        </p:nvSpPr>
        <p:spPr>
          <a:xfrm>
            <a:off x="1276350" y="5041106"/>
            <a:ext cx="5071110" cy="358080"/>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FUNZIONI CREATIVE E RICERCA</a:t>
            </a:r>
            <a:endParaRPr lang="en-US" sz="1575" dirty="0"/>
          </a:p>
        </p:txBody>
      </p:sp>
      <p:sp>
        <p:nvSpPr>
          <p:cNvPr id="10" name="Text 7"/>
          <p:cNvSpPr/>
          <p:nvPr/>
        </p:nvSpPr>
        <p:spPr>
          <a:xfrm>
            <a:off x="1276350" y="5532537"/>
            <a:ext cx="4748403" cy="115252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Ricerca web nativa (Google Search). Generazione di immagini, e video sui piani superiori. Esecuzione di codice.</a:t>
            </a:r>
            <a:endParaRPr lang="en-US" sz="1950" dirty="0"/>
          </a:p>
        </p:txBody>
      </p:sp>
      <p:sp>
        <p:nvSpPr>
          <p:cNvPr id="11" name="Shape 8"/>
          <p:cNvSpPr/>
          <p:nvPr/>
        </p:nvSpPr>
        <p:spPr>
          <a:xfrm>
            <a:off x="6515100" y="4679156"/>
            <a:ext cx="5257800" cy="2329755"/>
          </a:xfrm>
          <a:prstGeom prst="roundRect">
            <a:avLst>
              <a:gd name="adj" fmla="val 3271"/>
            </a:avLst>
          </a:prstGeom>
          <a:solidFill>
            <a:srgbClr val="F4F6F9"/>
          </a:solidFill>
          <a:ln/>
        </p:spPr>
      </p:sp>
      <p:sp>
        <p:nvSpPr>
          <p:cNvPr id="12" name="Text 9"/>
          <p:cNvSpPr/>
          <p:nvPr/>
        </p:nvSpPr>
        <p:spPr>
          <a:xfrm>
            <a:off x="6838950" y="5041106"/>
            <a:ext cx="5071110" cy="358080"/>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DOCUMENTI E CONTESTO</a:t>
            </a:r>
            <a:endParaRPr lang="en-US" sz="1575" dirty="0"/>
          </a:p>
        </p:txBody>
      </p:sp>
      <p:sp>
        <p:nvSpPr>
          <p:cNvPr id="13" name="Text 10"/>
          <p:cNvSpPr/>
          <p:nvPr/>
        </p:nvSpPr>
        <p:spPr>
          <a:xfrm>
            <a:off x="6838950" y="5532537"/>
            <a:ext cx="4748403" cy="115252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Caricamento file. "Gems" per creare assistenti con istruzioni fisse e file di riferimento propri.</a:t>
            </a:r>
            <a:endParaRPr lang="en-US" sz="1950" dirty="0"/>
          </a:p>
        </p:txBody>
      </p:sp>
      <p:sp>
        <p:nvSpPr>
          <p:cNvPr id="14" name="Shape 11"/>
          <p:cNvSpPr/>
          <p:nvPr/>
        </p:nvSpPr>
        <p:spPr>
          <a:xfrm>
            <a:off x="12077700" y="4679156"/>
            <a:ext cx="5257800" cy="2329755"/>
          </a:xfrm>
          <a:prstGeom prst="roundRect">
            <a:avLst>
              <a:gd name="adj" fmla="val 3271"/>
            </a:avLst>
          </a:prstGeom>
          <a:solidFill>
            <a:srgbClr val="F4F6F9"/>
          </a:solidFill>
          <a:ln/>
        </p:spPr>
      </p:sp>
      <p:sp>
        <p:nvSpPr>
          <p:cNvPr id="15" name="Text 12"/>
          <p:cNvSpPr/>
          <p:nvPr/>
        </p:nvSpPr>
        <p:spPr>
          <a:xfrm>
            <a:off x="12401550" y="5041106"/>
            <a:ext cx="5071110" cy="358080"/>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USO QUOTIDIANO</a:t>
            </a:r>
            <a:endParaRPr lang="en-US" sz="1575" dirty="0"/>
          </a:p>
        </p:txBody>
      </p:sp>
      <p:sp>
        <p:nvSpPr>
          <p:cNvPr id="16" name="Text 13"/>
          <p:cNvSpPr/>
          <p:nvPr/>
        </p:nvSpPr>
        <p:spPr>
          <a:xfrm>
            <a:off x="12401550" y="5532537"/>
            <a:ext cx="4748403" cy="115252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1A1A1A"/>
                </a:solidFill>
                <a:latin typeface="Arial" pitchFamily="34" charset="0"/>
                <a:ea typeface="Arial" pitchFamily="34" charset="-122"/>
                <a:cs typeface="Arial" pitchFamily="34" charset="-120"/>
              </a:rPr>
              <a:t>Web, mobile, desktop, oltre all'integrazione diretta dentro Gmail/Documenti/Fogli (famiglia 2).</a:t>
            </a:r>
            <a:endParaRPr lang="en-US" sz="1950" dirty="0"/>
          </a:p>
        </p:txBody>
      </p:sp>
      <p:pic>
        <p:nvPicPr>
          <p:cNvPr id="17" name="Image 1" descr="preencoded.png">    </p:cNvPr>
          <p:cNvPicPr>
            <a:picLocks noChangeAspect="1"/>
          </p:cNvPicPr>
          <p:nvPr/>
        </p:nvPicPr>
        <p:blipFill>
          <a:blip r:embed="rId2"/>
          <a:stretch>
            <a:fillRect/>
          </a:stretch>
        </p:blipFill>
        <p:spPr>
          <a:xfrm>
            <a:off x="952500" y="9544050"/>
            <a:ext cx="882997" cy="323850"/>
          </a:xfrm>
          <a:prstGeom prst="rect">
            <a:avLst/>
          </a:prstGeom>
        </p:spPr>
      </p:pic>
      <p:sp>
        <p:nvSpPr>
          <p:cNvPr id="18" name="Text 14"/>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33</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52500" y="857250"/>
            <a:ext cx="18021300" cy="373261"/>
          </a:xfrm>
          <a:prstGeom prst="rect">
            <a:avLst/>
          </a:prstGeom>
          <a:noFill/>
          <a:ln/>
        </p:spPr>
        <p:txBody>
          <a:bodyPr wrap="square" lIns="25400" tIns="25400" rIns="25400" bIns="25400" rtlCol="0" anchor="t">
            <a:normAutofit/>
          </a:bodyPr>
          <a:lstStyle/>
          <a:p>
            <a:pPr algn="l" indent="0" marL="0">
              <a:lnSpc>
                <a:spcPct val="113548"/>
              </a:lnSpc>
              <a:buNone/>
            </a:pPr>
            <a:r>
              <a:rPr lang="en-US" sz="1650" b="1" spc="132" kern="0" dirty="0">
                <a:solidFill>
                  <a:srgbClr val="0E8A82"/>
                </a:solidFill>
                <a:latin typeface="Arial" pitchFamily="34" charset="0"/>
                <a:ea typeface="Arial" pitchFamily="34" charset="-122"/>
                <a:cs typeface="Arial" pitchFamily="34" charset="-120"/>
              </a:rPr>
              <a:t>STESSO NUCLEO, DIFFERENZE PRATICHE</a:t>
            </a:r>
            <a:endParaRPr lang="en-US" sz="1650" dirty="0"/>
          </a:p>
        </p:txBody>
      </p:sp>
      <p:sp>
        <p:nvSpPr>
          <p:cNvPr id="3" name="Text 1"/>
          <p:cNvSpPr/>
          <p:nvPr/>
        </p:nvSpPr>
        <p:spPr>
          <a:xfrm>
            <a:off x="952500" y="1382911"/>
            <a:ext cx="18021300" cy="541883"/>
          </a:xfrm>
          <a:prstGeom prst="rect">
            <a:avLst/>
          </a:prstGeom>
          <a:noFill/>
          <a:ln/>
        </p:spPr>
        <p:txBody>
          <a:bodyPr wrap="square" lIns="25400" tIns="25400" rIns="25400" bIns="25400" rtlCol="0" anchor="t">
            <a:normAutofit/>
          </a:bodyPr>
          <a:lstStyle/>
          <a:p>
            <a:pPr algn="l" indent="0" marL="0">
              <a:lnSpc>
                <a:spcPct val="81385"/>
              </a:lnSpc>
              <a:buNone/>
            </a:pPr>
            <a:r>
              <a:rPr lang="en-US" sz="3450" b="1" dirty="0">
                <a:solidFill>
                  <a:srgbClr val="1F569E"/>
                </a:solidFill>
                <a:latin typeface="Arial" pitchFamily="34" charset="0"/>
                <a:ea typeface="Arial" pitchFamily="34" charset="-122"/>
                <a:cs typeface="Arial" pitchFamily="34" charset="-120"/>
              </a:rPr>
              <a:t>Le differenze contano solo per un uso specifico</a:t>
            </a:r>
            <a:endParaRPr lang="en-US" sz="3450" dirty="0"/>
          </a:p>
        </p:txBody>
      </p:sp>
      <p:sp>
        <p:nvSpPr>
          <p:cNvPr id="4" name="Shape 2"/>
          <p:cNvSpPr/>
          <p:nvPr/>
        </p:nvSpPr>
        <p:spPr>
          <a:xfrm>
            <a:off x="952500" y="2381994"/>
            <a:ext cx="16383000" cy="4407098"/>
          </a:xfrm>
          <a:prstGeom prst="roundRect">
            <a:avLst>
              <a:gd name="adj" fmla="val 1729"/>
            </a:avLst>
          </a:prstGeom>
          <a:solidFill>
            <a:srgbClr val="FFFFFF"/>
          </a:solidFill>
          <a:ln/>
        </p:spPr>
      </p:sp>
      <p:sp>
        <p:nvSpPr>
          <p:cNvPr id="5" name="Shape 3"/>
          <p:cNvSpPr/>
          <p:nvPr/>
        </p:nvSpPr>
        <p:spPr>
          <a:xfrm>
            <a:off x="3333750" y="3334494"/>
            <a:ext cx="4667250" cy="9525"/>
          </a:xfrm>
          <a:prstGeom prst="rect">
            <a:avLst/>
          </a:prstGeom>
          <a:solidFill>
            <a:srgbClr val="E5E7EB"/>
          </a:solidFill>
          <a:ln/>
        </p:spPr>
      </p:sp>
      <p:pic>
        <p:nvPicPr>
          <p:cNvPr id="6" name="Image 0" descr="preencoded.png">    </p:cNvPr>
          <p:cNvPicPr>
            <a:picLocks noChangeAspect="1"/>
          </p:cNvPicPr>
          <p:nvPr/>
        </p:nvPicPr>
        <p:blipFill>
          <a:blip r:embed="rId1"/>
          <a:stretch>
            <a:fillRect/>
          </a:stretch>
        </p:blipFill>
        <p:spPr>
          <a:xfrm>
            <a:off x="3638550" y="2648694"/>
            <a:ext cx="419100" cy="419100"/>
          </a:xfrm>
          <a:prstGeom prst="rect">
            <a:avLst/>
          </a:prstGeom>
        </p:spPr>
      </p:pic>
      <p:sp>
        <p:nvSpPr>
          <p:cNvPr id="7" name="Text 4"/>
          <p:cNvSpPr/>
          <p:nvPr/>
        </p:nvSpPr>
        <p:spPr>
          <a:xfrm>
            <a:off x="4210050" y="2660154"/>
            <a:ext cx="861120" cy="434280"/>
          </a:xfrm>
          <a:prstGeom prst="rect">
            <a:avLst/>
          </a:prstGeom>
          <a:noFill/>
          <a:ln/>
        </p:spPr>
        <p:txBody>
          <a:bodyPr wrap="square" lIns="25400" tIns="25400" rIns="25400" bIns="25400" rtlCol="0" anchor="t">
            <a:normAutofit/>
          </a:bodyPr>
          <a:lstStyle/>
          <a:p>
            <a:pPr algn="l" indent="0" marL="0">
              <a:lnSpc>
                <a:spcPct val="112432"/>
              </a:lnSpc>
              <a:buNone/>
            </a:pPr>
            <a:r>
              <a:rPr lang="en-US" sz="1950" b="1" dirty="0">
                <a:solidFill>
                  <a:srgbClr val="1F569E"/>
                </a:solidFill>
                <a:latin typeface="Arial" pitchFamily="34" charset="0"/>
                <a:ea typeface="Arial" pitchFamily="34" charset="-122"/>
                <a:cs typeface="Arial" pitchFamily="34" charset="-120"/>
              </a:rPr>
              <a:t>Claude</a:t>
            </a:r>
            <a:endParaRPr lang="en-US" sz="1950" dirty="0"/>
          </a:p>
        </p:txBody>
      </p:sp>
      <p:sp>
        <p:nvSpPr>
          <p:cNvPr id="8" name="Shape 5"/>
          <p:cNvSpPr/>
          <p:nvPr/>
        </p:nvSpPr>
        <p:spPr>
          <a:xfrm>
            <a:off x="8001000" y="3334494"/>
            <a:ext cx="4667250" cy="9525"/>
          </a:xfrm>
          <a:prstGeom prst="rect">
            <a:avLst/>
          </a:prstGeom>
          <a:solidFill>
            <a:srgbClr val="E5E7EB"/>
          </a:solidFill>
          <a:ln/>
        </p:spPr>
      </p:sp>
      <p:pic>
        <p:nvPicPr>
          <p:cNvPr id="9" name="Image 1" descr="preencoded.png">    </p:cNvPr>
          <p:cNvPicPr>
            <a:picLocks noChangeAspect="1"/>
          </p:cNvPicPr>
          <p:nvPr/>
        </p:nvPicPr>
        <p:blipFill>
          <a:blip r:embed="rId2"/>
          <a:stretch>
            <a:fillRect/>
          </a:stretch>
        </p:blipFill>
        <p:spPr>
          <a:xfrm>
            <a:off x="8305800" y="2648694"/>
            <a:ext cx="419100" cy="419100"/>
          </a:xfrm>
          <a:prstGeom prst="rect">
            <a:avLst/>
          </a:prstGeom>
        </p:spPr>
      </p:pic>
      <p:sp>
        <p:nvSpPr>
          <p:cNvPr id="10" name="Text 6"/>
          <p:cNvSpPr/>
          <p:nvPr/>
        </p:nvSpPr>
        <p:spPr>
          <a:xfrm>
            <a:off x="8877300" y="2660154"/>
            <a:ext cx="1108472" cy="434280"/>
          </a:xfrm>
          <a:prstGeom prst="rect">
            <a:avLst/>
          </a:prstGeom>
          <a:noFill/>
          <a:ln/>
        </p:spPr>
        <p:txBody>
          <a:bodyPr wrap="square" lIns="25400" tIns="25400" rIns="25400" bIns="25400" rtlCol="0" anchor="t">
            <a:normAutofit/>
          </a:bodyPr>
          <a:lstStyle/>
          <a:p>
            <a:pPr algn="l" indent="0" marL="0">
              <a:lnSpc>
                <a:spcPct val="112432"/>
              </a:lnSpc>
              <a:buNone/>
            </a:pPr>
            <a:r>
              <a:rPr lang="en-US" sz="1950" b="1" dirty="0">
                <a:solidFill>
                  <a:srgbClr val="1F569E"/>
                </a:solidFill>
                <a:latin typeface="Arial" pitchFamily="34" charset="0"/>
                <a:ea typeface="Arial" pitchFamily="34" charset="-122"/>
                <a:cs typeface="Arial" pitchFamily="34" charset="-120"/>
              </a:rPr>
              <a:t>ChatGPT</a:t>
            </a:r>
            <a:endParaRPr lang="en-US" sz="1950" dirty="0"/>
          </a:p>
        </p:txBody>
      </p:sp>
      <p:sp>
        <p:nvSpPr>
          <p:cNvPr id="11" name="Shape 7"/>
          <p:cNvSpPr/>
          <p:nvPr/>
        </p:nvSpPr>
        <p:spPr>
          <a:xfrm>
            <a:off x="12668250" y="3334494"/>
            <a:ext cx="4667250" cy="9525"/>
          </a:xfrm>
          <a:prstGeom prst="rect">
            <a:avLst/>
          </a:prstGeom>
          <a:solidFill>
            <a:srgbClr val="E5E7EB"/>
          </a:solidFill>
          <a:ln/>
        </p:spPr>
      </p:sp>
      <p:pic>
        <p:nvPicPr>
          <p:cNvPr id="12" name="Image 2" descr="preencoded.png">    </p:cNvPr>
          <p:cNvPicPr>
            <a:picLocks noChangeAspect="1"/>
          </p:cNvPicPr>
          <p:nvPr/>
        </p:nvPicPr>
        <p:blipFill>
          <a:blip r:embed="rId3"/>
          <a:stretch>
            <a:fillRect/>
          </a:stretch>
        </p:blipFill>
        <p:spPr>
          <a:xfrm>
            <a:off x="12973050" y="2648694"/>
            <a:ext cx="419100" cy="419100"/>
          </a:xfrm>
          <a:prstGeom prst="rect">
            <a:avLst/>
          </a:prstGeom>
        </p:spPr>
      </p:pic>
      <p:sp>
        <p:nvSpPr>
          <p:cNvPr id="13" name="Text 8"/>
          <p:cNvSpPr/>
          <p:nvPr/>
        </p:nvSpPr>
        <p:spPr>
          <a:xfrm>
            <a:off x="13544550" y="2660154"/>
            <a:ext cx="860673" cy="434280"/>
          </a:xfrm>
          <a:prstGeom prst="rect">
            <a:avLst/>
          </a:prstGeom>
          <a:noFill/>
          <a:ln/>
        </p:spPr>
        <p:txBody>
          <a:bodyPr wrap="square" lIns="25400" tIns="25400" rIns="25400" bIns="25400" rtlCol="0" anchor="t">
            <a:normAutofit/>
          </a:bodyPr>
          <a:lstStyle/>
          <a:p>
            <a:pPr algn="l" indent="0" marL="0">
              <a:lnSpc>
                <a:spcPct val="112432"/>
              </a:lnSpc>
              <a:buNone/>
            </a:pPr>
            <a:r>
              <a:rPr lang="en-US" sz="1950" b="1" dirty="0">
                <a:solidFill>
                  <a:srgbClr val="1F569E"/>
                </a:solidFill>
                <a:latin typeface="Arial" pitchFamily="34" charset="0"/>
                <a:ea typeface="Arial" pitchFamily="34" charset="-122"/>
                <a:cs typeface="Arial" pitchFamily="34" charset="-120"/>
              </a:rPr>
              <a:t>Gemini</a:t>
            </a:r>
            <a:endParaRPr lang="en-US" sz="1950" dirty="0"/>
          </a:p>
        </p:txBody>
      </p:sp>
      <p:sp>
        <p:nvSpPr>
          <p:cNvPr id="14" name="Shape 9"/>
          <p:cNvSpPr/>
          <p:nvPr/>
        </p:nvSpPr>
        <p:spPr>
          <a:xfrm>
            <a:off x="952500" y="4555480"/>
            <a:ext cx="2381250" cy="9525"/>
          </a:xfrm>
          <a:prstGeom prst="rect">
            <a:avLst/>
          </a:prstGeom>
          <a:solidFill>
            <a:srgbClr val="E5E7EB"/>
          </a:solidFill>
          <a:ln/>
        </p:spPr>
      </p:sp>
      <p:sp>
        <p:nvSpPr>
          <p:cNvPr id="15" name="Text 10"/>
          <p:cNvSpPr/>
          <p:nvPr/>
        </p:nvSpPr>
        <p:spPr>
          <a:xfrm>
            <a:off x="1257300" y="3629769"/>
            <a:ext cx="1847850" cy="678061"/>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RICERCA &amp; CREATIVITÀ</a:t>
            </a:r>
            <a:endParaRPr lang="en-US" sz="1575" dirty="0"/>
          </a:p>
        </p:txBody>
      </p:sp>
      <p:sp>
        <p:nvSpPr>
          <p:cNvPr id="16" name="Shape 11"/>
          <p:cNvSpPr/>
          <p:nvPr/>
        </p:nvSpPr>
        <p:spPr>
          <a:xfrm>
            <a:off x="3333750" y="4555480"/>
            <a:ext cx="4667250" cy="9525"/>
          </a:xfrm>
          <a:prstGeom prst="rect">
            <a:avLst/>
          </a:prstGeom>
          <a:solidFill>
            <a:srgbClr val="E5E7EB"/>
          </a:solidFill>
          <a:ln/>
        </p:spPr>
      </p:sp>
      <p:sp>
        <p:nvSpPr>
          <p:cNvPr id="17" name="Text 12"/>
          <p:cNvSpPr/>
          <p:nvPr/>
        </p:nvSpPr>
        <p:spPr>
          <a:xfrm>
            <a:off x="3638550" y="3629769"/>
            <a:ext cx="4197668" cy="678061"/>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1A1A1A"/>
                </a:solidFill>
                <a:latin typeface="Arial" pitchFamily="34" charset="0"/>
                <a:ea typeface="Arial" pitchFamily="34" charset="-122"/>
                <a:cs typeface="Arial" pitchFamily="34" charset="-120"/>
              </a:rPr>
              <a:t>Web sì · immagini no · codice sì</a:t>
            </a:r>
            <a:endParaRPr lang="en-US" sz="1875" dirty="0"/>
          </a:p>
        </p:txBody>
      </p:sp>
      <p:sp>
        <p:nvSpPr>
          <p:cNvPr id="18" name="Shape 13"/>
          <p:cNvSpPr/>
          <p:nvPr/>
        </p:nvSpPr>
        <p:spPr>
          <a:xfrm>
            <a:off x="8001000" y="4555480"/>
            <a:ext cx="4667250" cy="9525"/>
          </a:xfrm>
          <a:prstGeom prst="rect">
            <a:avLst/>
          </a:prstGeom>
          <a:solidFill>
            <a:srgbClr val="E5E7EB"/>
          </a:solidFill>
          <a:ln/>
        </p:spPr>
      </p:sp>
      <p:sp>
        <p:nvSpPr>
          <p:cNvPr id="19" name="Text 14"/>
          <p:cNvSpPr/>
          <p:nvPr/>
        </p:nvSpPr>
        <p:spPr>
          <a:xfrm>
            <a:off x="8305800" y="3629769"/>
            <a:ext cx="4197668" cy="678061"/>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1A1A1A"/>
                </a:solidFill>
                <a:latin typeface="Arial" pitchFamily="34" charset="0"/>
                <a:ea typeface="Arial" pitchFamily="34" charset="-122"/>
                <a:cs typeface="Arial" pitchFamily="34" charset="-120"/>
              </a:rPr>
              <a:t>Web sì · immagini sì · codice sì</a:t>
            </a:r>
            <a:endParaRPr lang="en-US" sz="1875" dirty="0"/>
          </a:p>
        </p:txBody>
      </p:sp>
      <p:sp>
        <p:nvSpPr>
          <p:cNvPr id="20" name="Shape 15"/>
          <p:cNvSpPr/>
          <p:nvPr/>
        </p:nvSpPr>
        <p:spPr>
          <a:xfrm>
            <a:off x="12668250" y="4555480"/>
            <a:ext cx="4667250" cy="9525"/>
          </a:xfrm>
          <a:prstGeom prst="rect">
            <a:avLst/>
          </a:prstGeom>
          <a:solidFill>
            <a:srgbClr val="E5E7EB"/>
          </a:solidFill>
          <a:ln/>
        </p:spPr>
      </p:sp>
      <p:sp>
        <p:nvSpPr>
          <p:cNvPr id="21" name="Text 16"/>
          <p:cNvSpPr/>
          <p:nvPr/>
        </p:nvSpPr>
        <p:spPr>
          <a:xfrm>
            <a:off x="12973050" y="3629769"/>
            <a:ext cx="4197668" cy="678061"/>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1A1A1A"/>
                </a:solidFill>
                <a:latin typeface="Arial" pitchFamily="34" charset="0"/>
                <a:ea typeface="Arial" pitchFamily="34" charset="-122"/>
                <a:cs typeface="Arial" pitchFamily="34" charset="-120"/>
              </a:rPr>
              <a:t>Web sì · immagini sì · codice sì</a:t>
            </a:r>
            <a:endParaRPr lang="en-US" sz="1875" dirty="0"/>
          </a:p>
        </p:txBody>
      </p:sp>
      <p:sp>
        <p:nvSpPr>
          <p:cNvPr id="22" name="Shape 17"/>
          <p:cNvSpPr/>
          <p:nvPr/>
        </p:nvSpPr>
        <p:spPr>
          <a:xfrm>
            <a:off x="952500" y="5493693"/>
            <a:ext cx="2381250" cy="9525"/>
          </a:xfrm>
          <a:prstGeom prst="rect">
            <a:avLst/>
          </a:prstGeom>
          <a:solidFill>
            <a:srgbClr val="E5E7EB"/>
          </a:solidFill>
          <a:ln/>
        </p:spPr>
      </p:sp>
      <p:sp>
        <p:nvSpPr>
          <p:cNvPr id="23" name="Text 18"/>
          <p:cNvSpPr/>
          <p:nvPr/>
        </p:nvSpPr>
        <p:spPr>
          <a:xfrm>
            <a:off x="1257300" y="4850755"/>
            <a:ext cx="1847850" cy="395288"/>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DOCUMENTI</a:t>
            </a:r>
            <a:endParaRPr lang="en-US" sz="1575" dirty="0"/>
          </a:p>
        </p:txBody>
      </p:sp>
      <p:sp>
        <p:nvSpPr>
          <p:cNvPr id="24" name="Shape 19"/>
          <p:cNvSpPr/>
          <p:nvPr/>
        </p:nvSpPr>
        <p:spPr>
          <a:xfrm>
            <a:off x="3333750" y="5493693"/>
            <a:ext cx="4667250" cy="9525"/>
          </a:xfrm>
          <a:prstGeom prst="rect">
            <a:avLst/>
          </a:prstGeom>
          <a:solidFill>
            <a:srgbClr val="E5E7EB"/>
          </a:solidFill>
          <a:ln/>
        </p:spPr>
      </p:sp>
      <p:sp>
        <p:nvSpPr>
          <p:cNvPr id="25" name="Text 20"/>
          <p:cNvSpPr/>
          <p:nvPr/>
        </p:nvSpPr>
        <p:spPr>
          <a:xfrm>
            <a:off x="3638550" y="4850755"/>
            <a:ext cx="4197668"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1A1A1A"/>
                </a:solidFill>
                <a:latin typeface="Arial" pitchFamily="34" charset="0"/>
                <a:ea typeface="Arial" pitchFamily="34" charset="-122"/>
                <a:cs typeface="Arial" pitchFamily="34" charset="-120"/>
              </a:rPr>
              <a:t>File + Projects</a:t>
            </a:r>
            <a:endParaRPr lang="en-US" sz="1875" dirty="0"/>
          </a:p>
        </p:txBody>
      </p:sp>
      <p:sp>
        <p:nvSpPr>
          <p:cNvPr id="26" name="Shape 21"/>
          <p:cNvSpPr/>
          <p:nvPr/>
        </p:nvSpPr>
        <p:spPr>
          <a:xfrm>
            <a:off x="8001000" y="5493693"/>
            <a:ext cx="4667250" cy="9525"/>
          </a:xfrm>
          <a:prstGeom prst="rect">
            <a:avLst/>
          </a:prstGeom>
          <a:solidFill>
            <a:srgbClr val="E5E7EB"/>
          </a:solidFill>
          <a:ln/>
        </p:spPr>
      </p:sp>
      <p:sp>
        <p:nvSpPr>
          <p:cNvPr id="27" name="Text 22"/>
          <p:cNvSpPr/>
          <p:nvPr/>
        </p:nvSpPr>
        <p:spPr>
          <a:xfrm>
            <a:off x="8305800" y="4850755"/>
            <a:ext cx="4197668"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1A1A1A"/>
                </a:solidFill>
                <a:latin typeface="Arial" pitchFamily="34" charset="0"/>
                <a:ea typeface="Arial" pitchFamily="34" charset="-122"/>
                <a:cs typeface="Arial" pitchFamily="34" charset="-120"/>
              </a:rPr>
              <a:t>File + Projects / GPT personalizzati</a:t>
            </a:r>
            <a:endParaRPr lang="en-US" sz="1875" dirty="0"/>
          </a:p>
        </p:txBody>
      </p:sp>
      <p:sp>
        <p:nvSpPr>
          <p:cNvPr id="28" name="Shape 23"/>
          <p:cNvSpPr/>
          <p:nvPr/>
        </p:nvSpPr>
        <p:spPr>
          <a:xfrm>
            <a:off x="12668250" y="5493693"/>
            <a:ext cx="4667250" cy="9525"/>
          </a:xfrm>
          <a:prstGeom prst="rect">
            <a:avLst/>
          </a:prstGeom>
          <a:solidFill>
            <a:srgbClr val="E5E7EB"/>
          </a:solidFill>
          <a:ln/>
        </p:spPr>
      </p:sp>
      <p:sp>
        <p:nvSpPr>
          <p:cNvPr id="29" name="Text 24"/>
          <p:cNvSpPr/>
          <p:nvPr/>
        </p:nvSpPr>
        <p:spPr>
          <a:xfrm>
            <a:off x="12973050" y="4850755"/>
            <a:ext cx="4197668"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1A1A1A"/>
                </a:solidFill>
                <a:latin typeface="Arial" pitchFamily="34" charset="0"/>
                <a:ea typeface="Arial" pitchFamily="34" charset="-122"/>
                <a:cs typeface="Arial" pitchFamily="34" charset="-120"/>
              </a:rPr>
              <a:t>File + Gems</a:t>
            </a:r>
            <a:endParaRPr lang="en-US" sz="1875" dirty="0"/>
          </a:p>
        </p:txBody>
      </p:sp>
      <p:sp>
        <p:nvSpPr>
          <p:cNvPr id="30" name="Text 25"/>
          <p:cNvSpPr/>
          <p:nvPr/>
        </p:nvSpPr>
        <p:spPr>
          <a:xfrm>
            <a:off x="1257300" y="5788968"/>
            <a:ext cx="1847850" cy="752475"/>
          </a:xfrm>
          <a:prstGeom prst="rect">
            <a:avLst/>
          </a:prstGeom>
          <a:noFill/>
          <a:ln/>
        </p:spPr>
        <p:txBody>
          <a:bodyPr wrap="square" lIns="25400" tIns="25400" rIns="25400" bIns="25400" rtlCol="0" anchor="t">
            <a:normAutofit/>
          </a:bodyPr>
          <a:lstStyle/>
          <a:p>
            <a:pPr algn="l" indent="0" marL="0">
              <a:lnSpc>
                <a:spcPct val="140000"/>
              </a:lnSpc>
              <a:buNone/>
            </a:pPr>
            <a:r>
              <a:rPr lang="en-US" sz="1575" b="1" spc="95" kern="0" dirty="0">
                <a:solidFill>
                  <a:srgbClr val="0E8A82"/>
                </a:solidFill>
                <a:latin typeface="Arial" pitchFamily="34" charset="0"/>
                <a:ea typeface="Arial" pitchFamily="34" charset="-122"/>
                <a:cs typeface="Arial" pitchFamily="34" charset="-120"/>
              </a:rPr>
              <a:t>USO QUOTIDIANO</a:t>
            </a:r>
            <a:endParaRPr lang="en-US" sz="1575" dirty="0"/>
          </a:p>
        </p:txBody>
      </p:sp>
      <p:sp>
        <p:nvSpPr>
          <p:cNvPr id="31" name="Text 26"/>
          <p:cNvSpPr/>
          <p:nvPr/>
        </p:nvSpPr>
        <p:spPr>
          <a:xfrm>
            <a:off x="3638550" y="5788968"/>
            <a:ext cx="4197668"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1A1A1A"/>
                </a:solidFill>
                <a:latin typeface="Arial" pitchFamily="34" charset="0"/>
                <a:ea typeface="Arial" pitchFamily="34" charset="-122"/>
                <a:cs typeface="Arial" pitchFamily="34" charset="-120"/>
              </a:rPr>
              <a:t>Web · desktop · mobile · gratuito</a:t>
            </a:r>
            <a:endParaRPr lang="en-US" sz="1875" dirty="0"/>
          </a:p>
        </p:txBody>
      </p:sp>
      <p:sp>
        <p:nvSpPr>
          <p:cNvPr id="32" name="Text 27"/>
          <p:cNvSpPr/>
          <p:nvPr/>
        </p:nvSpPr>
        <p:spPr>
          <a:xfrm>
            <a:off x="8305800" y="5788968"/>
            <a:ext cx="4197668"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1A1A1A"/>
                </a:solidFill>
                <a:latin typeface="Arial" pitchFamily="34" charset="0"/>
                <a:ea typeface="Arial" pitchFamily="34" charset="-122"/>
                <a:cs typeface="Arial" pitchFamily="34" charset="-120"/>
              </a:rPr>
              <a:t>Web · desktop · mobile · gratuito limitato</a:t>
            </a:r>
            <a:endParaRPr lang="en-US" sz="1875" dirty="0"/>
          </a:p>
        </p:txBody>
      </p:sp>
      <p:sp>
        <p:nvSpPr>
          <p:cNvPr id="33" name="Text 28"/>
          <p:cNvSpPr/>
          <p:nvPr/>
        </p:nvSpPr>
        <p:spPr>
          <a:xfrm>
            <a:off x="12973050" y="5788968"/>
            <a:ext cx="4197668"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1A1A1A"/>
                </a:solidFill>
                <a:latin typeface="Arial" pitchFamily="34" charset="0"/>
                <a:ea typeface="Arial" pitchFamily="34" charset="-122"/>
                <a:cs typeface="Arial" pitchFamily="34" charset="-120"/>
              </a:rPr>
              <a:t>Web · desktop · mobile + Workspace</a:t>
            </a:r>
            <a:endParaRPr lang="en-US" sz="1875" dirty="0"/>
          </a:p>
        </p:txBody>
      </p:sp>
      <p:sp>
        <p:nvSpPr>
          <p:cNvPr id="34" name="Text 29"/>
          <p:cNvSpPr/>
          <p:nvPr/>
        </p:nvSpPr>
        <p:spPr>
          <a:xfrm>
            <a:off x="952500" y="7208193"/>
            <a:ext cx="15716250" cy="458986"/>
          </a:xfrm>
          <a:prstGeom prst="rect">
            <a:avLst/>
          </a:prstGeom>
          <a:noFill/>
          <a:ln/>
        </p:spPr>
        <p:txBody>
          <a:bodyPr wrap="square" lIns="25400" tIns="25400" rIns="25400" bIns="25400" rtlCol="0" anchor="t">
            <a:normAutofit/>
          </a:bodyPr>
          <a:lstStyle/>
          <a:p>
            <a:pPr algn="l" indent="0" marL="0">
              <a:lnSpc>
                <a:spcPct val="92083"/>
              </a:lnSpc>
              <a:buNone/>
            </a:pPr>
            <a:r>
              <a:rPr lang="en-US" sz="2550" b="1" dirty="0">
                <a:solidFill>
                  <a:srgbClr val="1F569E"/>
                </a:solidFill>
                <a:latin typeface="Arial" pitchFamily="34" charset="0"/>
                <a:ea typeface="Arial" pitchFamily="34" charset="-122"/>
                <a:cs typeface="Arial" pitchFamily="34" charset="-120"/>
              </a:rPr>
              <a:t>Nessuno dei tre è "il migliore": conta l'uso, il contesto e i vincoli dell'azienda.</a:t>
            </a:r>
            <a:endParaRPr lang="en-US" sz="2550" dirty="0"/>
          </a:p>
        </p:txBody>
      </p:sp>
      <p:pic>
        <p:nvPicPr>
          <p:cNvPr id="35" name="Image 3" descr="preencoded.png">    </p:cNvPr>
          <p:cNvPicPr>
            <a:picLocks noChangeAspect="1"/>
          </p:cNvPicPr>
          <p:nvPr/>
        </p:nvPicPr>
        <p:blipFill>
          <a:blip r:embed="rId4"/>
          <a:stretch>
            <a:fillRect/>
          </a:stretch>
        </p:blipFill>
        <p:spPr>
          <a:xfrm>
            <a:off x="952500" y="9544050"/>
            <a:ext cx="882997" cy="323850"/>
          </a:xfrm>
          <a:prstGeom prst="rect">
            <a:avLst/>
          </a:prstGeom>
        </p:spPr>
      </p:pic>
      <p:sp>
        <p:nvSpPr>
          <p:cNvPr id="36" name="Text 30"/>
          <p:cNvSpPr/>
          <p:nvPr/>
        </p:nvSpPr>
        <p:spPr>
          <a:xfrm>
            <a:off x="17123569" y="9563100"/>
            <a:ext cx="288131" cy="342900"/>
          </a:xfrm>
          <a:prstGeom prst="rect">
            <a:avLst/>
          </a:prstGeom>
          <a:noFill/>
          <a:ln/>
        </p:spPr>
        <p:txBody>
          <a:bodyPr wrap="square" lIns="25400" tIns="25400" rIns="25400" bIns="25400" rtlCol="0" anchor="t">
            <a:normAutofit/>
          </a:bodyPr>
          <a:lstStyle/>
          <a:p>
            <a:pPr algn="l" indent="0" marL="0">
              <a:lnSpc>
                <a:spcPct val="139130"/>
              </a:lnSpc>
              <a:buNone/>
            </a:pPr>
            <a:r>
              <a:rPr lang="en-US" sz="1500" b="1" dirty="0">
                <a:solidFill>
                  <a:srgbClr val="6B7280"/>
                </a:solidFill>
                <a:latin typeface="Arial" pitchFamily="34" charset="0"/>
                <a:ea typeface="Arial" pitchFamily="34" charset="-122"/>
                <a:cs typeface="Arial" pitchFamily="34" charset="-120"/>
              </a:rPr>
              <a:t>34</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2026-09-07T10:32:14Z</dcterms:created>
  <dcterms:modified xsi:type="dcterms:W3CDTF">2026-09-07T10:32:14Z</dcterms:modified>
</cp:coreProperties>
</file>